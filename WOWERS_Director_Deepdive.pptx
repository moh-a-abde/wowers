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5" r:id="rId17"/>
    <p:sldId id="276" r:id="rId18"/>
    <p:sldId id="277" r:id="rId19"/>
    <p:sldId id="278" r:id="rId20"/>
    <p:sldId id="27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511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[SYSTEM ARCHITECTURE — the four phases]</a:t>
            </a:r>
          </a:p>
          <a:p/>
          <a:p>
            <a:r>
              <a:t>This is the map of the whole system. Four phases, left to right, and each one feeds the next.</a:t>
            </a:r>
          </a:p>
          <a:p/>
          <a:p>
            <a:r>
              <a:t>Phase 1 ranks every plant from the raw EPA flow data. Phase 2 estimates how much energy each site could generate using hydropower physics. Phase 3 finds the real elevation drop and sizes an actual turbine. Phase 4 scores the economics — the financial scorecard.</a:t>
            </a:r>
          </a:p>
          <a:p/>
          <a:p>
            <a:r>
              <a:t>The mechanics: each phase reads the previous phase's output file — we use "parquet," which is just an efficient columnar data file format — and appends new columns. So nothing is hidden; any number I show you later traces back to a specific column in a specific file.</a:t>
            </a:r>
          </a:p>
          <a:p/>
          <a:p>
            <a:r>
              <a:t>Notice the counts in the colored chips at the bottom of each card — 17,158, then 5,468, then 3,783, then 1,141. The number falls at every stage. That's by design: each phase adds a stricter physical requirement — first you need usable flow, then you need a real elevation drop, then enough power to be worth a turbine, then the economics have to work. We'll dig into exactly why each drop happens.</a:t>
            </a:r>
          </a:p>
          <a:p/>
          <a:p>
            <a:r>
              <a:t>And the constant running through the entire pipeline is the standard hydropower equation at the bottom: power equals efficiency times water density times gravity times flow times head. Everything else is built around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PROVENANCE — where every number comes from]</a:t>
            </a:r>
          </a:p>
          <a:p/>
          <a:p>
            <a:r>
              <a:t>This is the "is this real, or did you make it up?" slide. The answer: every single input is a free, public, government or manufacturer source. No paywalls, no proprietary feeds.</a:t>
            </a:r>
          </a:p>
          <a:p/>
          <a:p>
            <a:r>
              <a:t>Going down the table. The backbone is the EPA DMR data — those Discharge Monitoring Reports — which give us measured monthly effluent flow, in million gallons per day, for every outfall. The NPDES registry — NPDES is the federal wastewater permit program — gives us the master list of active plants with their permit status and location. A separate EPA outfall file gives us precise latitude and longitude for each discharge point. USGS 3DEP is the US Geological Survey's 3-D Elevation Program; we query it through an API called EPQS to get ground elevation, which is how we compute head. State electricity rates from the Energy Information Administration give us dollars per kilowatt-hour for revenue. A turbine manufacturer database — fifteen real turbines with their flow and head limits and published cost per kilowatt — anchors our cost model.</a:t>
            </a:r>
          </a:p>
          <a:p/>
          <a:p>
            <a:r>
              <a:t>The takeaway: this is built entirely on data taxpayers already paid for.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DEEP-DIVE — the EPA DMR backbone]</a:t>
            </a:r>
          </a:p>
          <a:p>
            <a:endParaRPr/>
          </a:p>
          <a:p>
            <a:r>
              <a:t>Let me spend a minute on the single most important and most labor-intensive dataset, because it's the foundation of everything.</a:t>
            </a:r>
          </a:p>
          <a:p>
            <a:endParaRPr/>
          </a:p>
          <a:p>
            <a:r>
              <a:t>The DMR database — the Discharge Monitoring Reports — is what every regulated facility in the country is legally required to file with EPA. We pulled sixteen fiscal years of it, 2009 through 2024. Raw, that's about 279 million rows and roughly ten gigabytes — every pollutant measurement for every outfall.</a:t>
            </a:r>
          </a:p>
          <a:p>
            <a:endParaRPr/>
          </a:p>
          <a:p>
            <a:r>
              <a:t>We don't need most of it. We extract just one thing: the flow parameter, EPA code 50050, measured in million gallons per day — "MGD." That's the water volume we can run a turbine on.</a:t>
            </a:r>
          </a:p>
          <a:p>
            <a:endParaRPr/>
          </a:p>
          <a:p>
            <a:r>
              <a:t>Then the engineering — and this is the hard part. We filter to active municipal plants only. We handle the messy "no-data" codes EPA uses — for example, a "below-detection" reading becomes zero, an "estimated" flag is tracked separately. We collapse the whole thing into a clean monthly flow time series — that's 20 million clean rows out of the 279 million raw. And critically, we scrub physically impossible readings: a per-reading cap and a guard that nulls any value more than five times a plant's design capacity. That one rule caught 459 unit-error rows — for instance a high school reporting 585 million gallons a day, which is obviously a data-entry mistake. The panel on the right is just those numbers at a glance. Bottom line: this is real, audited engineering, not a spreadsheet estimate.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 METHOD — ranking]</a:t>
            </a:r>
          </a:p>
          <a:p>
            <a:endParaRPr/>
          </a:p>
          <a:p>
            <a:r>
              <a:t>Phase 1's job is to turn raw flow into one priority score per plant, zero to one, so we know where to look first.</a:t>
            </a:r>
          </a:p>
          <a:p>
            <a:endParaRPr/>
          </a:p>
          <a:p>
            <a:r>
              <a:t>From each plant's monthly flow time series we compute statistical features. Mean and median flow — the typical volume. The coefficient of variation, or CV — that's the standard deviation divided by the mean, a measure of how bumpy the flow is; lower is steadier. The P10 through P90 percentiles — "P10" means the flow level that the plant exceeds 90% of the time, so it's a conservative, reliable baseline; "P90" is the high end. A twenty-point flow-duration curve, which I'll explain more in Phase 2 — it's basically the full profile of how often each flow level occurs. Utilization ratio — actual flow divided by the plant's permitted design capacity. And years of data, as a confidence proxy.</a:t>
            </a:r>
          </a:p>
          <a:p>
            <a:endParaRPr/>
          </a:p>
          <a:p>
            <a:r>
              <a:t>Every feature is "min-max normalized" — rescaled so the smallest value across all plants becomes zero and the largest becomes one — so we can combine different units fairly. For the bumpiness measures we invert them, because steadier should score higher.</a:t>
            </a:r>
          </a:p>
          <a:p>
            <a:endParaRPr/>
          </a:p>
          <a:p>
            <a:r>
              <a:t>The composite score is just a weighted sum, and the weights are in the table. We weight mean flow highest at 35%, then reliable baseline flow and consistency at 20% each, utilization 15%, data quality 10%.</a:t>
            </a:r>
          </a:p>
          <a:p>
            <a:endParaRPr/>
          </a:p>
          <a:p>
            <a:r>
              <a:t>The assumptions box is the honest part: these weights are expert-set, not machine-learned — which makes them transparent and easy for you to challenge or tune. And anything reporting zero design flow, a sign of an industrial misclassification, is forced to score zero.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 RESULTS — the ranked list]</a:t>
            </a:r>
          </a:p>
          <a:p>
            <a:endParaRPr/>
          </a:p>
          <a:p>
            <a:r>
              <a:t>Here's the output: all 17,158 plants ranked, and the top ten on screen.</a:t>
            </a:r>
          </a:p>
          <a:p>
            <a:endParaRPr/>
          </a:p>
          <a:p>
            <a:r>
              <a:t>The "Score" column is that zero-to-one composite score from the previous slide. "MGD" is million gallons per day — average flow.</a:t>
            </a:r>
          </a:p>
          <a:p>
            <a:endParaRPr/>
          </a:p>
          <a:p>
            <a:r>
              <a:t>A sanity check is the most useful thing here. The top of the list is exactly who you'd expect — the country's biggest metropolitan wastewater plants. DC's Blue Plains. Passaic Valley in New Jersey. Chicago's Stickney plant, which at 1,200 million gallons a day is the single largest wastewater plant in the United States. New York City's plants. So the ranking is behaving sensibly on the high end.</a:t>
            </a:r>
          </a:p>
          <a:p>
            <a:endParaRPr/>
          </a:p>
          <a:p>
            <a:r>
              <a:t>But look at number ten — Plover, Wisconsin, with only 1.4 million gallons a day. It's a tiny plant, yet it ranks in the top ten. Why? Because its flow is extremely steady and very well documented, and our scoring rewards consistency and data quality, not just raw size. That's the proof the score is doing something smarter than a simple flow sort — it's finding reliable sites, not just big ones.</a:t>
            </a:r>
          </a:p>
          <a:p>
            <a:endParaRPr/>
          </a:p>
          <a:p>
            <a:r>
              <a:t>Everything here comes out of one file, ranked_candidates.parquet, 17,158 rows by 33 columns. If you ever want to audit a specific plant, it's one row in that file.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2 · METHOD — Monte Carlo energy]</a:t>
            </a:r>
          </a:p>
          <a:p>
            <a:endParaRPr/>
          </a:p>
          <a:p>
            <a:r>
              <a:t>Phase 2 answers: how many kilowatt-hours per year could each plant actually generate?</a:t>
            </a:r>
          </a:p>
          <a:p>
            <a:endParaRPr/>
          </a:p>
          <a:p>
            <a:r>
              <a:t>The physics is the textbook hydropower equation in the dark band: power in kilowatts equals efficiency, times water density (about 998 kilograms per cubic meter), times gravity (9.81), times flow Q in cubic meters per second, times head H in meters, divided by a thousand. Efficiency — the Greek letter eta — is the fraction of the water's energy the turbine captures. Head, again, is the vertical drop.</a:t>
            </a:r>
          </a:p>
          <a:p>
            <a:endParaRPr/>
          </a:p>
          <a:p>
            <a:r>
              <a:t>Now, rather than plug in single guesses, we run a "Monte Carlo" simulation. That just means: instead of one calculation, we run ten thousand per plant, each time drawing the uncertain inputs randomly from a realistic range, so we get a distribution of outcomes instead of one fragile number. The three uncertain inputs each use a "triangular distribution" — a simple shape defined by a low, a most-likely, and a high value. Head varies by plant size from the literature table on the right. Efficiency varies from 0.70 to 0.82 to 0.90. Availability — the fraction of the year the turbine is actually running — varies from 0.90 to 0.98.</a:t>
            </a:r>
          </a:p>
          <a:p>
            <a:endParaRPr/>
          </a:p>
          <a:p>
            <a:r>
              <a:t>Inside each run, we integrate power across the flow-duration curve using the trapezoidal rule — that's just the standard way to compute the area under a curve — multiplied by the hours in a year. This captures that flow changes through the seasons.</a:t>
            </a:r>
          </a:p>
          <a:p>
            <a:endParaRPr/>
          </a:p>
          <a:p>
            <a:r>
              <a:t>The assumptions, stated plainly: head is still a literature estimate here because we don't have site elevation yet — Phase 3 fixes that. And we knowingly underestimate by two to three percent by clipping the curve's tails, which is conservative.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2 · RESULTS — national energy and the key validation]</a:t>
            </a:r>
          </a:p>
          <a:p>
            <a:endParaRPr/>
          </a:p>
          <a:p>
            <a:r>
              <a:t>Here's the headline energy result and, honestly, the most important validation in the entire project.</a:t>
            </a:r>
          </a:p>
          <a:p>
            <a:endParaRPr/>
          </a:p>
          <a:p>
            <a:r>
              <a:t>First, what P10, P50, and P90 mean, because they're on the cards. These are percentiles of the Monte Carlo output. P50 is the median — the central, most-likely estimate. P10 is the conservative end — there's a 90% chance the real number is at least this high. P90 is the optimistic end. So our national estimate is a band: a central 699 gigawatt-hours per year, with a conservative-to-optimistic range of 445 to 1,002.</a:t>
            </a:r>
          </a:p>
          <a:p>
            <a:endParaRPr/>
          </a:p>
          <a:p>
            <a:r>
              <a:t>Now the validation. The US Department of Energy has independently estimated the hydropower potential of the wastewater sector at 500 to 5,000 gigawatt-hours per year. Our number — derived completely independently, from the bottom up, plant by plant — lands squarely inside that range. That's strong evidence our physics is calibrated against an outside authority, not just internally consistent. If a director asks "how do I know your energy numbers aren't made up," this is the answer.</a:t>
            </a:r>
          </a:p>
          <a:p>
            <a:endParaRPr/>
          </a:p>
          <a:p>
            <a:r>
              <a:t>Two more points. 5,468 sites carried forward with a real energy estimate; the 11,690 that dropped here did so only because EPA had no usable flow record for them — that's a data gap, not us rejecting them. And the probabilistic output flows straight into the financials as a built-in sensitivity band, so we never bet the economics on a single point estimate.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3 · METHOD (HEAD) — real elevation]</a:t>
            </a:r>
          </a:p>
          <a:p>
            <a:endParaRPr/>
          </a:p>
          <a:p>
            <a:r>
              <a:t>Phase 3 has two parts. Part one: replace the literature head guess with real terrain data — this is a big credibility upgrade.</a:t>
            </a:r>
          </a:p>
          <a:p>
            <a:endParaRPr/>
          </a:p>
          <a:p>
            <a:r>
              <a:t>Remember head is the vertical drop driving the turbine. Up to now it was an assumption by plant size. Here we compute it for real. Using the outfall's actual coordinates, we query the USGS 3DEP elevation service — the US Geological Survey's national elevation model — for the ground height at the plant and at the discharge point. The difference is "gross head," the raw drop. We then multiply by 0.85 — subtracting a 15% "head loss fraction" for friction, valves, and bends in the pipe — to get "net head," the usable drop.</a:t>
            </a:r>
          </a:p>
          <a:p>
            <a:endParaRPr/>
          </a:p>
          <a:p>
            <a:r>
              <a:t>We don't blindly trust the API, though. There's a priority order: use real 3DEP elevation first; if that's missing, fall back to the literature value; only as a last resort use a five-meter default. And there's a plausibility gate — if the elevation-derived head disagrees with the literature value by more than a factor of four, or if it comes out negative (which would mean the outfall is uphill, physically impossible), we reject that point and fall back. If the real reading is genuinely low — below our one-meter minimum — we trust it and mark the site non-viable rather than overwriting it with an optimistic default. That's the conservative choice.</a:t>
            </a:r>
          </a:p>
          <a:p>
            <a:endParaRPr/>
          </a:p>
          <a:p>
            <a:r>
              <a:t>Results on the right: 3,780 sites got real elevation-based head; 1,688 fell back to literature; 4,864 ended with a valid net head; 604 were dropped for no valid head. Median net head is about 4.7 meters.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3 · METHOD (TURBINE) — selecting and sizing]</a:t>
            </a:r>
          </a:p>
          <a:p>
            <a:endParaRPr/>
          </a:p>
          <a:p>
            <a:r>
              <a:t>Part two of Phase 3: now that we have real head and flow, we pick and size an actual turbine.</a:t>
            </a:r>
          </a:p>
          <a:p>
            <a:endParaRPr/>
          </a:p>
          <a:p>
            <a:r>
              <a:t>First, the type. There's a standard "H–Q envelope" — head versus flow — that engineers use to choose a turbine. High head with low flow calls for a Pelton wheel. Medium head, a Francis turbine. Low head with high flow, a Kaplan. Low head with modest flow, a Crossflow — that's the Ossberger or CINK style. And the very lowest head gets an in-conduit micro-turbine that drops inside the pipe. The rules are on the slide.</a:t>
            </a:r>
          </a:p>
          <a:p>
            <a:endParaRPr/>
          </a:p>
          <a:p>
            <a:r>
              <a:t>Then we size it. An optimizer sweeps the turbine's rated flow from 30% up to 100% of the plant's design flow. For each candidate size it integrates the turbine's "part-load efficiency curve" across the flow-duration curve. Part-load efficiency just means a turbine isn't equally efficient at all flows — these curves are empirical fits to manufacturers' published "hill charts," their efficiency maps. It picks the size that maximizes annual energy while keeping the "capacity factor" — actual output divided by theoretical maximum — at or above 0.40.</a:t>
            </a:r>
          </a:p>
          <a:p>
            <a:endParaRPr/>
          </a:p>
          <a:p>
            <a:r>
              <a:t>Each site is then matched to a real manufacturer, preferring ones certified for wastewater and then lowest cost.</a:t>
            </a:r>
          </a:p>
          <a:p>
            <a:endParaRPr/>
          </a:p>
          <a:p>
            <a:r>
              <a:t>One viability floor: rated power must be at least one kilowatt. 1,081 sites fall below that — too tiny to be worth a turbine — and are dropped. That's a physics floor, not an economic rejection.</a:t>
            </a:r>
          </a:p>
          <a:p>
            <a:endParaRPr/>
          </a:p>
          <a:p>
            <a:r>
              <a:t>The result, in the table: 3,783 viable sites. Most are small Crossflow units around five kilowatts, but the energy is concentrated in a few large Kaplan and Francis sites.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4 · METHOD (COST) — what it costs to build]</a:t>
            </a:r>
          </a:p>
          <a:p>
            <a:endParaRPr/>
          </a:p>
          <a:p>
            <a:r>
              <a:t>Phase 4 is the money. Part one is the cost model — what it costs to build each site.</a:t>
            </a:r>
          </a:p>
          <a:p>
            <a:endParaRPr/>
          </a:p>
          <a:p>
            <a:r>
              <a:t>"CapEx" is capital expenditure, the upfront build cost. "OpEx" is operating expenditure, the annual running cost. We model equipment cost with a "power law": cost per kilowatt equals a coefficient A times the kilowatt rating raised to a negative exponent B. In plain terms, small turbines cost a lot more per kilowatt than big ones — there's no economy of scale at the bottom. Those coefficients come from Department of Energy and Oak Ridge National Lab cost studies.</a:t>
            </a:r>
          </a:p>
          <a:p>
            <a:endParaRPr/>
          </a:p>
          <a:p>
            <a:r>
              <a:t>The critical guardrail: we then hard-clamp every cost to the real price band that manufacturers actually publish. So the model can never quote a price below or above what a real vendor charges. We cross-checked this — zero of 3,783 sites land outside the vendor band.</a:t>
            </a:r>
          </a:p>
          <a:p>
            <a:endParaRPr/>
          </a:p>
          <a:p>
            <a:r>
              <a:t>On top of equipment we add three real "balance-of-system" lines — that just means everything besides the turbine itself. Installation is mechanical labor, modeled at 17.5% of equipment cost — that's your lever, and I'll come back to it. Interconnection is the grid hookup, tiered fifty to two hundred thousand dollars by size; tiny behind-the-meter sites that don't export to the grid only pay five thousand. Permitting is tiered by FERC small-hydro practice — FERC is the Federal Energy Regulatory Commission — from five thousand for a simple conduit exemption up to a hundred fifty thousand for a full federal environmental review.</a:t>
            </a:r>
          </a:p>
          <a:p>
            <a:endParaRPr/>
          </a:p>
          <a:p>
            <a:r>
              <a:t>The box on the right explains why our 17.5% install looks small versus the literature's "two-to-five-times" rule: that rule bundles civil works, interconnection, and permitting together — but we already model those as separate explicit lines, so our install figure is mechanical labor only.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4 · METHOD (FINANCE) — the scorecard]</a:t>
            </a:r>
          </a:p>
          <a:p>
            <a:endParaRPr/>
          </a:p>
          <a:p>
            <a:r>
              <a:t>Part two of Phase 4: the financial scorecard. For every sized site we build a thirty-year discounted cash-flow model — "DCF" — which is the standard way to value any infrastructure investment.</a:t>
            </a:r>
          </a:p>
          <a:p>
            <a:endParaRPr/>
          </a:p>
          <a:p>
            <a:r>
              <a:t>The formulas are in the band, but let me translate them. Revenue each year is the energy generated times the state's electricity rate plus a small renewable-energy-credit value — a "REC" is a tradable certificate worth one cent per kilowatt-hour here. Energy declines a tiny 0.2% a year for equipment aging — that's "degradation."</a:t>
            </a:r>
          </a:p>
          <a:p>
            <a:endParaRPr/>
          </a:p>
          <a:p>
            <a:r>
              <a:t>NPV — net present value — is the headline. It's all the future cash flows, each discounted back to today's dollars at a 6% "discount rate," minus the upfront CapEx. The discount rate reflects that a dollar next year is worth less than a dollar today. Positive NPV means the project creates value. IRR — internal rate of return — is the effective annual return rate the project earns; we solve for it numerically. Payback is simply how many years until cumulative savings repay the build cost. And LCOE — levelized cost of energy — is the all-in cost per kilowatt-hour over the project's life, useful to compare against the grid price.</a:t>
            </a:r>
          </a:p>
          <a:p>
            <a:endParaRPr/>
          </a:p>
          <a:p>
            <a:r>
              <a:t>The viability gate requires all three: positive NPV, payback within twenty years, and a real IRR. We also compute a version assuming a 50% grant, since most municipal hydro is grant-supported — reported, but we don't lean on it for the base call.</a:t>
            </a:r>
          </a:p>
          <a:p>
            <a:endParaRPr/>
          </a:p>
          <a:p>
            <a:r>
              <a:t>And a decision you made in June: we removed the old twenty-thousand-dollar minimum-revenue floor, so viability is now pure economics. The lever's still in the config if you want it 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4 · RESULTS — the headline portfolio]</a:t>
            </a:r>
          </a:p>
          <a:p>
            <a:endParaRPr/>
          </a:p>
          <a:p>
            <a:r>
              <a:t>This is the payoff slide. Of the 3,783 scored sites, 1,141 are investment-ready — meaning, again, positive net present value, payback within twenty years, and a real internal rate of return.</a:t>
            </a:r>
          </a:p>
          <a:p>
            <a:endParaRPr/>
          </a:p>
          <a:p>
            <a:r>
              <a:t>The cards: 1,141 sites, 409 gigawatt-hours per year of recoverable energy, a median payback under ten years, and a median IRR — return — of 9.4%. "Median" means the middle site; half do better. A 9.4% return on infrastructure with sub-ten-year payback is genuinely attractive.</a:t>
            </a:r>
          </a:p>
          <a:p>
            <a:endParaRPr/>
          </a:p>
          <a:p>
            <a:r>
              <a:t>The left table is the total portfolio CapEx — the build cost across all viable sites — broken into the four lines we just discussed: 182 million in equipment, 32 million installation, 83 million interconnection, 57 million permitting, totaling 353.5 million dollars.</a:t>
            </a:r>
          </a:p>
          <a:p>
            <a:endParaRPr/>
          </a:p>
          <a:p>
            <a:r>
              <a:t>The right table is the top five sites by energy. Chicago's Stickney — the biggest plant in the country — would host a 2,644-kilowatt Kaplan turbine, generate nearly 17 gigawatt-hours a year, pay back in two years, at a 47% return. San Diego's Point Loma, 48% return. These are not marginal projects; these are excellent ones.</a:t>
            </a:r>
          </a:p>
          <a:p>
            <a:endParaRPr/>
          </a:p>
          <a:p>
            <a:r>
              <a:t>And the note at the bottom matters for credibility: we do not delete the 2,642 sites that fail economics. They stay in the dataset, with full turbine specs, categorized by profitability. We report everything — we don't cherry-pick and hide the rest.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FUNNEL — "how did you exclude everyone else?"]</a:t>
            </a:r>
          </a:p>
          <a:p>
            <a:endParaRPr/>
          </a:p>
          <a:p>
            <a:r>
              <a:t>This is the slide I expect you to push on, so let me address it head-on: how did we get from 17,158 plants down to 1,141? Did we cherry-pick?</a:t>
            </a:r>
          </a:p>
          <a:p>
            <a:endParaRPr/>
          </a:p>
          <a:p>
            <a:r>
              <a:t>Walk down the table. We start at 17,158 ranked plants. After Phase 2, 5,468 remain — we dropped 11,690. After Phase 3 head, 4,864. After turbine sizing, 3,783. After the financial gate, 1,141.</a:t>
            </a:r>
          </a:p>
          <a:p>
            <a:endParaRPr/>
          </a:p>
          <a:p>
            <a:r>
              <a:t>Now here's the key, and it's in the three cards at the bottom. We sorted every exclusion into three reasons. 76.8% of all the drops are missing-data problems — EPA simply had no usable flow record, or the terrain gave no valid head, so we literally could not run any model. 6.7% are a physics floor — the turbine would be under one kilowatt, too small to bother. And only 16.5% are actual economic rejections — cases where we had a complete financial model and the numbers genuinely didn't work.</a:t>
            </a:r>
          </a:p>
          <a:p>
            <a:endParaRPr/>
          </a:p>
          <a:p>
            <a:r>
              <a:t>That structure is the answer to "did you cherry-pick the winners." We couldn't have, because more than three-quarters of the exclusions happened before any financial model was applied — they were excluded by absent public data, not by us choosing favorites. Only one in six exclusions even reached the economics. And as I said, those uneconomic sites aren't deleted; they're kept and categorized.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[PROFIT GRADIENT — beyond a yes/no]</a:t>
            </a:r>
          </a:p>
          <a:p>
            <a:endParaRPr/>
          </a:p>
          <a:p>
            <a:r>
              <a:t>Rather than just a binary viable-or-not, we grade every scored site on three independent economic dimensions, so you see a gradient, not a cliff. Three tables: payback band, NPV band, and IRR band.</a:t>
            </a:r>
          </a:p>
          <a:p>
            <a:endParaRPr/>
          </a:p>
          <a:p>
            <a:r>
              <a:t>Quick reminders: payback is years to recoup the cost; NPV — net present value — is the dollar value created in today's money; IRR — internal rate of return — is the annual return rate.</a:t>
            </a:r>
          </a:p>
          <a:p>
            <a:endParaRPr/>
          </a:p>
          <a:p>
            <a:r>
              <a:t>Read across. On payback: 94 sites are "excellent" with five years or less, 507 are "good" at five to ten, 540 "marginal" at ten to twenty. On NPV: 103 sites clear half a million dollars of value, another 155 are in the hundred-to-five-hundred-thousand range. On IRR: 196 sites return 15% or more, 578 return eight to fifteen percent.</a:t>
            </a:r>
          </a:p>
          <a:p>
            <a:endParaRPr/>
          </a:p>
          <a:p>
            <a:r>
              <a:t>The strategic takeaway is the concentration. Look at the energy column on the payback table — those 94 excellent sites alone hold 182 gigawatt-hours a year, which is about 44% of all the viable energy. In other words, a small number of outstanding sites carry nearly half the prize. That's exactly where you'd launch a pilot.</a:t>
            </a:r>
          </a:p>
          <a:p>
            <a:endParaRPr/>
          </a:p>
          <a:p>
            <a:r>
              <a:t>The three axes are intentionally independent — a site can have a positive return but still a negative NPV, for instance — which gives a richer picture than one pass-fail line. And 850 of the 1,141 viable sites are also flagged high-confidence, meaning their head came from real elevation data, not a literature fallback.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[TRANSPARENCY — the assumptions register]</a:t>
            </a:r>
          </a:p>
          <a:p>
            <a:endParaRPr/>
          </a:p>
          <a:p>
            <a:r>
              <a:t>I want to put every material assumption in one place, openly, so nothing's hidden and you can challenge any single one.</a:t>
            </a:r>
          </a:p>
          <a:p>
            <a:endParaRPr/>
          </a:p>
          <a:p>
            <a:r>
              <a:t>The table lists each assumption, its value, the basis, and whether it's a tunable lever. A few definitions in case they come up: the triangular values like 0.70 / 0.82 / 0.90 are the low, most-likely, and high points of those Monte Carlo distributions. The head loss fraction is the 15% we subtract for pipe friction. The discount rate, 6%, is how we value future dollars. Degradation, 0.2% a year, is equipment aging. The REC value is the renewable-energy-credit price. Capacity factor is the minimum output ratio a turbine must hit to be sized.</a:t>
            </a:r>
          </a:p>
          <a:p>
            <a:endParaRPr/>
          </a:p>
          <a:p>
            <a:r>
              <a:t>The single most important column is the last one — "lever." Almost every assumption can be changed, and the two with the biggest impact on the final site count are starred: the installation cost percentage and the head assumptions.</a:t>
            </a:r>
          </a:p>
          <a:p>
            <a:endParaRPr/>
          </a:p>
          <a:p>
            <a:r>
              <a:t>And here's the part that makes this credible rather than hand-wavy: every one of these values lives in a single configuration file. There's no number buried in the code. If you want to see what happens at a 20% install cost, or a 7% discount rate, we change one line and the entire pipeline re-runs deterministically and gives you the new answer in minutes. So these aren't take-it-or-leave-it assumptions — they're dials you can turn, and we can show you the sensitivity on any of them.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[RIGOR — why this is legitimate work]</a:t>
            </a:r>
          </a:p>
          <a:p/>
          <a:p>
            <a:r>
              <a:t>Let me consolidate why I'd stand behind these numbers, because "a student built a model" deserves scrutiny. Four independent lines of evidence.</a:t>
            </a:r>
          </a:p>
          <a:p/>
          <a:p>
            <a:r>
              <a:t>First, external validation. Our national energy estimate — that 699-gigawatt-hour central figure — lands inside the Department of Energy's own independent 500-to-5,000 range. And the head on 3,780 sites comes from real USGS terrain data, not assumptions.</a:t>
            </a:r>
          </a:p>
          <a:p/>
          <a:p>
            <a:r>
              <a:t>Second, cost realism. Zero of 3,783 sites are priced outside the band that real manufacturers — Canyon, Gilkes, CINK, Ossberger — actually publish. The cost model is clamped to reality.</a:t>
            </a:r>
          </a:p>
          <a:p/>
          <a:p>
            <a:r>
              <a:t>Third, engineering quality. There are 427 automated tests across the Phase 1–4 pipeline, passing. That's not a one-off spreadsheet; it's a tested software system where every calculation is locked down against regressions. And the data is cleaned — those 459 unit-error readings were caught and removed before any modeling.</a:t>
            </a:r>
          </a:p>
          <a:p/>
          <a:p>
            <a:r>
              <a:t>Fourth, full reproducibility. Every number in this entire deck traces back to a versioned data file and a documented formula. All assumptions are in one config. Anyone can re-run the pipeline and get the identical result.</a:t>
            </a:r>
          </a:p>
          <a:p/>
          <a:p>
            <a:r>
              <a:t>The point of this slide is simple: this is engineered, tested, auditable work — not a slideware estimate. If you or anyone wants to verify a specific figure, we can take you straight to the file and the line of code that produced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[HONESTY — limitations and caveats]</a:t>
            </a:r>
          </a:p>
          <a:p/>
          <a:p>
            <a:r>
              <a:t>I'd rather tell you the limitations than have you find them. There are real ones, and none of them break the result — they scope it.</a:t>
            </a:r>
          </a:p>
          <a:p/>
          <a:p>
            <a:r>
              <a:t>First, head is the biggest source of uncertainty. Our sensitivity analysis — where we test how much the answer moves when each input moves — flags head as the number-one driver of net present value on about 2,800 of the 3,783 sites. Where we couldn't get real elevation, on 1,688 sites, we used the literature value, and those are flagged lower-confidence.</a:t>
            </a:r>
          </a:p>
          <a:p/>
          <a:p>
            <a:r>
              <a:t>Second, civil works are deliberately excluded from cost. Foundations, trenching, structural changes — not in our CapEx. The installation line is mechanical labor only. So on some sites the real all-in cost will be higher than we show.</a:t>
            </a:r>
          </a:p>
          <a:p/>
          <a:p>
            <a:r>
              <a:t>Third, the energy offset is modest. The median viable site offsets only about 2% of its own plant's electricity use. So the honest pitch is operating-cost savings, sustainability, and renewable credits — not making a plant energy-independent.</a:t>
            </a:r>
          </a:p>
          <a:p/>
          <a:p>
            <a:r>
              <a:t>Fourth, the install percentage is an estimate, not a quote — real government install costs are genuinely unobtainable, so 17.5% is your midpoint proxy. The what-if band swings the site count from 1,374 at zero percent down to 1,120 at twenty percent.</a:t>
            </a:r>
          </a:p>
          <a:p/>
          <a:p>
            <a:r>
              <a:t>And finally, this is a national screening tool. Any individual site still needs a real engineering site visit before anyone builds anything. We find the candidates; we don't replace the site survey.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STEPS — roadmap and the one ask]</a:t>
            </a:r>
          </a:p>
          <a:p/>
          <a:p>
            <a:r>
              <a:t>Let me close on where we go next and the one thing I need from you — it's in the green box.</a:t>
            </a:r>
          </a:p>
          <a:p/>
          <a:p>
            <a:r>
              <a:t>The ask: commit the installation cost percentage. The default of 17.5% locks the headline at 1,141 sites and 409 gigawatt-hours. It's a single config value and it's fully reversible. For context, at zero percent it's 1,374 sites; at twenty percent it's 1,120. I just need your committed number so I can finalize the figure we quote externally.</a:t>
            </a:r>
          </a:p>
          <a:p/>
          <a:p>
            <a:r>
              <a:t>On the roadmap below. Near term, the highest-value technical work is deepening the head data — head is our number-one source of uncertainty, and 1,688 sites are still on a literature estimate rather than real elevation, so expanding real 3DEP coverage directly sharpens both the count and the confidence flags. Then a concrete pilot on the 94 excellent-payback sites — the 182-gigawatt-hour cohort that holds nearly half the viable energy — which is exactly the named pilot strategy the Fowler judges asked for. And finally, we package the per-site scorecard into the municipality-facing tool: tell us your plant, we show you which turbine, how much energy, and what payback.</a:t>
            </a:r>
          </a:p>
          <a:p/>
          <a:p>
            <a:r>
              <a:t>So: your install number is the one thing that unlocks the finalized headline.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 the one-line summary]</a:t>
            </a:r>
          </a:p>
          <a:p/>
          <a:p>
            <a:r>
              <a:t>Let me leave you with the one-line version, then open it up.</a:t>
            </a:r>
          </a:p>
          <a:p/>
          <a:p>
            <a:r>
              <a:t>We go from 279 million public EPA records, to 17,158 plants screened, to 3,783 that we can actually size a turbine for, to 1,141 that are investment-ready — 409 gigawatt-hours per year of recoverable clean energy. And every number on that path is reproducible from a data file and a formula.</a:t>
            </a:r>
          </a:p>
          <a:p/>
          <a:p>
            <a:r>
              <a:t>The table on this slide is deliberately the audit trail: for each headline figure, the exact output file and the column or calculation that produces it. The national energy estimate, the viable site count, the energy total, the median payback, the portfolio CapEx — point to any one and we can open the file in front of you.</a:t>
            </a:r>
          </a:p>
          <a:p/>
          <a:p>
            <a:r>
              <a:t>That's the project, beginning to end: where the data comes from, what's in it, how each phase calculates, what came out, and what we assumed. All four phases are production-complete and tested.</a:t>
            </a:r>
          </a:p>
          <a:p/>
          <a:p>
            <a:r>
              <a:t>I'm happy to go as deep as you want on any phase, any formula, or any assumption. Thank you — what questions do you have?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SYSTEM ARCHITECTURE</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Four-phase data pipeline</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613916" y="1691640"/>
            <a:ext cx="2157984" cy="320040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 Same Side Corner Rectangle 7"/>
          <p:cNvSpPr/>
          <p:nvPr/>
        </p:nvSpPr>
        <p:spPr>
          <a:xfrm>
            <a:off x="1613916" y="1691640"/>
            <a:ext cx="2157984" cy="640080"/>
          </a:xfrm>
          <a:prstGeom prst="round2Same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13916" y="1728216"/>
            <a:ext cx="2157984" cy="566928"/>
          </a:xfrm>
          <a:prstGeom prst="rect">
            <a:avLst/>
          </a:prstGeom>
          <a:noFill/>
        </p:spPr>
        <p:txBody>
          <a:bodyPr wrap="square" lIns="45720" tIns="18288" rIns="45720" bIns="18288" anchor="ctr">
            <a:spAutoFit/>
          </a:bodyPr>
          <a:lstStyle/>
          <a:p>
            <a:pPr algn="ctr"/>
            <a:r>
              <a:rPr sz="1300" b="1" i="0">
                <a:solidFill>
                  <a:srgbClr val="FFFFFF"/>
                </a:solidFill>
                <a:latin typeface="Calibri"/>
              </a:rPr>
              <a:t>PHASE 1</a:t>
            </a:r>
          </a:p>
        </p:txBody>
      </p:sp>
      <p:sp>
        <p:nvSpPr>
          <p:cNvPr id="10" name="TextBox 9"/>
          <p:cNvSpPr txBox="1"/>
          <p:nvPr/>
        </p:nvSpPr>
        <p:spPr>
          <a:xfrm>
            <a:off x="1723644" y="2468880"/>
            <a:ext cx="1938528" cy="2286000"/>
          </a:xfrm>
          <a:prstGeom prst="rect">
            <a:avLst/>
          </a:prstGeom>
          <a:noFill/>
        </p:spPr>
        <p:txBody>
          <a:bodyPr wrap="square" lIns="45720" tIns="18288" rIns="45720" bIns="18288" anchor="t">
            <a:spAutoFit/>
          </a:bodyPr>
          <a:lstStyle/>
          <a:p>
            <a:pPr>
              <a:spcAft>
                <a:spcPts val="600"/>
              </a:spcAft>
            </a:pPr>
            <a:r>
              <a:rPr sz="1500" b="1" i="0">
                <a:solidFill>
                  <a:srgbClr val="0C2D3A"/>
                </a:solidFill>
                <a:latin typeface="Calibri"/>
              </a:rPr>
              <a:t>Rank candidates</a:t>
            </a:r>
          </a:p>
          <a:p>
            <a:r>
              <a:rPr sz="1100" b="0" i="0">
                <a:solidFill>
                  <a:srgbClr val="5C6B70"/>
                </a:solidFill>
                <a:latin typeface="Calibri"/>
              </a:rPr>
              <a:t>EPA ECHO / ICIS-NPDES DMR → active POTWs, flow features, composite score</a:t>
            </a:r>
          </a:p>
        </p:txBody>
      </p:sp>
      <p:sp>
        <p:nvSpPr>
          <p:cNvPr id="11" name="Rounded Rectangle 10"/>
          <p:cNvSpPr/>
          <p:nvPr/>
        </p:nvSpPr>
        <p:spPr>
          <a:xfrm>
            <a:off x="1778508" y="4343400"/>
            <a:ext cx="1828800" cy="384048"/>
          </a:xfrm>
          <a:prstGeom prst="round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78508" y="4343400"/>
            <a:ext cx="1828800" cy="384048"/>
          </a:xfrm>
          <a:prstGeom prst="rect">
            <a:avLst/>
          </a:prstGeom>
          <a:noFill/>
        </p:spPr>
        <p:txBody>
          <a:bodyPr wrap="square" lIns="45720" tIns="18288" rIns="45720" bIns="18288" anchor="ctr">
            <a:spAutoFit/>
          </a:bodyPr>
          <a:lstStyle/>
          <a:p>
            <a:pPr algn="ctr"/>
            <a:r>
              <a:rPr sz="1150" b="1" i="0">
                <a:solidFill>
                  <a:srgbClr val="FFFFFF"/>
                </a:solidFill>
                <a:latin typeface="Calibri"/>
              </a:rPr>
              <a:t>17,158 ranked</a:t>
            </a:r>
          </a:p>
        </p:txBody>
      </p:sp>
      <p:sp>
        <p:nvSpPr>
          <p:cNvPr id="13" name="Rounded Rectangle 12"/>
          <p:cNvSpPr/>
          <p:nvPr/>
        </p:nvSpPr>
        <p:spPr>
          <a:xfrm>
            <a:off x="3881628" y="1691640"/>
            <a:ext cx="2157984" cy="320040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 Same Side Corner Rectangle 13"/>
          <p:cNvSpPr/>
          <p:nvPr/>
        </p:nvSpPr>
        <p:spPr>
          <a:xfrm>
            <a:off x="3881628" y="1691640"/>
            <a:ext cx="2157984" cy="640080"/>
          </a:xfrm>
          <a:prstGeom prst="round2Same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81628" y="1728216"/>
            <a:ext cx="2157984" cy="566928"/>
          </a:xfrm>
          <a:prstGeom prst="rect">
            <a:avLst/>
          </a:prstGeom>
          <a:noFill/>
        </p:spPr>
        <p:txBody>
          <a:bodyPr wrap="square" lIns="45720" tIns="18288" rIns="45720" bIns="18288" anchor="ctr">
            <a:spAutoFit/>
          </a:bodyPr>
          <a:lstStyle/>
          <a:p>
            <a:pPr algn="ctr"/>
            <a:r>
              <a:rPr sz="1300" b="1" i="0">
                <a:solidFill>
                  <a:srgbClr val="FFFFFF"/>
                </a:solidFill>
                <a:latin typeface="Calibri"/>
              </a:rPr>
              <a:t>PHASE 2</a:t>
            </a:r>
          </a:p>
        </p:txBody>
      </p:sp>
      <p:sp>
        <p:nvSpPr>
          <p:cNvPr id="16" name="TextBox 15"/>
          <p:cNvSpPr txBox="1"/>
          <p:nvPr/>
        </p:nvSpPr>
        <p:spPr>
          <a:xfrm>
            <a:off x="3991356" y="2468880"/>
            <a:ext cx="1938528" cy="2286000"/>
          </a:xfrm>
          <a:prstGeom prst="rect">
            <a:avLst/>
          </a:prstGeom>
          <a:noFill/>
        </p:spPr>
        <p:txBody>
          <a:bodyPr wrap="square" lIns="45720" tIns="18288" rIns="45720" bIns="18288" anchor="t">
            <a:spAutoFit/>
          </a:bodyPr>
          <a:lstStyle/>
          <a:p>
            <a:pPr>
              <a:spcAft>
                <a:spcPts val="600"/>
              </a:spcAft>
            </a:pPr>
            <a:r>
              <a:rPr sz="1500" b="1" i="0">
                <a:solidFill>
                  <a:srgbClr val="0C2D3A"/>
                </a:solidFill>
                <a:latin typeface="Calibri"/>
              </a:rPr>
              <a:t>Estimate energy</a:t>
            </a:r>
          </a:p>
          <a:p>
            <a:r>
              <a:rPr sz="1100" b="0" i="0">
                <a:solidFill>
                  <a:srgbClr val="5C6B70"/>
                </a:solidFill>
                <a:latin typeface="Calibri"/>
              </a:rPr>
              <a:t>Monte-Carlo hydropower physics over each site's flow-duration curve</a:t>
            </a:r>
          </a:p>
        </p:txBody>
      </p:sp>
      <p:sp>
        <p:nvSpPr>
          <p:cNvPr id="17" name="Rounded Rectangle 16"/>
          <p:cNvSpPr/>
          <p:nvPr/>
        </p:nvSpPr>
        <p:spPr>
          <a:xfrm>
            <a:off x="4046220" y="4343400"/>
            <a:ext cx="1828800" cy="384048"/>
          </a:xfrm>
          <a:prstGeom prst="round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46220" y="4343400"/>
            <a:ext cx="1828800" cy="384048"/>
          </a:xfrm>
          <a:prstGeom prst="rect">
            <a:avLst/>
          </a:prstGeom>
          <a:noFill/>
        </p:spPr>
        <p:txBody>
          <a:bodyPr wrap="square" lIns="45720" tIns="18288" rIns="45720" bIns="18288" anchor="ctr">
            <a:spAutoFit/>
          </a:bodyPr>
          <a:lstStyle/>
          <a:p>
            <a:pPr algn="ctr"/>
            <a:r>
              <a:rPr sz="1150" b="1" i="0">
                <a:solidFill>
                  <a:srgbClr val="FFFFFF"/>
                </a:solidFill>
                <a:latin typeface="Calibri"/>
              </a:rPr>
              <a:t>5,468 retained</a:t>
            </a:r>
          </a:p>
        </p:txBody>
      </p:sp>
      <p:sp>
        <p:nvSpPr>
          <p:cNvPr id="19" name="Rounded Rectangle 18"/>
          <p:cNvSpPr/>
          <p:nvPr/>
        </p:nvSpPr>
        <p:spPr>
          <a:xfrm>
            <a:off x="6149340" y="1691640"/>
            <a:ext cx="2157984" cy="320040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 Same Side Corner Rectangle 19"/>
          <p:cNvSpPr/>
          <p:nvPr/>
        </p:nvSpPr>
        <p:spPr>
          <a:xfrm>
            <a:off x="6149340" y="1691640"/>
            <a:ext cx="2157984" cy="640080"/>
          </a:xfrm>
          <a:prstGeom prst="round2Same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49340" y="1728216"/>
            <a:ext cx="2157984" cy="566928"/>
          </a:xfrm>
          <a:prstGeom prst="rect">
            <a:avLst/>
          </a:prstGeom>
          <a:noFill/>
        </p:spPr>
        <p:txBody>
          <a:bodyPr wrap="square" lIns="45720" tIns="18288" rIns="45720" bIns="18288" anchor="ctr">
            <a:spAutoFit/>
          </a:bodyPr>
          <a:lstStyle/>
          <a:p>
            <a:pPr algn="ctr"/>
            <a:r>
              <a:rPr sz="1300" b="1" i="0">
                <a:solidFill>
                  <a:srgbClr val="FFFFFF"/>
                </a:solidFill>
                <a:latin typeface="Calibri"/>
              </a:rPr>
              <a:t>PHASE 3</a:t>
            </a:r>
          </a:p>
        </p:txBody>
      </p:sp>
      <p:sp>
        <p:nvSpPr>
          <p:cNvPr id="22" name="TextBox 21"/>
          <p:cNvSpPr txBox="1"/>
          <p:nvPr/>
        </p:nvSpPr>
        <p:spPr>
          <a:xfrm>
            <a:off x="6259068" y="2468880"/>
            <a:ext cx="1938528" cy="2286000"/>
          </a:xfrm>
          <a:prstGeom prst="rect">
            <a:avLst/>
          </a:prstGeom>
          <a:noFill/>
        </p:spPr>
        <p:txBody>
          <a:bodyPr wrap="square" lIns="45720" tIns="18288" rIns="45720" bIns="18288" anchor="t">
            <a:spAutoFit/>
          </a:bodyPr>
          <a:lstStyle/>
          <a:p>
            <a:pPr>
              <a:spcAft>
                <a:spcPts val="600"/>
              </a:spcAft>
            </a:pPr>
            <a:r>
              <a:rPr sz="1500" b="1" i="0">
                <a:solidFill>
                  <a:srgbClr val="0C2D3A"/>
                </a:solidFill>
                <a:latin typeface="Calibri"/>
              </a:rPr>
              <a:t>Size turbine</a:t>
            </a:r>
          </a:p>
          <a:p>
            <a:r>
              <a:rPr sz="1100" b="0" i="0">
                <a:solidFill>
                  <a:srgbClr val="5C6B70"/>
                </a:solidFill>
                <a:latin typeface="Calibri"/>
              </a:rPr>
              <a:t>USGS 3DEP head + H–Q turbine selection + rated-power optimizer</a:t>
            </a:r>
          </a:p>
        </p:txBody>
      </p:sp>
      <p:sp>
        <p:nvSpPr>
          <p:cNvPr id="23" name="Rounded Rectangle 22"/>
          <p:cNvSpPr/>
          <p:nvPr/>
        </p:nvSpPr>
        <p:spPr>
          <a:xfrm>
            <a:off x="6313932" y="4343400"/>
            <a:ext cx="1828800" cy="384048"/>
          </a:xfrm>
          <a:prstGeom prst="round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3932" y="4343400"/>
            <a:ext cx="1828800" cy="384048"/>
          </a:xfrm>
          <a:prstGeom prst="rect">
            <a:avLst/>
          </a:prstGeom>
          <a:noFill/>
        </p:spPr>
        <p:txBody>
          <a:bodyPr wrap="square" lIns="45720" tIns="18288" rIns="45720" bIns="18288" anchor="ctr">
            <a:spAutoFit/>
          </a:bodyPr>
          <a:lstStyle/>
          <a:p>
            <a:pPr algn="ctr"/>
            <a:r>
              <a:rPr sz="1150" b="1" i="0">
                <a:solidFill>
                  <a:srgbClr val="FFFFFF"/>
                </a:solidFill>
                <a:latin typeface="Calibri"/>
              </a:rPr>
              <a:t>3,783 viable</a:t>
            </a:r>
          </a:p>
        </p:txBody>
      </p:sp>
      <p:sp>
        <p:nvSpPr>
          <p:cNvPr id="25" name="Rounded Rectangle 24"/>
          <p:cNvSpPr/>
          <p:nvPr/>
        </p:nvSpPr>
        <p:spPr>
          <a:xfrm>
            <a:off x="8417052" y="1691640"/>
            <a:ext cx="2157984" cy="320040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 Same Side Corner Rectangle 25"/>
          <p:cNvSpPr/>
          <p:nvPr/>
        </p:nvSpPr>
        <p:spPr>
          <a:xfrm>
            <a:off x="8417052" y="1691640"/>
            <a:ext cx="2157984" cy="640080"/>
          </a:xfrm>
          <a:prstGeom prst="round2Same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7052" y="1728216"/>
            <a:ext cx="2157984" cy="566928"/>
          </a:xfrm>
          <a:prstGeom prst="rect">
            <a:avLst/>
          </a:prstGeom>
          <a:noFill/>
        </p:spPr>
        <p:txBody>
          <a:bodyPr wrap="square" lIns="45720" tIns="18288" rIns="45720" bIns="18288" anchor="ctr">
            <a:spAutoFit/>
          </a:bodyPr>
          <a:lstStyle/>
          <a:p>
            <a:pPr algn="ctr"/>
            <a:r>
              <a:rPr sz="1300" b="1" i="0">
                <a:solidFill>
                  <a:srgbClr val="FFFFFF"/>
                </a:solidFill>
                <a:latin typeface="Calibri"/>
              </a:rPr>
              <a:t>PHASE 4</a:t>
            </a:r>
          </a:p>
        </p:txBody>
      </p:sp>
      <p:sp>
        <p:nvSpPr>
          <p:cNvPr id="28" name="TextBox 27"/>
          <p:cNvSpPr txBox="1"/>
          <p:nvPr/>
        </p:nvSpPr>
        <p:spPr>
          <a:xfrm>
            <a:off x="8526780" y="2468880"/>
            <a:ext cx="1938528" cy="2286000"/>
          </a:xfrm>
          <a:prstGeom prst="rect">
            <a:avLst/>
          </a:prstGeom>
          <a:noFill/>
        </p:spPr>
        <p:txBody>
          <a:bodyPr wrap="square" lIns="45720" tIns="18288" rIns="45720" bIns="18288" anchor="t">
            <a:spAutoFit/>
          </a:bodyPr>
          <a:lstStyle/>
          <a:p>
            <a:pPr>
              <a:spcAft>
                <a:spcPts val="600"/>
              </a:spcAft>
            </a:pPr>
            <a:r>
              <a:rPr sz="1500" b="1" i="0">
                <a:solidFill>
                  <a:srgbClr val="0C2D3A"/>
                </a:solidFill>
                <a:latin typeface="Calibri"/>
              </a:rPr>
              <a:t>Score economics</a:t>
            </a:r>
          </a:p>
          <a:p>
            <a:r>
              <a:rPr sz="1100" b="0" i="0">
                <a:solidFill>
                  <a:srgbClr val="5C6B70"/>
                </a:solidFill>
                <a:latin typeface="Calibri"/>
              </a:rPr>
              <a:t>CapEx/OpEx cost model → NPV, IRR, payback, LCOE scorecard</a:t>
            </a:r>
          </a:p>
        </p:txBody>
      </p:sp>
      <p:sp>
        <p:nvSpPr>
          <p:cNvPr id="29" name="Rounded Rectangle 28"/>
          <p:cNvSpPr/>
          <p:nvPr/>
        </p:nvSpPr>
        <p:spPr>
          <a:xfrm>
            <a:off x="8581644" y="4343400"/>
            <a:ext cx="1828800" cy="384048"/>
          </a:xfrm>
          <a:prstGeom prst="round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81644" y="4343400"/>
            <a:ext cx="1828800" cy="384048"/>
          </a:xfrm>
          <a:prstGeom prst="rect">
            <a:avLst/>
          </a:prstGeom>
          <a:noFill/>
        </p:spPr>
        <p:txBody>
          <a:bodyPr wrap="square" lIns="45720" tIns="18288" rIns="45720" bIns="18288" anchor="ctr">
            <a:spAutoFit/>
          </a:bodyPr>
          <a:lstStyle/>
          <a:p>
            <a:pPr algn="ctr"/>
            <a:r>
              <a:rPr sz="1150" b="1" i="0">
                <a:solidFill>
                  <a:srgbClr val="FFFFFF"/>
                </a:solidFill>
                <a:latin typeface="Calibri"/>
              </a:rPr>
              <a:t>1,141 ready</a:t>
            </a:r>
          </a:p>
        </p:txBody>
      </p:sp>
      <p:sp>
        <p:nvSpPr>
          <p:cNvPr id="37" name="TextBox 36"/>
          <p:cNvSpPr txBox="1"/>
          <p:nvPr/>
        </p:nvSpPr>
        <p:spPr>
          <a:xfrm>
            <a:off x="457200" y="5120640"/>
            <a:ext cx="11247120" cy="822960"/>
          </a:xfrm>
          <a:prstGeom prst="rect">
            <a:avLst/>
          </a:prstGeom>
          <a:noFill/>
        </p:spPr>
        <p:txBody>
          <a:bodyPr wrap="square" lIns="45720" tIns="18288" rIns="45720" bIns="18288" anchor="t">
            <a:spAutoFit/>
          </a:bodyPr>
          <a:lstStyle/>
          <a:p>
            <a:r>
              <a:rPr sz="1300" b="1" i="0">
                <a:solidFill>
                  <a:srgbClr val="1A2429"/>
                </a:solidFill>
                <a:latin typeface="Calibri"/>
              </a:rPr>
              <a:t>Data flows left → right. </a:t>
            </a:r>
            <a:r>
              <a:rPr sz="1300" b="0" i="0">
                <a:solidFill>
                  <a:srgbClr val="1A2429"/>
                </a:solidFill>
                <a:latin typeface="Calibri"/>
              </a:rPr>
              <a:t>Each phase reads the prior phase's versioned parquet and appends new columns. The site count falls at each stage as physical data requirements (flow → head → power → economics) are applied. Core physics constant throughout: </a:t>
            </a:r>
            <a:r>
              <a:rPr sz="1300" b="1" i="0">
                <a:solidFill>
                  <a:srgbClr val="126E82"/>
                </a:solidFill>
                <a:latin typeface="Calibri"/>
              </a:rPr>
              <a:t>P = η × ρ × g × Q × H.</a:t>
            </a:r>
          </a:p>
        </p:txBody>
      </p:sp>
      <p:sp>
        <p:nvSpPr>
          <p:cNvPr id="38" name="Rectangle 37"/>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40" name="TextBox 39"/>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DATA PROVENANCE</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Every input is public &amp; free</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463040"/>
          <a:ext cx="11274550" cy="4567428"/>
        </p:xfrm>
        <a:graphic>
          <a:graphicData uri="http://schemas.openxmlformats.org/drawingml/2006/table">
            <a:tbl>
              <a:tblPr>
                <a:tableStyleId>{5C22544A-7EE6-4342-B048-85BDC9FD1C3A}</a:tableStyleId>
              </a:tblPr>
              <a:tblGrid>
                <a:gridCol w="3138277">
                  <a:extLst>
                    <a:ext uri="{9D8B030D-6E8A-4147-A177-3AD203B41FA5}">
                      <a16:colId xmlns:a16="http://schemas.microsoft.com/office/drawing/2014/main" val="20000"/>
                    </a:ext>
                  </a:extLst>
                </a:gridCol>
                <a:gridCol w="1743487">
                  <a:extLst>
                    <a:ext uri="{9D8B030D-6E8A-4147-A177-3AD203B41FA5}">
                      <a16:colId xmlns:a16="http://schemas.microsoft.com/office/drawing/2014/main" val="20001"/>
                    </a:ext>
                  </a:extLst>
                </a:gridCol>
                <a:gridCol w="4881764">
                  <a:extLst>
                    <a:ext uri="{9D8B030D-6E8A-4147-A177-3AD203B41FA5}">
                      <a16:colId xmlns:a16="http://schemas.microsoft.com/office/drawing/2014/main" val="20002"/>
                    </a:ext>
                  </a:extLst>
                </a:gridCol>
                <a:gridCol w="1511022">
                  <a:extLst>
                    <a:ext uri="{9D8B030D-6E8A-4147-A177-3AD203B41FA5}">
                      <a16:colId xmlns:a16="http://schemas.microsoft.com/office/drawing/2014/main" val="20003"/>
                    </a:ext>
                  </a:extLst>
                </a:gridCol>
              </a:tblGrid>
              <a:tr h="507492">
                <a:tc>
                  <a:txBody>
                    <a:bodyPr/>
                    <a:lstStyle/>
                    <a:p>
                      <a:pPr algn="l"/>
                      <a:r>
                        <a:rPr sz="1100" b="1" i="0">
                          <a:solidFill>
                            <a:srgbClr val="FFFFFF"/>
                          </a:solidFill>
                          <a:latin typeface="Calibri"/>
                        </a:rPr>
                        <a:t>Dataset</a:t>
                      </a:r>
                    </a:p>
                  </a:txBody>
                  <a:tcPr marL="54864" marR="54864" marT="18288" marB="18288" anchor="ctr">
                    <a:solidFill>
                      <a:srgbClr val="0C2D3A"/>
                    </a:solidFill>
                  </a:tcPr>
                </a:tc>
                <a:tc>
                  <a:txBody>
                    <a:bodyPr/>
                    <a:lstStyle/>
                    <a:p>
                      <a:pPr algn="l"/>
                      <a:r>
                        <a:rPr sz="1100" b="1" i="0">
                          <a:solidFill>
                            <a:srgbClr val="FFFFFF"/>
                          </a:solidFill>
                          <a:latin typeface="Calibri"/>
                        </a:rPr>
                        <a:t>Provider</a:t>
                      </a:r>
                    </a:p>
                  </a:txBody>
                  <a:tcPr marL="54864" marR="54864" marT="18288" marB="18288" anchor="ctr">
                    <a:solidFill>
                      <a:srgbClr val="0C2D3A"/>
                    </a:solidFill>
                  </a:tcPr>
                </a:tc>
                <a:tc>
                  <a:txBody>
                    <a:bodyPr/>
                    <a:lstStyle/>
                    <a:p>
                      <a:pPr algn="l"/>
                      <a:r>
                        <a:rPr sz="1100" b="1" i="0">
                          <a:solidFill>
                            <a:srgbClr val="FFFFFF"/>
                          </a:solidFill>
                          <a:latin typeface="Calibri"/>
                        </a:rPr>
                        <a:t>What it gives us</a:t>
                      </a:r>
                    </a:p>
                  </a:txBody>
                  <a:tcPr marL="54864" marR="54864" marT="18288" marB="18288" anchor="ctr">
                    <a:solidFill>
                      <a:srgbClr val="0C2D3A"/>
                    </a:solidFill>
                  </a:tcPr>
                </a:tc>
                <a:tc>
                  <a:txBody>
                    <a:bodyPr/>
                    <a:lstStyle/>
                    <a:p>
                      <a:pPr algn="ctr"/>
                      <a:r>
                        <a:rPr sz="1100" b="1" i="0">
                          <a:solidFill>
                            <a:srgbClr val="FFFFFF"/>
                          </a:solidFill>
                          <a:latin typeface="Calibri"/>
                        </a:rPr>
                        <a:t>Used in</a:t>
                      </a:r>
                    </a:p>
                  </a:txBody>
                  <a:tcPr marL="54864" marR="54864" marT="18288" marB="18288" anchor="ctr">
                    <a:solidFill>
                      <a:srgbClr val="0C2D3A"/>
                    </a:solidFill>
                  </a:tcPr>
                </a:tc>
                <a:extLst>
                  <a:ext uri="{0D108BD9-81ED-4DB2-BD59-A6C34878D82A}">
                    <a16:rowId xmlns:a16="http://schemas.microsoft.com/office/drawing/2014/main" val="10000"/>
                  </a:ext>
                </a:extLst>
              </a:tr>
              <a:tr h="507492">
                <a:tc>
                  <a:txBody>
                    <a:bodyPr/>
                    <a:lstStyle/>
                    <a:p>
                      <a:pPr algn="l"/>
                      <a:r>
                        <a:rPr sz="1150" b="1" i="0">
                          <a:solidFill>
                            <a:srgbClr val="1A2429"/>
                          </a:solidFill>
                          <a:latin typeface="Calibri"/>
                        </a:rPr>
                        <a:t>EPA ECHO / ICIS-NPDES DMR</a:t>
                      </a:r>
                    </a:p>
                  </a:txBody>
                  <a:tcPr marL="54864" marR="54864" marT="9144" marB="9144" anchor="ctr">
                    <a:solidFill>
                      <a:srgbClr val="FFFFFF"/>
                    </a:solidFill>
                  </a:tcPr>
                </a:tc>
                <a:tc>
                  <a:txBody>
                    <a:bodyPr/>
                    <a:lstStyle/>
                    <a:p>
                      <a:pPr algn="l"/>
                      <a:r>
                        <a:rPr sz="1150" b="0" i="0">
                          <a:solidFill>
                            <a:srgbClr val="1A2429"/>
                          </a:solidFill>
                          <a:latin typeface="Calibri"/>
                        </a:rPr>
                        <a:t>US EPA</a:t>
                      </a:r>
                    </a:p>
                  </a:txBody>
                  <a:tcPr marL="54864" marR="54864" marT="9144" marB="9144" anchor="ctr">
                    <a:solidFill>
                      <a:srgbClr val="FFFFFF"/>
                    </a:solidFill>
                  </a:tcPr>
                </a:tc>
                <a:tc>
                  <a:txBody>
                    <a:bodyPr/>
                    <a:lstStyle/>
                    <a:p>
                      <a:pPr algn="l"/>
                      <a:r>
                        <a:rPr sz="1150" b="0" i="0">
                          <a:solidFill>
                            <a:srgbClr val="1A2429"/>
                          </a:solidFill>
                          <a:latin typeface="Calibri"/>
                        </a:rPr>
                        <a:t>Measured monthly effluent flow (param 50050, MGD) per outfall, FY2009–24</a:t>
                      </a:r>
                    </a:p>
                  </a:txBody>
                  <a:tcPr marL="54864" marR="54864" marT="9144" marB="9144" anchor="ctr">
                    <a:solidFill>
                      <a:srgbClr val="FFFFFF"/>
                    </a:solidFill>
                  </a:tcPr>
                </a:tc>
                <a:tc>
                  <a:txBody>
                    <a:bodyPr/>
                    <a:lstStyle/>
                    <a:p>
                      <a:pPr algn="ctr"/>
                      <a:r>
                        <a:rPr sz="1150" b="0" i="0">
                          <a:solidFill>
                            <a:srgbClr val="1A2429"/>
                          </a:solidFill>
                          <a:latin typeface="Calibri"/>
                        </a:rPr>
                        <a:t>Phase 1–2</a:t>
                      </a:r>
                    </a:p>
                  </a:txBody>
                  <a:tcPr marL="54864" marR="54864" marT="9144" marB="9144" anchor="ctr">
                    <a:solidFill>
                      <a:srgbClr val="FFFFFF"/>
                    </a:solidFill>
                  </a:tcPr>
                </a:tc>
                <a:extLst>
                  <a:ext uri="{0D108BD9-81ED-4DB2-BD59-A6C34878D82A}">
                    <a16:rowId xmlns:a16="http://schemas.microsoft.com/office/drawing/2014/main" val="10001"/>
                  </a:ext>
                </a:extLst>
              </a:tr>
              <a:tr h="507492">
                <a:tc>
                  <a:txBody>
                    <a:bodyPr/>
                    <a:lstStyle/>
                    <a:p>
                      <a:pPr algn="l"/>
                      <a:r>
                        <a:rPr sz="1150" b="1" i="0">
                          <a:solidFill>
                            <a:srgbClr val="1A2429"/>
                          </a:solidFill>
                          <a:latin typeface="Calibri"/>
                        </a:rPr>
                        <a:t>NPDES facility registry</a:t>
                      </a:r>
                    </a:p>
                  </a:txBody>
                  <a:tcPr marL="54864" marR="54864" marT="9144" marB="9144" anchor="ctr">
                    <a:solidFill>
                      <a:srgbClr val="ECF1F2"/>
                    </a:solidFill>
                  </a:tcPr>
                </a:tc>
                <a:tc>
                  <a:txBody>
                    <a:bodyPr/>
                    <a:lstStyle/>
                    <a:p>
                      <a:pPr algn="l"/>
                      <a:r>
                        <a:rPr sz="1150" b="0" i="0">
                          <a:solidFill>
                            <a:srgbClr val="1A2429"/>
                          </a:solidFill>
                          <a:latin typeface="Calibri"/>
                        </a:rPr>
                        <a:t>US EPA</a:t>
                      </a:r>
                    </a:p>
                  </a:txBody>
                  <a:tcPr marL="54864" marR="54864" marT="9144" marB="9144" anchor="ctr">
                    <a:solidFill>
                      <a:srgbClr val="ECF1F2"/>
                    </a:solidFill>
                  </a:tcPr>
                </a:tc>
                <a:tc>
                  <a:txBody>
                    <a:bodyPr/>
                    <a:lstStyle/>
                    <a:p>
                      <a:pPr algn="l"/>
                      <a:r>
                        <a:rPr sz="1150" b="0" i="0">
                          <a:solidFill>
                            <a:srgbClr val="1A2429"/>
                          </a:solidFill>
                          <a:latin typeface="Calibri"/>
                        </a:rPr>
                        <a:t>Active POTW list: permit status, type, design flow, lat/lon</a:t>
                      </a:r>
                    </a:p>
                  </a:txBody>
                  <a:tcPr marL="54864" marR="54864" marT="9144" marB="9144" anchor="ctr">
                    <a:solidFill>
                      <a:srgbClr val="ECF1F2"/>
                    </a:solidFill>
                  </a:tcPr>
                </a:tc>
                <a:tc>
                  <a:txBody>
                    <a:bodyPr/>
                    <a:lstStyle/>
                    <a:p>
                      <a:pPr algn="ctr"/>
                      <a:r>
                        <a:rPr sz="1150" b="0" i="0">
                          <a:solidFill>
                            <a:srgbClr val="1A2429"/>
                          </a:solidFill>
                          <a:latin typeface="Calibri"/>
                        </a:rPr>
                        <a:t>Phase 1</a:t>
                      </a:r>
                    </a:p>
                  </a:txBody>
                  <a:tcPr marL="54864" marR="54864" marT="9144" marB="9144" anchor="ctr">
                    <a:solidFill>
                      <a:srgbClr val="ECF1F2"/>
                    </a:solidFill>
                  </a:tcPr>
                </a:tc>
                <a:extLst>
                  <a:ext uri="{0D108BD9-81ED-4DB2-BD59-A6C34878D82A}">
                    <a16:rowId xmlns:a16="http://schemas.microsoft.com/office/drawing/2014/main" val="10002"/>
                  </a:ext>
                </a:extLst>
              </a:tr>
              <a:tr h="507492">
                <a:tc>
                  <a:txBody>
                    <a:bodyPr/>
                    <a:lstStyle/>
                    <a:p>
                      <a:pPr algn="l"/>
                      <a:r>
                        <a:rPr sz="1150" b="1" i="0">
                          <a:solidFill>
                            <a:srgbClr val="1A2429"/>
                          </a:solidFill>
                          <a:latin typeface="Calibri"/>
                        </a:rPr>
                        <a:t>NPDES outfall coordinates</a:t>
                      </a:r>
                    </a:p>
                  </a:txBody>
                  <a:tcPr marL="54864" marR="54864" marT="9144" marB="9144" anchor="ctr">
                    <a:solidFill>
                      <a:srgbClr val="FFFFFF"/>
                    </a:solidFill>
                  </a:tcPr>
                </a:tc>
                <a:tc>
                  <a:txBody>
                    <a:bodyPr/>
                    <a:lstStyle/>
                    <a:p>
                      <a:pPr algn="l"/>
                      <a:r>
                        <a:rPr sz="1150" b="0" i="0">
                          <a:solidFill>
                            <a:srgbClr val="1A2429"/>
                          </a:solidFill>
                          <a:latin typeface="Calibri"/>
                        </a:rPr>
                        <a:t>US EPA</a:t>
                      </a:r>
                    </a:p>
                  </a:txBody>
                  <a:tcPr marL="54864" marR="54864" marT="9144" marB="9144" anchor="ctr">
                    <a:solidFill>
                      <a:srgbClr val="FFFFFF"/>
                    </a:solidFill>
                  </a:tcPr>
                </a:tc>
                <a:tc>
                  <a:txBody>
                    <a:bodyPr/>
                    <a:lstStyle/>
                    <a:p>
                      <a:pPr algn="l"/>
                      <a:r>
                        <a:rPr sz="1150" b="0" i="0">
                          <a:solidFill>
                            <a:srgbClr val="1A2429"/>
                          </a:solidFill>
                          <a:latin typeface="Calibri"/>
                        </a:rPr>
                        <a:t>Per-outfall lat/lon (626k features) for precise elevation lookup</a:t>
                      </a:r>
                    </a:p>
                  </a:txBody>
                  <a:tcPr marL="54864" marR="54864" marT="9144" marB="9144" anchor="ctr">
                    <a:solidFill>
                      <a:srgbClr val="FFFFFF"/>
                    </a:solidFill>
                  </a:tcPr>
                </a:tc>
                <a:tc>
                  <a:txBody>
                    <a:bodyPr/>
                    <a:lstStyle/>
                    <a:p>
                      <a:pPr algn="ctr"/>
                      <a:r>
                        <a:rPr sz="1150" b="0" i="0">
                          <a:solidFill>
                            <a:srgbClr val="1A2429"/>
                          </a:solidFill>
                          <a:latin typeface="Calibri"/>
                        </a:rPr>
                        <a:t>Phase 3</a:t>
                      </a:r>
                    </a:p>
                  </a:txBody>
                  <a:tcPr marL="54864" marR="54864" marT="9144" marB="9144" anchor="ctr">
                    <a:solidFill>
                      <a:srgbClr val="FFFFFF"/>
                    </a:solidFill>
                  </a:tcPr>
                </a:tc>
                <a:extLst>
                  <a:ext uri="{0D108BD9-81ED-4DB2-BD59-A6C34878D82A}">
                    <a16:rowId xmlns:a16="http://schemas.microsoft.com/office/drawing/2014/main" val="10003"/>
                  </a:ext>
                </a:extLst>
              </a:tr>
              <a:tr h="507492">
                <a:tc>
                  <a:txBody>
                    <a:bodyPr/>
                    <a:lstStyle/>
                    <a:p>
                      <a:pPr algn="l"/>
                      <a:r>
                        <a:rPr sz="1150" b="1" i="0">
                          <a:solidFill>
                            <a:srgbClr val="1A2429"/>
                          </a:solidFill>
                          <a:latin typeface="Calibri"/>
                        </a:rPr>
                        <a:t>USGS 3DEP elevation (EPQS)</a:t>
                      </a:r>
                    </a:p>
                  </a:txBody>
                  <a:tcPr marL="54864" marR="54864" marT="9144" marB="9144" anchor="ctr">
                    <a:solidFill>
                      <a:srgbClr val="ECF1F2"/>
                    </a:solidFill>
                  </a:tcPr>
                </a:tc>
                <a:tc>
                  <a:txBody>
                    <a:bodyPr/>
                    <a:lstStyle/>
                    <a:p>
                      <a:pPr algn="l"/>
                      <a:r>
                        <a:rPr sz="1150" b="0" i="0">
                          <a:solidFill>
                            <a:srgbClr val="1A2429"/>
                          </a:solidFill>
                          <a:latin typeface="Calibri"/>
                        </a:rPr>
                        <a:t>USGS</a:t>
                      </a:r>
                    </a:p>
                  </a:txBody>
                  <a:tcPr marL="54864" marR="54864" marT="9144" marB="9144" anchor="ctr">
                    <a:solidFill>
                      <a:srgbClr val="ECF1F2"/>
                    </a:solidFill>
                  </a:tcPr>
                </a:tc>
                <a:tc>
                  <a:txBody>
                    <a:bodyPr/>
                    <a:lstStyle/>
                    <a:p>
                      <a:pPr algn="l"/>
                      <a:r>
                        <a:rPr sz="1150" b="0" i="0">
                          <a:solidFill>
                            <a:srgbClr val="1A2429"/>
                          </a:solidFill>
                          <a:latin typeface="Calibri"/>
                        </a:rPr>
                        <a:t>Ground elevation at facility &amp; outfall → gross head</a:t>
                      </a:r>
                    </a:p>
                  </a:txBody>
                  <a:tcPr marL="54864" marR="54864" marT="9144" marB="9144" anchor="ctr">
                    <a:solidFill>
                      <a:srgbClr val="ECF1F2"/>
                    </a:solidFill>
                  </a:tcPr>
                </a:tc>
                <a:tc>
                  <a:txBody>
                    <a:bodyPr/>
                    <a:lstStyle/>
                    <a:p>
                      <a:pPr algn="ctr"/>
                      <a:r>
                        <a:rPr sz="1150" b="0" i="0">
                          <a:solidFill>
                            <a:srgbClr val="1A2429"/>
                          </a:solidFill>
                          <a:latin typeface="Calibri"/>
                        </a:rPr>
                        <a:t>Phase 3</a:t>
                      </a:r>
                    </a:p>
                  </a:txBody>
                  <a:tcPr marL="54864" marR="54864" marT="9144" marB="9144" anchor="ctr">
                    <a:solidFill>
                      <a:srgbClr val="ECF1F2"/>
                    </a:solidFill>
                  </a:tcPr>
                </a:tc>
                <a:extLst>
                  <a:ext uri="{0D108BD9-81ED-4DB2-BD59-A6C34878D82A}">
                    <a16:rowId xmlns:a16="http://schemas.microsoft.com/office/drawing/2014/main" val="10004"/>
                  </a:ext>
                </a:extLst>
              </a:tr>
              <a:tr h="507492">
                <a:tc>
                  <a:txBody>
                    <a:bodyPr/>
                    <a:lstStyle/>
                    <a:p>
                      <a:pPr algn="l"/>
                      <a:r>
                        <a:rPr sz="1150" b="1" i="0">
                          <a:solidFill>
                            <a:srgbClr val="1A2429"/>
                          </a:solidFill>
                          <a:latin typeface="Calibri"/>
                        </a:rPr>
                        <a:t>State industrial electricity rates</a:t>
                      </a:r>
                    </a:p>
                  </a:txBody>
                  <a:tcPr marL="54864" marR="54864" marT="9144" marB="9144" anchor="ctr">
                    <a:solidFill>
                      <a:srgbClr val="FFFFFF"/>
                    </a:solidFill>
                  </a:tcPr>
                </a:tc>
                <a:tc>
                  <a:txBody>
                    <a:bodyPr/>
                    <a:lstStyle/>
                    <a:p>
                      <a:pPr algn="l"/>
                      <a:r>
                        <a:rPr sz="1150" b="0" i="0">
                          <a:solidFill>
                            <a:srgbClr val="1A2429"/>
                          </a:solidFill>
                          <a:latin typeface="Calibri"/>
                        </a:rPr>
                        <a:t>EIA (2023)</a:t>
                      </a:r>
                    </a:p>
                  </a:txBody>
                  <a:tcPr marL="54864" marR="54864" marT="9144" marB="9144" anchor="ctr">
                    <a:solidFill>
                      <a:srgbClr val="FFFFFF"/>
                    </a:solidFill>
                  </a:tcPr>
                </a:tc>
                <a:tc>
                  <a:txBody>
                    <a:bodyPr/>
                    <a:lstStyle/>
                    <a:p>
                      <a:pPr algn="l"/>
                      <a:r>
                        <a:rPr sz="1150" b="0" i="0">
                          <a:solidFill>
                            <a:srgbClr val="1A2429"/>
                          </a:solidFill>
                          <a:latin typeface="Calibri"/>
                        </a:rPr>
                        <a:t>$/kWh by state (51 entries) for revenue</a:t>
                      </a:r>
                    </a:p>
                  </a:txBody>
                  <a:tcPr marL="54864" marR="54864" marT="9144" marB="9144" anchor="ctr">
                    <a:solidFill>
                      <a:srgbClr val="FFFFFF"/>
                    </a:solidFill>
                  </a:tcPr>
                </a:tc>
                <a:tc>
                  <a:txBody>
                    <a:bodyPr/>
                    <a:lstStyle/>
                    <a:p>
                      <a:pPr algn="ctr"/>
                      <a:r>
                        <a:rPr sz="1150" b="0" i="0">
                          <a:solidFill>
                            <a:srgbClr val="1A2429"/>
                          </a:solidFill>
                          <a:latin typeface="Calibri"/>
                        </a:rPr>
                        <a:t>Phase 4</a:t>
                      </a:r>
                    </a:p>
                  </a:txBody>
                  <a:tcPr marL="54864" marR="54864" marT="9144" marB="9144" anchor="ctr">
                    <a:solidFill>
                      <a:srgbClr val="FFFFFF"/>
                    </a:solidFill>
                  </a:tcPr>
                </a:tc>
                <a:extLst>
                  <a:ext uri="{0D108BD9-81ED-4DB2-BD59-A6C34878D82A}">
                    <a16:rowId xmlns:a16="http://schemas.microsoft.com/office/drawing/2014/main" val="10005"/>
                  </a:ext>
                </a:extLst>
              </a:tr>
              <a:tr h="507492">
                <a:tc>
                  <a:txBody>
                    <a:bodyPr/>
                    <a:lstStyle/>
                    <a:p>
                      <a:pPr algn="l"/>
                      <a:r>
                        <a:rPr sz="1150" b="1" i="0">
                          <a:solidFill>
                            <a:srgbClr val="1A2429"/>
                          </a:solidFill>
                          <a:latin typeface="Calibri"/>
                        </a:rPr>
                        <a:t>Turbine manufacturer database</a:t>
                      </a:r>
                    </a:p>
                  </a:txBody>
                  <a:tcPr marL="54864" marR="54864" marT="9144" marB="9144" anchor="ctr">
                    <a:solidFill>
                      <a:srgbClr val="ECF1F2"/>
                    </a:solidFill>
                  </a:tcPr>
                </a:tc>
                <a:tc>
                  <a:txBody>
                    <a:bodyPr/>
                    <a:lstStyle/>
                    <a:p>
                      <a:pPr algn="l"/>
                      <a:r>
                        <a:rPr sz="1150" b="0" i="0">
                          <a:solidFill>
                            <a:srgbClr val="1A2429"/>
                          </a:solidFill>
                          <a:latin typeface="Calibri"/>
                        </a:rPr>
                        <a:t>Vendor sites</a:t>
                      </a:r>
                    </a:p>
                  </a:txBody>
                  <a:tcPr marL="54864" marR="54864" marT="9144" marB="9144" anchor="ctr">
                    <a:solidFill>
                      <a:srgbClr val="ECF1F2"/>
                    </a:solidFill>
                  </a:tcPr>
                </a:tc>
                <a:tc>
                  <a:txBody>
                    <a:bodyPr/>
                    <a:lstStyle/>
                    <a:p>
                      <a:pPr algn="l"/>
                      <a:r>
                        <a:rPr sz="1150" b="0" i="0">
                          <a:solidFill>
                            <a:srgbClr val="1A2429"/>
                          </a:solidFill>
                          <a:latin typeface="Calibri"/>
                        </a:rPr>
                        <a:t>15 turbines: flow/head envelope, $/kW band, WW-certified</a:t>
                      </a:r>
                    </a:p>
                  </a:txBody>
                  <a:tcPr marL="54864" marR="54864" marT="9144" marB="9144" anchor="ctr">
                    <a:solidFill>
                      <a:srgbClr val="ECF1F2"/>
                    </a:solidFill>
                  </a:tcPr>
                </a:tc>
                <a:tc>
                  <a:txBody>
                    <a:bodyPr/>
                    <a:lstStyle/>
                    <a:p>
                      <a:pPr algn="ctr"/>
                      <a:r>
                        <a:rPr sz="1150" b="0" i="0">
                          <a:solidFill>
                            <a:srgbClr val="1A2429"/>
                          </a:solidFill>
                          <a:latin typeface="Calibri"/>
                        </a:rPr>
                        <a:t>Phase 3–4</a:t>
                      </a:r>
                    </a:p>
                  </a:txBody>
                  <a:tcPr marL="54864" marR="54864" marT="9144" marB="9144" anchor="ctr">
                    <a:solidFill>
                      <a:srgbClr val="ECF1F2"/>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48640" y="6126480"/>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All sources are public. Backbone = EPA DMR (~279M rows). Acquisition: bulk ZIP per fiscal year from echo.epa.gov; elevation via live USGS EPQS API with on-disk caching.</a:t>
            </a:r>
          </a:p>
        </p:txBody>
      </p:sp>
      <p:sp>
        <p:nvSpPr>
          <p:cNvPr id="9" name="Rectangle 8"/>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1" name="TextBox 10"/>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DATA DEEP-DIVE</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EPA DMR — the flow backbone</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6858000" cy="4754880"/>
          </a:xfrm>
          <a:prstGeom prst="rect">
            <a:avLst/>
          </a:prstGeom>
          <a:noFill/>
        </p:spPr>
        <p:txBody>
          <a:bodyPr wrap="square" lIns="45720" tIns="18288" rIns="45720" bIns="18288" anchor="t">
            <a:spAutoFit/>
          </a:bodyPr>
          <a:lstStyle/>
          <a:p>
            <a:pPr>
              <a:spcBef>
                <a:spcPts val="0"/>
              </a:spcBef>
              <a:spcAft>
                <a:spcPts val="650"/>
              </a:spcAft>
            </a:pPr>
            <a:r>
              <a:rPr sz="1400" b="1" i="0">
                <a:solidFill>
                  <a:srgbClr val="126E82"/>
                </a:solidFill>
                <a:latin typeface="Calibri"/>
              </a:rPr>
              <a:t>▸  </a:t>
            </a:r>
            <a:r>
              <a:rPr sz="1400" b="1" i="0">
                <a:solidFill>
                  <a:srgbClr val="0C2D3A"/>
                </a:solidFill>
                <a:latin typeface="Calibri"/>
              </a:rPr>
              <a:t>What it is:</a:t>
            </a:r>
            <a:r>
              <a:rPr sz="1400" b="0" i="0">
                <a:solidFill>
                  <a:srgbClr val="1A2429"/>
                </a:solidFill>
                <a:latin typeface="Calibri"/>
              </a:rPr>
              <a:t> the Discharge Monitoring Report database — every NPDES-permitted facility's legally-required self-reported measurements, published quarterly by EPA ECHO (free bulk download).</a:t>
            </a:r>
          </a:p>
          <a:p>
            <a:pPr>
              <a:spcBef>
                <a:spcPts val="0"/>
              </a:spcBef>
              <a:spcAft>
                <a:spcPts val="650"/>
              </a:spcAft>
            </a:pPr>
            <a:r>
              <a:rPr sz="1400" b="1" i="0">
                <a:solidFill>
                  <a:srgbClr val="126E82"/>
                </a:solidFill>
                <a:latin typeface="Calibri"/>
              </a:rPr>
              <a:t>▸  </a:t>
            </a:r>
            <a:r>
              <a:rPr sz="1400" b="1" i="0">
                <a:solidFill>
                  <a:srgbClr val="0C2D3A"/>
                </a:solidFill>
                <a:latin typeface="Calibri"/>
              </a:rPr>
              <a:t>Scale ingested:</a:t>
            </a:r>
            <a:r>
              <a:rPr sz="1400" b="0" i="0">
                <a:solidFill>
                  <a:srgbClr val="1A2429"/>
                </a:solidFill>
                <a:latin typeface="Calibri"/>
              </a:rPr>
              <a:t> ~279 million raw rows, fiscal years 2009–2024, all 50 states + territories (~10 GB compressed).</a:t>
            </a:r>
          </a:p>
          <a:p>
            <a:pPr>
              <a:spcBef>
                <a:spcPts val="0"/>
              </a:spcBef>
              <a:spcAft>
                <a:spcPts val="650"/>
              </a:spcAft>
            </a:pPr>
            <a:r>
              <a:rPr sz="1400" b="1" i="0">
                <a:solidFill>
                  <a:srgbClr val="126E82"/>
                </a:solidFill>
                <a:latin typeface="Calibri"/>
              </a:rPr>
              <a:t>▸  </a:t>
            </a:r>
            <a:r>
              <a:rPr sz="1400" b="1" i="0">
                <a:solidFill>
                  <a:srgbClr val="0C2D3A"/>
                </a:solidFill>
                <a:latin typeface="Calibri"/>
              </a:rPr>
              <a:t>What we extract:</a:t>
            </a:r>
            <a:r>
              <a:rPr sz="1400" b="0" i="0">
                <a:solidFill>
                  <a:srgbClr val="1A2429"/>
                </a:solidFill>
                <a:latin typeface="Calibri"/>
              </a:rPr>
              <a:t> flow parameter code 50050 (effluent flow, MGD). All other pollutant parameters are discarded for this use.</a:t>
            </a:r>
          </a:p>
          <a:p>
            <a:pPr>
              <a:spcBef>
                <a:spcPts val="0"/>
              </a:spcBef>
              <a:spcAft>
                <a:spcPts val="650"/>
              </a:spcAft>
            </a:pPr>
            <a:r>
              <a:rPr sz="1400" b="1" i="0">
                <a:solidFill>
                  <a:srgbClr val="126E82"/>
                </a:solidFill>
                <a:latin typeface="Calibri"/>
              </a:rPr>
              <a:t>▸  </a:t>
            </a:r>
            <a:r>
              <a:rPr sz="1400" b="1" i="0">
                <a:solidFill>
                  <a:srgbClr val="0C2D3A"/>
                </a:solidFill>
                <a:latin typeface="Calibri"/>
              </a:rPr>
              <a:t>Engineering done to make it usable:</a:t>
            </a:r>
          </a:p>
          <a:p>
            <a:pPr lvl="1">
              <a:spcBef>
                <a:spcPts val="0"/>
              </a:spcBef>
              <a:spcAft>
                <a:spcPts val="650"/>
              </a:spcAft>
            </a:pPr>
            <a:r>
              <a:rPr sz="1300" b="1" i="0">
                <a:solidFill>
                  <a:srgbClr val="2E9E5B"/>
                </a:solidFill>
                <a:latin typeface="Calibri"/>
              </a:rPr>
              <a:t>–  </a:t>
            </a:r>
            <a:r>
              <a:rPr sz="1300" b="0" i="0">
                <a:solidFill>
                  <a:srgbClr val="5C6B70"/>
                </a:solidFill>
                <a:latin typeface="Calibri"/>
              </a:rPr>
              <a:t>Filter to active POTWs only (permit status EFF/NON/ADC; exclude federal facilities).</a:t>
            </a:r>
          </a:p>
          <a:p>
            <a:pPr lvl="1">
              <a:spcBef>
                <a:spcPts val="0"/>
              </a:spcBef>
              <a:spcAft>
                <a:spcPts val="650"/>
              </a:spcAft>
            </a:pPr>
            <a:r>
              <a:rPr sz="1300" b="1" i="0">
                <a:solidFill>
                  <a:srgbClr val="2E9E5B"/>
                </a:solidFill>
                <a:latin typeface="Calibri"/>
              </a:rPr>
              <a:t>–  </a:t>
            </a:r>
            <a:r>
              <a:rPr sz="1300" b="0" i="0">
                <a:solidFill>
                  <a:srgbClr val="5C6B70"/>
                </a:solidFill>
                <a:latin typeface="Calibri"/>
              </a:rPr>
              <a:t>Parse + normalize units, handle NODI no-data codes (below-detection → 0, estimated, missing).</a:t>
            </a:r>
          </a:p>
          <a:p>
            <a:pPr lvl="1">
              <a:spcBef>
                <a:spcPts val="0"/>
              </a:spcBef>
              <a:spcAft>
                <a:spcPts val="650"/>
              </a:spcAft>
            </a:pPr>
            <a:r>
              <a:rPr sz="1300" b="1" i="0">
                <a:solidFill>
                  <a:srgbClr val="2E9E5B"/>
                </a:solidFill>
                <a:latin typeface="Calibri"/>
              </a:rPr>
              <a:t>–  </a:t>
            </a:r>
            <a:r>
              <a:rPr sz="1300" b="0" i="0">
                <a:solidFill>
                  <a:srgbClr val="5C6B70"/>
                </a:solidFill>
                <a:latin typeface="Calibri"/>
              </a:rPr>
              <a:t>Collapse to a monthly flow time series → 20,020,548 clean rows.</a:t>
            </a:r>
          </a:p>
          <a:p>
            <a:pPr lvl="1">
              <a:spcBef>
                <a:spcPts val="0"/>
              </a:spcBef>
              <a:spcAft>
                <a:spcPts val="650"/>
              </a:spcAft>
            </a:pPr>
            <a:r>
              <a:rPr sz="1300" b="1" i="0">
                <a:solidFill>
                  <a:srgbClr val="2E9E5B"/>
                </a:solidFill>
                <a:latin typeface="Calibri"/>
              </a:rPr>
              <a:t>–  </a:t>
            </a:r>
            <a:r>
              <a:rPr sz="1300" b="0" i="0">
                <a:solidFill>
                  <a:srgbClr val="5C6B70"/>
                </a:solidFill>
                <a:latin typeface="Calibri"/>
              </a:rPr>
              <a:t>Null physically impossible readings: a per-reading cap (2,000 MGD) and a 5×-design-flow guard removed 459 unit-error artifacts (e.g. a high school reporting 585 MGD).</a:t>
            </a:r>
          </a:p>
        </p:txBody>
      </p:sp>
      <p:sp>
        <p:nvSpPr>
          <p:cNvPr id="8" name="Rounded Rectangle 7"/>
          <p:cNvSpPr/>
          <p:nvPr/>
        </p:nvSpPr>
        <p:spPr>
          <a:xfrm>
            <a:off x="7772400" y="1554480"/>
            <a:ext cx="3931920" cy="420624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 Same Side Corner Rectangle 8"/>
          <p:cNvSpPr/>
          <p:nvPr/>
        </p:nvSpPr>
        <p:spPr>
          <a:xfrm>
            <a:off x="7772400" y="1554480"/>
            <a:ext cx="3931920" cy="457200"/>
          </a:xfrm>
          <a:prstGeom prst="round2Same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0" y="1554480"/>
            <a:ext cx="3931920" cy="457200"/>
          </a:xfrm>
          <a:prstGeom prst="rect">
            <a:avLst/>
          </a:prstGeom>
          <a:noFill/>
        </p:spPr>
        <p:txBody>
          <a:bodyPr wrap="square" lIns="45720" tIns="18288" rIns="45720" bIns="18288" anchor="ctr">
            <a:spAutoFit/>
          </a:bodyPr>
          <a:lstStyle/>
          <a:p>
            <a:pPr algn="ctr"/>
            <a:r>
              <a:rPr sz="1250" b="1" i="0">
                <a:solidFill>
                  <a:srgbClr val="FFFFFF"/>
                </a:solidFill>
                <a:latin typeface="Calibri"/>
              </a:rPr>
              <a:t>DMR BY THE NUMBERS</a:t>
            </a:r>
          </a:p>
        </p:txBody>
      </p:sp>
      <p:sp>
        <p:nvSpPr>
          <p:cNvPr id="11" name="TextBox 10"/>
          <p:cNvSpPr txBox="1"/>
          <p:nvPr/>
        </p:nvSpPr>
        <p:spPr>
          <a:xfrm>
            <a:off x="8001000" y="2194560"/>
            <a:ext cx="3474720" cy="685800"/>
          </a:xfrm>
          <a:prstGeom prst="rect">
            <a:avLst/>
          </a:prstGeom>
          <a:noFill/>
        </p:spPr>
        <p:txBody>
          <a:bodyPr wrap="square" lIns="45720" tIns="18288" rIns="45720" bIns="18288" anchor="t">
            <a:spAutoFit/>
          </a:bodyPr>
          <a:lstStyle/>
          <a:p>
            <a:r>
              <a:rPr sz="2200" b="1" i="0">
                <a:solidFill>
                  <a:srgbClr val="126E82"/>
                </a:solidFill>
                <a:latin typeface="Calibri"/>
              </a:rPr>
              <a:t>~279 M</a:t>
            </a:r>
          </a:p>
          <a:p>
            <a:r>
              <a:rPr sz="1150" b="0" i="0">
                <a:solidFill>
                  <a:srgbClr val="5C6B70"/>
                </a:solidFill>
                <a:latin typeface="Calibri"/>
              </a:rPr>
              <a:t>raw DMR rows ingested</a:t>
            </a:r>
          </a:p>
        </p:txBody>
      </p:sp>
      <p:sp>
        <p:nvSpPr>
          <p:cNvPr id="12" name="TextBox 11"/>
          <p:cNvSpPr txBox="1"/>
          <p:nvPr/>
        </p:nvSpPr>
        <p:spPr>
          <a:xfrm>
            <a:off x="8001000" y="2907792"/>
            <a:ext cx="3474720" cy="685800"/>
          </a:xfrm>
          <a:prstGeom prst="rect">
            <a:avLst/>
          </a:prstGeom>
          <a:noFill/>
        </p:spPr>
        <p:txBody>
          <a:bodyPr wrap="square" lIns="45720" tIns="18288" rIns="45720" bIns="18288" anchor="t">
            <a:spAutoFit/>
          </a:bodyPr>
          <a:lstStyle/>
          <a:p>
            <a:r>
              <a:rPr sz="2200" b="1" i="0">
                <a:solidFill>
                  <a:srgbClr val="126E82"/>
                </a:solidFill>
                <a:latin typeface="Calibri"/>
              </a:rPr>
              <a:t>16</a:t>
            </a:r>
          </a:p>
          <a:p>
            <a:r>
              <a:rPr sz="1150" b="0" i="0">
                <a:solidFill>
                  <a:srgbClr val="5C6B70"/>
                </a:solidFill>
                <a:latin typeface="Calibri"/>
              </a:rPr>
              <a:t>fiscal years (2009–2024)</a:t>
            </a:r>
          </a:p>
        </p:txBody>
      </p:sp>
      <p:sp>
        <p:nvSpPr>
          <p:cNvPr id="13" name="TextBox 12"/>
          <p:cNvSpPr txBox="1"/>
          <p:nvPr/>
        </p:nvSpPr>
        <p:spPr>
          <a:xfrm>
            <a:off x="8001000" y="3621024"/>
            <a:ext cx="3474720" cy="685800"/>
          </a:xfrm>
          <a:prstGeom prst="rect">
            <a:avLst/>
          </a:prstGeom>
          <a:noFill/>
        </p:spPr>
        <p:txBody>
          <a:bodyPr wrap="square" lIns="45720" tIns="18288" rIns="45720" bIns="18288" anchor="t">
            <a:spAutoFit/>
          </a:bodyPr>
          <a:lstStyle/>
          <a:p>
            <a:r>
              <a:rPr sz="2200" b="1" i="0">
                <a:solidFill>
                  <a:srgbClr val="126E82"/>
                </a:solidFill>
                <a:latin typeface="Calibri"/>
              </a:rPr>
              <a:t>20.0 M</a:t>
            </a:r>
          </a:p>
          <a:p>
            <a:r>
              <a:rPr sz="1150" b="0" i="0">
                <a:solidFill>
                  <a:srgbClr val="5C6B70"/>
                </a:solidFill>
                <a:latin typeface="Calibri"/>
              </a:rPr>
              <a:t>clean monthly-flow rows</a:t>
            </a:r>
          </a:p>
        </p:txBody>
      </p:sp>
      <p:sp>
        <p:nvSpPr>
          <p:cNvPr id="14" name="TextBox 13"/>
          <p:cNvSpPr txBox="1"/>
          <p:nvPr/>
        </p:nvSpPr>
        <p:spPr>
          <a:xfrm>
            <a:off x="8001000" y="4334256"/>
            <a:ext cx="3474720" cy="685800"/>
          </a:xfrm>
          <a:prstGeom prst="rect">
            <a:avLst/>
          </a:prstGeom>
          <a:noFill/>
        </p:spPr>
        <p:txBody>
          <a:bodyPr wrap="square" lIns="45720" tIns="18288" rIns="45720" bIns="18288" anchor="t">
            <a:spAutoFit/>
          </a:bodyPr>
          <a:lstStyle/>
          <a:p>
            <a:r>
              <a:rPr sz="2200" b="1" i="0">
                <a:solidFill>
                  <a:srgbClr val="126E82"/>
                </a:solidFill>
                <a:latin typeface="Calibri"/>
              </a:rPr>
              <a:t>17,158</a:t>
            </a:r>
          </a:p>
          <a:p>
            <a:r>
              <a:rPr sz="1150" b="0" i="0">
                <a:solidFill>
                  <a:srgbClr val="5C6B70"/>
                </a:solidFill>
                <a:latin typeface="Calibri"/>
              </a:rPr>
              <a:t>active POTWs retained</a:t>
            </a:r>
          </a:p>
        </p:txBody>
      </p:sp>
      <p:sp>
        <p:nvSpPr>
          <p:cNvPr id="15" name="TextBox 14"/>
          <p:cNvSpPr txBox="1"/>
          <p:nvPr/>
        </p:nvSpPr>
        <p:spPr>
          <a:xfrm>
            <a:off x="8001000" y="5047488"/>
            <a:ext cx="3474720" cy="685800"/>
          </a:xfrm>
          <a:prstGeom prst="rect">
            <a:avLst/>
          </a:prstGeom>
          <a:noFill/>
        </p:spPr>
        <p:txBody>
          <a:bodyPr wrap="square" lIns="45720" tIns="18288" rIns="45720" bIns="18288" anchor="t">
            <a:spAutoFit/>
          </a:bodyPr>
          <a:lstStyle/>
          <a:p>
            <a:r>
              <a:rPr sz="2200" b="1" i="0">
                <a:solidFill>
                  <a:srgbClr val="126E82"/>
                </a:solidFill>
                <a:latin typeface="Calibri"/>
              </a:rPr>
              <a:t>459</a:t>
            </a:r>
          </a:p>
          <a:p>
            <a:r>
              <a:rPr sz="1150" b="0" i="0">
                <a:solidFill>
                  <a:srgbClr val="5C6B70"/>
                </a:solidFill>
                <a:latin typeface="Calibri"/>
              </a:rPr>
              <a:t>unit-error rows nulled</a:t>
            </a:r>
          </a:p>
        </p:txBody>
      </p:sp>
      <p:sp>
        <p:nvSpPr>
          <p:cNvPr id="16" name="Rectangle 15"/>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8" name="TextBox 17"/>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PHASE 1 · METHOD</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Rank candidate plants from flow data</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10972800" cy="4754880"/>
          </a:xfrm>
          <a:prstGeom prst="rect">
            <a:avLst/>
          </a:prstGeom>
          <a:noFill/>
        </p:spPr>
        <p:txBody>
          <a:bodyPr wrap="square" lIns="45720" tIns="18288" rIns="45720" bIns="18288" anchor="t">
            <a:spAutoFit/>
          </a:bodyPr>
          <a:lstStyle/>
          <a:p>
            <a:pPr>
              <a:spcBef>
                <a:spcPts val="0"/>
              </a:spcBef>
              <a:spcAft>
                <a:spcPts val="800"/>
              </a:spcAft>
            </a:pPr>
            <a:r>
              <a:rPr sz="1450" b="1" i="0">
                <a:solidFill>
                  <a:srgbClr val="126E82"/>
                </a:solidFill>
                <a:latin typeface="Calibri"/>
              </a:rPr>
              <a:t>▸  </a:t>
            </a:r>
            <a:r>
              <a:rPr sz="1450" b="0" i="0">
                <a:solidFill>
                  <a:srgbClr val="1A2429"/>
                </a:solidFill>
                <a:latin typeface="Calibri"/>
              </a:rPr>
              <a:t>Per-facility flow features computed from the monthly time series: mean / median flow, coefficient of variation (consistency), P10–P90 percentiles, a 20-point flow-duration curve (FDC), utilization ratio (actual ÷ design flow), and years of data.</a:t>
            </a:r>
          </a:p>
          <a:p>
            <a:pPr>
              <a:spcBef>
                <a:spcPts val="0"/>
              </a:spcBef>
              <a:spcAft>
                <a:spcPts val="800"/>
              </a:spcAft>
            </a:pPr>
            <a:r>
              <a:rPr sz="1450" b="1" i="0">
                <a:solidFill>
                  <a:srgbClr val="126E82"/>
                </a:solidFill>
                <a:latin typeface="Calibri"/>
              </a:rPr>
              <a:t>▸  </a:t>
            </a:r>
            <a:r>
              <a:rPr sz="1450" b="0" i="0">
                <a:solidFill>
                  <a:srgbClr val="1A2429"/>
                </a:solidFill>
                <a:latin typeface="Calibri"/>
              </a:rPr>
              <a:t>Each feature is min-max normalized to [0,1] across all facilities (variability and CV are inverted — steadier is better).</a:t>
            </a:r>
          </a:p>
          <a:p>
            <a:pPr>
              <a:spcBef>
                <a:spcPts val="0"/>
              </a:spcBef>
              <a:spcAft>
                <a:spcPts val="800"/>
              </a:spcAft>
            </a:pPr>
            <a:r>
              <a:rPr sz="1450" b="1" i="0">
                <a:solidFill>
                  <a:srgbClr val="126E82"/>
                </a:solidFill>
                <a:latin typeface="Calibri"/>
              </a:rPr>
              <a:t>▸  </a:t>
            </a:r>
            <a:r>
              <a:rPr sz="1450" b="0" i="0">
                <a:solidFill>
                  <a:srgbClr val="1A2429"/>
                </a:solidFill>
                <a:latin typeface="Calibri"/>
              </a:rPr>
              <a:t>Composite score = weighted sum (weights re-normalized to sum to 1):</a:t>
            </a:r>
          </a:p>
        </p:txBody>
      </p:sp>
      <p:graphicFrame>
        <p:nvGraphicFramePr>
          <p:cNvPr id="8" name="Table 7"/>
          <p:cNvGraphicFramePr>
            <a:graphicFrameLocks noGrp="1"/>
          </p:cNvGraphicFramePr>
          <p:nvPr/>
        </p:nvGraphicFramePr>
        <p:xfrm>
          <a:off x="548640" y="3200400"/>
          <a:ext cx="7680959" cy="2523744"/>
        </p:xfrm>
        <a:graphic>
          <a:graphicData uri="http://schemas.openxmlformats.org/drawingml/2006/table">
            <a:tbl>
              <a:tblPr>
                <a:tableStyleId>{5C22544A-7EE6-4342-B048-85BDC9FD1C3A}</a:tableStyleId>
              </a:tblPr>
              <a:tblGrid>
                <a:gridCol w="2954215">
                  <a:extLst>
                    <a:ext uri="{9D8B030D-6E8A-4147-A177-3AD203B41FA5}">
                      <a16:colId xmlns:a16="http://schemas.microsoft.com/office/drawing/2014/main" val="20000"/>
                    </a:ext>
                  </a:extLst>
                </a:gridCol>
                <a:gridCol w="1063517">
                  <a:extLst>
                    <a:ext uri="{9D8B030D-6E8A-4147-A177-3AD203B41FA5}">
                      <a16:colId xmlns:a16="http://schemas.microsoft.com/office/drawing/2014/main" val="20001"/>
                    </a:ext>
                  </a:extLst>
                </a:gridCol>
                <a:gridCol w="3663227">
                  <a:extLst>
                    <a:ext uri="{9D8B030D-6E8A-4147-A177-3AD203B41FA5}">
                      <a16:colId xmlns:a16="http://schemas.microsoft.com/office/drawing/2014/main" val="20002"/>
                    </a:ext>
                  </a:extLst>
                </a:gridCol>
              </a:tblGrid>
              <a:tr h="420624">
                <a:tc>
                  <a:txBody>
                    <a:bodyPr/>
                    <a:lstStyle/>
                    <a:p>
                      <a:pPr algn="l"/>
                      <a:r>
                        <a:rPr sz="1100" b="1" i="0">
                          <a:solidFill>
                            <a:srgbClr val="FFFFFF"/>
                          </a:solidFill>
                          <a:latin typeface="Calibri"/>
                        </a:rPr>
                        <a:t>Ranking component</a:t>
                      </a:r>
                    </a:p>
                  </a:txBody>
                  <a:tcPr marL="54864" marR="54864" marT="18288" marB="18288" anchor="ctr">
                    <a:solidFill>
                      <a:srgbClr val="0C2D3A"/>
                    </a:solidFill>
                  </a:tcPr>
                </a:tc>
                <a:tc>
                  <a:txBody>
                    <a:bodyPr/>
                    <a:lstStyle/>
                    <a:p>
                      <a:pPr algn="ctr"/>
                      <a:r>
                        <a:rPr sz="1100" b="1" i="0">
                          <a:solidFill>
                            <a:srgbClr val="FFFFFF"/>
                          </a:solidFill>
                          <a:latin typeface="Calibri"/>
                        </a:rPr>
                        <a:t>Weight</a:t>
                      </a:r>
                    </a:p>
                  </a:txBody>
                  <a:tcPr marL="54864" marR="54864" marT="18288" marB="18288" anchor="ctr">
                    <a:solidFill>
                      <a:srgbClr val="0C2D3A"/>
                    </a:solidFill>
                  </a:tcPr>
                </a:tc>
                <a:tc>
                  <a:txBody>
                    <a:bodyPr/>
                    <a:lstStyle/>
                    <a:p>
                      <a:pPr algn="l"/>
                      <a:r>
                        <a:rPr sz="1100" b="1" i="0">
                          <a:solidFill>
                            <a:srgbClr val="FFFFFF"/>
                          </a:solidFill>
                          <a:latin typeface="Calibri"/>
                        </a:rPr>
                        <a:t>Rationale</a:t>
                      </a:r>
                    </a:p>
                  </a:txBody>
                  <a:tcPr marL="54864" marR="54864" marT="18288" marB="18288" anchor="ctr">
                    <a:solidFill>
                      <a:srgbClr val="0C2D3A"/>
                    </a:solidFill>
                  </a:tcPr>
                </a:tc>
                <a:extLst>
                  <a:ext uri="{0D108BD9-81ED-4DB2-BD59-A6C34878D82A}">
                    <a16:rowId xmlns:a16="http://schemas.microsoft.com/office/drawing/2014/main" val="10000"/>
                  </a:ext>
                </a:extLst>
              </a:tr>
              <a:tr h="420624">
                <a:tc>
                  <a:txBody>
                    <a:bodyPr/>
                    <a:lstStyle/>
                    <a:p>
                      <a:pPr algn="l"/>
                      <a:r>
                        <a:rPr sz="1200" b="1" i="0">
                          <a:solidFill>
                            <a:srgbClr val="1A2429"/>
                          </a:solidFill>
                          <a:latin typeface="Calibri"/>
                        </a:rPr>
                        <a:t>Mean flow</a:t>
                      </a:r>
                    </a:p>
                  </a:txBody>
                  <a:tcPr marL="54864" marR="54864" marT="9144" marB="9144" anchor="ctr">
                    <a:solidFill>
                      <a:srgbClr val="FFFFFF"/>
                    </a:solidFill>
                  </a:tcPr>
                </a:tc>
                <a:tc>
                  <a:txBody>
                    <a:bodyPr/>
                    <a:lstStyle/>
                    <a:p>
                      <a:pPr algn="ctr"/>
                      <a:r>
                        <a:rPr sz="1200" b="0" i="0">
                          <a:solidFill>
                            <a:srgbClr val="1A2429"/>
                          </a:solidFill>
                          <a:latin typeface="Calibri"/>
                        </a:rPr>
                        <a:t>0.35</a:t>
                      </a:r>
                    </a:p>
                  </a:txBody>
                  <a:tcPr marL="54864" marR="54864" marT="9144" marB="9144" anchor="ctr">
                    <a:solidFill>
                      <a:srgbClr val="FFFFFF"/>
                    </a:solidFill>
                  </a:tcPr>
                </a:tc>
                <a:tc>
                  <a:txBody>
                    <a:bodyPr/>
                    <a:lstStyle/>
                    <a:p>
                      <a:pPr algn="l"/>
                      <a:r>
                        <a:rPr sz="1200" b="0" i="0">
                          <a:solidFill>
                            <a:srgbClr val="1A2429"/>
                          </a:solidFill>
                          <a:latin typeface="Calibri"/>
                        </a:rPr>
                        <a:t>More water → more power potential</a:t>
                      </a:r>
                    </a:p>
                  </a:txBody>
                  <a:tcPr marL="54864" marR="54864" marT="9144" marB="9144" anchor="ctr">
                    <a:solidFill>
                      <a:srgbClr val="FFFFFF"/>
                    </a:solidFill>
                  </a:tcPr>
                </a:tc>
                <a:extLst>
                  <a:ext uri="{0D108BD9-81ED-4DB2-BD59-A6C34878D82A}">
                    <a16:rowId xmlns:a16="http://schemas.microsoft.com/office/drawing/2014/main" val="10001"/>
                  </a:ext>
                </a:extLst>
              </a:tr>
              <a:tr h="420624">
                <a:tc>
                  <a:txBody>
                    <a:bodyPr/>
                    <a:lstStyle/>
                    <a:p>
                      <a:pPr algn="l"/>
                      <a:r>
                        <a:rPr sz="1200" b="1" i="0">
                          <a:solidFill>
                            <a:srgbClr val="1A2429"/>
                          </a:solidFill>
                          <a:latin typeface="Calibri"/>
                        </a:rPr>
                        <a:t>P10 flow (reliable baseline)</a:t>
                      </a:r>
                    </a:p>
                  </a:txBody>
                  <a:tcPr marL="54864" marR="54864" marT="9144" marB="9144" anchor="ctr">
                    <a:solidFill>
                      <a:srgbClr val="ECF1F2"/>
                    </a:solidFill>
                  </a:tcPr>
                </a:tc>
                <a:tc>
                  <a:txBody>
                    <a:bodyPr/>
                    <a:lstStyle/>
                    <a:p>
                      <a:pPr algn="ctr"/>
                      <a:r>
                        <a:rPr sz="1200" b="0" i="0">
                          <a:solidFill>
                            <a:srgbClr val="1A2429"/>
                          </a:solidFill>
                          <a:latin typeface="Calibri"/>
                        </a:rPr>
                        <a:t>0.20</a:t>
                      </a:r>
                    </a:p>
                  </a:txBody>
                  <a:tcPr marL="54864" marR="54864" marT="9144" marB="9144" anchor="ctr">
                    <a:solidFill>
                      <a:srgbClr val="ECF1F2"/>
                    </a:solidFill>
                  </a:tcPr>
                </a:tc>
                <a:tc>
                  <a:txBody>
                    <a:bodyPr/>
                    <a:lstStyle/>
                    <a:p>
                      <a:pPr algn="l"/>
                      <a:r>
                        <a:rPr sz="1200" b="0" i="0">
                          <a:solidFill>
                            <a:srgbClr val="1A2429"/>
                          </a:solidFill>
                          <a:latin typeface="Calibri"/>
                        </a:rPr>
                        <a:t>Firm flow available ≥90% of the time</a:t>
                      </a:r>
                    </a:p>
                  </a:txBody>
                  <a:tcPr marL="54864" marR="54864" marT="9144" marB="9144" anchor="ctr">
                    <a:solidFill>
                      <a:srgbClr val="ECF1F2"/>
                    </a:solidFill>
                  </a:tcPr>
                </a:tc>
                <a:extLst>
                  <a:ext uri="{0D108BD9-81ED-4DB2-BD59-A6C34878D82A}">
                    <a16:rowId xmlns:a16="http://schemas.microsoft.com/office/drawing/2014/main" val="10002"/>
                  </a:ext>
                </a:extLst>
              </a:tr>
              <a:tr h="420624">
                <a:tc>
                  <a:txBody>
                    <a:bodyPr/>
                    <a:lstStyle/>
                    <a:p>
                      <a:pPr algn="l"/>
                      <a:r>
                        <a:rPr sz="1200" b="1" i="0">
                          <a:solidFill>
                            <a:srgbClr val="1A2429"/>
                          </a:solidFill>
                          <a:latin typeface="Calibri"/>
                        </a:rPr>
                        <a:t>Flow consistency (1 − CV)</a:t>
                      </a:r>
                    </a:p>
                  </a:txBody>
                  <a:tcPr marL="54864" marR="54864" marT="9144" marB="9144" anchor="ctr">
                    <a:solidFill>
                      <a:srgbClr val="FFFFFF"/>
                    </a:solidFill>
                  </a:tcPr>
                </a:tc>
                <a:tc>
                  <a:txBody>
                    <a:bodyPr/>
                    <a:lstStyle/>
                    <a:p>
                      <a:pPr algn="ctr"/>
                      <a:r>
                        <a:rPr sz="1200" b="0" i="0">
                          <a:solidFill>
                            <a:srgbClr val="1A2429"/>
                          </a:solidFill>
                          <a:latin typeface="Calibri"/>
                        </a:rPr>
                        <a:t>0.20</a:t>
                      </a:r>
                    </a:p>
                  </a:txBody>
                  <a:tcPr marL="54864" marR="54864" marT="9144" marB="9144" anchor="ctr">
                    <a:solidFill>
                      <a:srgbClr val="FFFFFF"/>
                    </a:solidFill>
                  </a:tcPr>
                </a:tc>
                <a:tc>
                  <a:txBody>
                    <a:bodyPr/>
                    <a:lstStyle/>
                    <a:p>
                      <a:pPr algn="l"/>
                      <a:r>
                        <a:rPr sz="1200" b="0" i="0">
                          <a:solidFill>
                            <a:srgbClr val="1A2429"/>
                          </a:solidFill>
                          <a:latin typeface="Calibri"/>
                        </a:rPr>
                        <a:t>Steady flow → higher capacity factor</a:t>
                      </a:r>
                    </a:p>
                  </a:txBody>
                  <a:tcPr marL="54864" marR="54864" marT="9144" marB="9144" anchor="ctr">
                    <a:solidFill>
                      <a:srgbClr val="FFFFFF"/>
                    </a:solidFill>
                  </a:tcPr>
                </a:tc>
                <a:extLst>
                  <a:ext uri="{0D108BD9-81ED-4DB2-BD59-A6C34878D82A}">
                    <a16:rowId xmlns:a16="http://schemas.microsoft.com/office/drawing/2014/main" val="10003"/>
                  </a:ext>
                </a:extLst>
              </a:tr>
              <a:tr h="420624">
                <a:tc>
                  <a:txBody>
                    <a:bodyPr/>
                    <a:lstStyle/>
                    <a:p>
                      <a:pPr algn="l"/>
                      <a:r>
                        <a:rPr sz="1200" b="1" i="0">
                          <a:solidFill>
                            <a:srgbClr val="1A2429"/>
                          </a:solidFill>
                          <a:latin typeface="Calibri"/>
                        </a:rPr>
                        <a:t>Utilization ratio</a:t>
                      </a:r>
                    </a:p>
                  </a:txBody>
                  <a:tcPr marL="54864" marR="54864" marT="9144" marB="9144" anchor="ctr">
                    <a:solidFill>
                      <a:srgbClr val="ECF1F2"/>
                    </a:solidFill>
                  </a:tcPr>
                </a:tc>
                <a:tc>
                  <a:txBody>
                    <a:bodyPr/>
                    <a:lstStyle/>
                    <a:p>
                      <a:pPr algn="ctr"/>
                      <a:r>
                        <a:rPr sz="1200" b="0" i="0">
                          <a:solidFill>
                            <a:srgbClr val="1A2429"/>
                          </a:solidFill>
                          <a:latin typeface="Calibri"/>
                        </a:rPr>
                        <a:t>0.15</a:t>
                      </a:r>
                    </a:p>
                  </a:txBody>
                  <a:tcPr marL="54864" marR="54864" marT="9144" marB="9144" anchor="ctr">
                    <a:solidFill>
                      <a:srgbClr val="ECF1F2"/>
                    </a:solidFill>
                  </a:tcPr>
                </a:tc>
                <a:tc>
                  <a:txBody>
                    <a:bodyPr/>
                    <a:lstStyle/>
                    <a:p>
                      <a:pPr algn="l"/>
                      <a:r>
                        <a:rPr sz="1200" b="0" i="0">
                          <a:solidFill>
                            <a:srgbClr val="1A2429"/>
                          </a:solidFill>
                          <a:latin typeface="Calibri"/>
                        </a:rPr>
                        <a:t>Plant running near its design capacity</a:t>
                      </a:r>
                    </a:p>
                  </a:txBody>
                  <a:tcPr marL="54864" marR="54864" marT="9144" marB="9144" anchor="ctr">
                    <a:solidFill>
                      <a:srgbClr val="ECF1F2"/>
                    </a:solidFill>
                  </a:tcPr>
                </a:tc>
                <a:extLst>
                  <a:ext uri="{0D108BD9-81ED-4DB2-BD59-A6C34878D82A}">
                    <a16:rowId xmlns:a16="http://schemas.microsoft.com/office/drawing/2014/main" val="10004"/>
                  </a:ext>
                </a:extLst>
              </a:tr>
              <a:tr h="420624">
                <a:tc>
                  <a:txBody>
                    <a:bodyPr/>
                    <a:lstStyle/>
                    <a:p>
                      <a:pPr algn="l"/>
                      <a:r>
                        <a:rPr sz="1200" b="1" i="0">
                          <a:solidFill>
                            <a:srgbClr val="1A2429"/>
                          </a:solidFill>
                          <a:latin typeface="Calibri"/>
                        </a:rPr>
                        <a:t>Data quality (years of record)</a:t>
                      </a:r>
                    </a:p>
                  </a:txBody>
                  <a:tcPr marL="54864" marR="54864" marT="9144" marB="9144" anchor="ctr">
                    <a:solidFill>
                      <a:srgbClr val="FFFFFF"/>
                    </a:solidFill>
                  </a:tcPr>
                </a:tc>
                <a:tc>
                  <a:txBody>
                    <a:bodyPr/>
                    <a:lstStyle/>
                    <a:p>
                      <a:pPr algn="ctr"/>
                      <a:r>
                        <a:rPr sz="1200" b="0" i="0">
                          <a:solidFill>
                            <a:srgbClr val="1A2429"/>
                          </a:solidFill>
                          <a:latin typeface="Calibri"/>
                        </a:rPr>
                        <a:t>0.10</a:t>
                      </a:r>
                    </a:p>
                  </a:txBody>
                  <a:tcPr marL="54864" marR="54864" marT="9144" marB="9144" anchor="ctr">
                    <a:solidFill>
                      <a:srgbClr val="FFFFFF"/>
                    </a:solidFill>
                  </a:tcPr>
                </a:tc>
                <a:tc>
                  <a:txBody>
                    <a:bodyPr/>
                    <a:lstStyle/>
                    <a:p>
                      <a:pPr algn="l"/>
                      <a:r>
                        <a:rPr sz="1200" b="0" i="0">
                          <a:solidFill>
                            <a:srgbClr val="1A2429"/>
                          </a:solidFill>
                          <a:latin typeface="Calibri"/>
                        </a:rPr>
                        <a:t>Confidence in the estimate</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8458200" y="3200400"/>
            <a:ext cx="3246120" cy="2542032"/>
          </a:xfrm>
          <a:prstGeom prst="roundRect">
            <a:avLst/>
          </a:prstGeom>
          <a:solidFill>
            <a:srgbClr val="FB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41080" y="3337560"/>
            <a:ext cx="2926080" cy="2286000"/>
          </a:xfrm>
          <a:prstGeom prst="rect">
            <a:avLst/>
          </a:prstGeom>
          <a:noFill/>
        </p:spPr>
        <p:txBody>
          <a:bodyPr wrap="square" lIns="45720" tIns="18288" rIns="45720" bIns="18288" anchor="t">
            <a:spAutoFit/>
          </a:bodyPr>
          <a:lstStyle/>
          <a:p>
            <a:pPr>
              <a:spcAft>
                <a:spcPts val="600"/>
              </a:spcAft>
            </a:pPr>
            <a:r>
              <a:rPr sz="1200" b="1" i="0">
                <a:solidFill>
                  <a:srgbClr val="E89B1F"/>
                </a:solidFill>
                <a:latin typeface="Calibri"/>
              </a:rPr>
              <a:t>ASSUMPTIONS</a:t>
            </a:r>
          </a:p>
          <a:p>
            <a:pPr>
              <a:spcAft>
                <a:spcPts val="600"/>
              </a:spcAft>
            </a:pPr>
            <a:r>
              <a:rPr sz="1200" b="1" i="0">
                <a:solidFill>
                  <a:srgbClr val="E89B1F"/>
                </a:solidFill>
                <a:latin typeface="Calibri"/>
              </a:rPr>
              <a:t>• </a:t>
            </a:r>
            <a:r>
              <a:rPr sz="1150" b="0" i="0">
                <a:solidFill>
                  <a:srgbClr val="1A2429"/>
                </a:solidFill>
                <a:latin typeface="Calibri"/>
              </a:rPr>
              <a:t>Weights are expert-set, not learned (transparent &amp; tunable in config).</a:t>
            </a:r>
          </a:p>
          <a:p>
            <a:pPr>
              <a:spcAft>
                <a:spcPts val="600"/>
              </a:spcAft>
            </a:pPr>
            <a:r>
              <a:rPr sz="1200" b="1" i="0">
                <a:solidFill>
                  <a:srgbClr val="E89B1F"/>
                </a:solidFill>
                <a:latin typeface="Calibri"/>
              </a:rPr>
              <a:t>• </a:t>
            </a:r>
            <a:r>
              <a:rPr sz="1150" b="0" i="0">
                <a:solidFill>
                  <a:srgbClr val="1A2429"/>
                </a:solidFill>
                <a:latin typeface="Calibri"/>
              </a:rPr>
              <a:t>Min-max scaling makes scores relative to the national cohort.</a:t>
            </a:r>
          </a:p>
          <a:p>
            <a:pPr>
              <a:spcAft>
                <a:spcPts val="600"/>
              </a:spcAft>
            </a:pPr>
            <a:r>
              <a:rPr sz="1200" b="1" i="0">
                <a:solidFill>
                  <a:srgbClr val="E89B1F"/>
                </a:solidFill>
                <a:latin typeface="Calibri"/>
              </a:rPr>
              <a:t>• </a:t>
            </a:r>
            <a:r>
              <a:rPr sz="1150" b="0" i="0">
                <a:solidFill>
                  <a:srgbClr val="1A2429"/>
                </a:solidFill>
                <a:latin typeface="Calibri"/>
              </a:rPr>
              <a:t>Sites with design_flow = 0 (industrial misclassification) forced to score 0.</a:t>
            </a:r>
          </a:p>
        </p:txBody>
      </p:sp>
      <p:sp>
        <p:nvSpPr>
          <p:cNvPr id="11" name="Rectangle 10"/>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3" name="TextBox 12"/>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PHASE 1 · RESULTS</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17,158 POTWs ranked — top 10</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640080" y="1463040"/>
          <a:ext cx="9326878" cy="4224528"/>
        </p:xfrm>
        <a:graphic>
          <a:graphicData uri="http://schemas.openxmlformats.org/drawingml/2006/table">
            <a:tbl>
              <a:tblPr>
                <a:tableStyleId>{5C22544A-7EE6-4342-B048-85BDC9FD1C3A}</a:tableStyleId>
              </a:tblPr>
              <a:tblGrid>
                <a:gridCol w="554072">
                  <a:extLst>
                    <a:ext uri="{9D8B030D-6E8A-4147-A177-3AD203B41FA5}">
                      <a16:colId xmlns:a16="http://schemas.microsoft.com/office/drawing/2014/main" val="20000"/>
                    </a:ext>
                  </a:extLst>
                </a:gridCol>
                <a:gridCol w="4617267">
                  <a:extLst>
                    <a:ext uri="{9D8B030D-6E8A-4147-A177-3AD203B41FA5}">
                      <a16:colId xmlns:a16="http://schemas.microsoft.com/office/drawing/2014/main" val="20001"/>
                    </a:ext>
                  </a:extLst>
                </a:gridCol>
                <a:gridCol w="923453">
                  <a:extLst>
                    <a:ext uri="{9D8B030D-6E8A-4147-A177-3AD203B41FA5}">
                      <a16:colId xmlns:a16="http://schemas.microsoft.com/office/drawing/2014/main" val="20002"/>
                    </a:ext>
                  </a:extLst>
                </a:gridCol>
                <a:gridCol w="2031597">
                  <a:extLst>
                    <a:ext uri="{9D8B030D-6E8A-4147-A177-3AD203B41FA5}">
                      <a16:colId xmlns:a16="http://schemas.microsoft.com/office/drawing/2014/main" val="20003"/>
                    </a:ext>
                  </a:extLst>
                </a:gridCol>
                <a:gridCol w="1200489">
                  <a:extLst>
                    <a:ext uri="{9D8B030D-6E8A-4147-A177-3AD203B41FA5}">
                      <a16:colId xmlns:a16="http://schemas.microsoft.com/office/drawing/2014/main" val="20004"/>
                    </a:ext>
                  </a:extLst>
                </a:gridCol>
              </a:tblGrid>
              <a:tr h="384048">
                <a:tc>
                  <a:txBody>
                    <a:bodyPr/>
                    <a:lstStyle/>
                    <a:p>
                      <a:pPr algn="ctr"/>
                      <a:r>
                        <a:rPr sz="1100" b="1" i="0">
                          <a:solidFill>
                            <a:srgbClr val="FFFFFF"/>
                          </a:solidFill>
                          <a:latin typeface="Calibri"/>
                        </a:rPr>
                        <a:t>#</a:t>
                      </a:r>
                    </a:p>
                  </a:txBody>
                  <a:tcPr marL="54864" marR="54864" marT="18288" marB="18288" anchor="ctr">
                    <a:solidFill>
                      <a:srgbClr val="0C2D3A"/>
                    </a:solidFill>
                  </a:tcPr>
                </a:tc>
                <a:tc>
                  <a:txBody>
                    <a:bodyPr/>
                    <a:lstStyle/>
                    <a:p>
                      <a:pPr algn="l"/>
                      <a:r>
                        <a:rPr sz="1100" b="1" i="0">
                          <a:solidFill>
                            <a:srgbClr val="FFFFFF"/>
                          </a:solidFill>
                          <a:latin typeface="Calibri"/>
                        </a:rPr>
                        <a:t>Facility</a:t>
                      </a:r>
                    </a:p>
                  </a:txBody>
                  <a:tcPr marL="54864" marR="54864" marT="18288" marB="18288" anchor="ctr">
                    <a:solidFill>
                      <a:srgbClr val="0C2D3A"/>
                    </a:solidFill>
                  </a:tcPr>
                </a:tc>
                <a:tc>
                  <a:txBody>
                    <a:bodyPr/>
                    <a:lstStyle/>
                    <a:p>
                      <a:pPr algn="ctr"/>
                      <a:r>
                        <a:rPr sz="1100" b="1" i="0">
                          <a:solidFill>
                            <a:srgbClr val="FFFFFF"/>
                          </a:solidFill>
                          <a:latin typeface="Calibri"/>
                        </a:rPr>
                        <a:t>State</a:t>
                      </a:r>
                    </a:p>
                  </a:txBody>
                  <a:tcPr marL="54864" marR="54864" marT="18288" marB="18288" anchor="ctr">
                    <a:solidFill>
                      <a:srgbClr val="0C2D3A"/>
                    </a:solidFill>
                  </a:tcPr>
                </a:tc>
                <a:tc>
                  <a:txBody>
                    <a:bodyPr/>
                    <a:lstStyle/>
                    <a:p>
                      <a:pPr algn="r"/>
                      <a:r>
                        <a:rPr sz="1100" b="1" i="0">
                          <a:solidFill>
                            <a:srgbClr val="FFFFFF"/>
                          </a:solidFill>
                          <a:latin typeface="Calibri"/>
                        </a:rPr>
                        <a:t>Mean flow (MGD)</a:t>
                      </a:r>
                    </a:p>
                  </a:txBody>
                  <a:tcPr marL="54864" marR="54864" marT="18288" marB="18288" anchor="ctr">
                    <a:solidFill>
                      <a:srgbClr val="0C2D3A"/>
                    </a:solidFill>
                  </a:tcPr>
                </a:tc>
                <a:tc>
                  <a:txBody>
                    <a:bodyPr/>
                    <a:lstStyle/>
                    <a:p>
                      <a:pPr algn="r"/>
                      <a:r>
                        <a:rPr sz="1100" b="1" i="0">
                          <a:solidFill>
                            <a:srgbClr val="FFFFFF"/>
                          </a:solidFill>
                          <a:latin typeface="Calibri"/>
                        </a:rPr>
                        <a:t>Score</a:t>
                      </a:r>
                    </a:p>
                  </a:txBody>
                  <a:tcPr marL="54864" marR="54864" marT="18288" marB="18288" anchor="ctr">
                    <a:solidFill>
                      <a:srgbClr val="0C2D3A"/>
                    </a:solidFill>
                  </a:tcPr>
                </a:tc>
                <a:extLst>
                  <a:ext uri="{0D108BD9-81ED-4DB2-BD59-A6C34878D82A}">
                    <a16:rowId xmlns:a16="http://schemas.microsoft.com/office/drawing/2014/main" val="10000"/>
                  </a:ext>
                </a:extLst>
              </a:tr>
              <a:tr h="384048">
                <a:tc>
                  <a:txBody>
                    <a:bodyPr/>
                    <a:lstStyle/>
                    <a:p>
                      <a:pPr algn="ctr"/>
                      <a:r>
                        <a:rPr sz="1200" b="1" i="0">
                          <a:solidFill>
                            <a:srgbClr val="1A2429"/>
                          </a:solidFill>
                          <a:latin typeface="Calibri"/>
                        </a:rPr>
                        <a:t>1</a:t>
                      </a:r>
                    </a:p>
                  </a:txBody>
                  <a:tcPr marL="54864" marR="54864" marT="9144" marB="9144" anchor="ctr">
                    <a:solidFill>
                      <a:srgbClr val="FFFFFF"/>
                    </a:solidFill>
                  </a:tcPr>
                </a:tc>
                <a:tc>
                  <a:txBody>
                    <a:bodyPr/>
                    <a:lstStyle/>
                    <a:p>
                      <a:pPr algn="l"/>
                      <a:r>
                        <a:rPr sz="1200" b="0" i="0">
                          <a:solidFill>
                            <a:srgbClr val="1A2429"/>
                          </a:solidFill>
                          <a:latin typeface="Calibri"/>
                        </a:rPr>
                        <a:t>D.C. WASA (Blue Plains)</a:t>
                      </a:r>
                    </a:p>
                  </a:txBody>
                  <a:tcPr marL="54864" marR="54864" marT="9144" marB="9144" anchor="ctr">
                    <a:solidFill>
                      <a:srgbClr val="FFFFFF"/>
                    </a:solidFill>
                  </a:tcPr>
                </a:tc>
                <a:tc>
                  <a:txBody>
                    <a:bodyPr/>
                    <a:lstStyle/>
                    <a:p>
                      <a:pPr algn="ctr"/>
                      <a:r>
                        <a:rPr sz="1200" b="0" i="0">
                          <a:solidFill>
                            <a:srgbClr val="1A2429"/>
                          </a:solidFill>
                          <a:latin typeface="Calibri"/>
                        </a:rPr>
                        <a:t>DC</a:t>
                      </a:r>
                    </a:p>
                  </a:txBody>
                  <a:tcPr marL="54864" marR="54864" marT="9144" marB="9144" anchor="ctr">
                    <a:solidFill>
                      <a:srgbClr val="FFFFFF"/>
                    </a:solidFill>
                  </a:tcPr>
                </a:tc>
                <a:tc>
                  <a:txBody>
                    <a:bodyPr/>
                    <a:lstStyle/>
                    <a:p>
                      <a:pPr algn="r"/>
                      <a:r>
                        <a:rPr sz="1200" b="0" i="0">
                          <a:solidFill>
                            <a:srgbClr val="1A2429"/>
                          </a:solidFill>
                          <a:latin typeface="Calibri"/>
                        </a:rPr>
                        <a:t>304.1</a:t>
                      </a:r>
                    </a:p>
                  </a:txBody>
                  <a:tcPr marL="54864" marR="54864" marT="9144" marB="9144" anchor="ctr">
                    <a:solidFill>
                      <a:srgbClr val="FFFFFF"/>
                    </a:solidFill>
                  </a:tcPr>
                </a:tc>
                <a:tc>
                  <a:txBody>
                    <a:bodyPr/>
                    <a:lstStyle/>
                    <a:p>
                      <a:pPr algn="r"/>
                      <a:r>
                        <a:rPr sz="1200" b="0" i="0">
                          <a:solidFill>
                            <a:srgbClr val="1A2429"/>
                          </a:solidFill>
                          <a:latin typeface="Calibri"/>
                        </a:rPr>
                        <a:t>0.603</a:t>
                      </a:r>
                    </a:p>
                  </a:txBody>
                  <a:tcPr marL="54864" marR="54864" marT="9144" marB="9144" anchor="ctr">
                    <a:solidFill>
                      <a:srgbClr val="FFFFFF"/>
                    </a:solidFill>
                  </a:tcPr>
                </a:tc>
                <a:extLst>
                  <a:ext uri="{0D108BD9-81ED-4DB2-BD59-A6C34878D82A}">
                    <a16:rowId xmlns:a16="http://schemas.microsoft.com/office/drawing/2014/main" val="10001"/>
                  </a:ext>
                </a:extLst>
              </a:tr>
              <a:tr h="384048">
                <a:tc>
                  <a:txBody>
                    <a:bodyPr/>
                    <a:lstStyle/>
                    <a:p>
                      <a:pPr algn="ctr"/>
                      <a:r>
                        <a:rPr sz="1200" b="1" i="0">
                          <a:solidFill>
                            <a:srgbClr val="1A2429"/>
                          </a:solidFill>
                          <a:latin typeface="Calibri"/>
                        </a:rPr>
                        <a:t>2</a:t>
                      </a:r>
                    </a:p>
                  </a:txBody>
                  <a:tcPr marL="54864" marR="54864" marT="9144" marB="9144" anchor="ctr">
                    <a:solidFill>
                      <a:srgbClr val="ECF1F2"/>
                    </a:solidFill>
                  </a:tcPr>
                </a:tc>
                <a:tc>
                  <a:txBody>
                    <a:bodyPr/>
                    <a:lstStyle/>
                    <a:p>
                      <a:pPr algn="l"/>
                      <a:r>
                        <a:rPr sz="1200" b="0" i="0">
                          <a:solidFill>
                            <a:srgbClr val="1A2429"/>
                          </a:solidFill>
                          <a:latin typeface="Calibri"/>
                        </a:rPr>
                        <a:t>Passaic Valley Sewerage Comm.</a:t>
                      </a:r>
                    </a:p>
                  </a:txBody>
                  <a:tcPr marL="54864" marR="54864" marT="9144" marB="9144" anchor="ctr">
                    <a:solidFill>
                      <a:srgbClr val="ECF1F2"/>
                    </a:solidFill>
                  </a:tcPr>
                </a:tc>
                <a:tc>
                  <a:txBody>
                    <a:bodyPr/>
                    <a:lstStyle/>
                    <a:p>
                      <a:pPr algn="ctr"/>
                      <a:r>
                        <a:rPr sz="1200" b="0" i="0">
                          <a:solidFill>
                            <a:srgbClr val="1A2429"/>
                          </a:solidFill>
                          <a:latin typeface="Calibri"/>
                        </a:rPr>
                        <a:t>NJ</a:t>
                      </a:r>
                    </a:p>
                  </a:txBody>
                  <a:tcPr marL="54864" marR="54864" marT="9144" marB="9144" anchor="ctr">
                    <a:solidFill>
                      <a:srgbClr val="ECF1F2"/>
                    </a:solidFill>
                  </a:tcPr>
                </a:tc>
                <a:tc>
                  <a:txBody>
                    <a:bodyPr/>
                    <a:lstStyle/>
                    <a:p>
                      <a:pPr algn="r"/>
                      <a:r>
                        <a:rPr sz="1200" b="0" i="0">
                          <a:solidFill>
                            <a:srgbClr val="1A2429"/>
                          </a:solidFill>
                          <a:latin typeface="Calibri"/>
                        </a:rPr>
                        <a:t>246.2</a:t>
                      </a:r>
                    </a:p>
                  </a:txBody>
                  <a:tcPr marL="54864" marR="54864" marT="9144" marB="9144" anchor="ctr">
                    <a:solidFill>
                      <a:srgbClr val="ECF1F2"/>
                    </a:solidFill>
                  </a:tcPr>
                </a:tc>
                <a:tc>
                  <a:txBody>
                    <a:bodyPr/>
                    <a:lstStyle/>
                    <a:p>
                      <a:pPr algn="r"/>
                      <a:r>
                        <a:rPr sz="1200" b="0" i="0">
                          <a:solidFill>
                            <a:srgbClr val="1A2429"/>
                          </a:solidFill>
                          <a:latin typeface="Calibri"/>
                        </a:rPr>
                        <a:t>0.525</a:t>
                      </a:r>
                    </a:p>
                  </a:txBody>
                  <a:tcPr marL="54864" marR="54864" marT="9144" marB="9144" anchor="ctr">
                    <a:solidFill>
                      <a:srgbClr val="ECF1F2"/>
                    </a:solidFill>
                  </a:tcPr>
                </a:tc>
                <a:extLst>
                  <a:ext uri="{0D108BD9-81ED-4DB2-BD59-A6C34878D82A}">
                    <a16:rowId xmlns:a16="http://schemas.microsoft.com/office/drawing/2014/main" val="10002"/>
                  </a:ext>
                </a:extLst>
              </a:tr>
              <a:tr h="384048">
                <a:tc>
                  <a:txBody>
                    <a:bodyPr/>
                    <a:lstStyle/>
                    <a:p>
                      <a:pPr algn="ctr"/>
                      <a:r>
                        <a:rPr sz="1200" b="1" i="0">
                          <a:solidFill>
                            <a:srgbClr val="1A2429"/>
                          </a:solidFill>
                          <a:latin typeface="Calibri"/>
                        </a:rPr>
                        <a:t>3</a:t>
                      </a:r>
                    </a:p>
                  </a:txBody>
                  <a:tcPr marL="54864" marR="54864" marT="9144" marB="9144" anchor="ctr">
                    <a:solidFill>
                      <a:srgbClr val="FFFFFF"/>
                    </a:solidFill>
                  </a:tcPr>
                </a:tc>
                <a:tc>
                  <a:txBody>
                    <a:bodyPr/>
                    <a:lstStyle/>
                    <a:p>
                      <a:pPr algn="l"/>
                      <a:r>
                        <a:rPr sz="1200" b="0" i="0">
                          <a:solidFill>
                            <a:srgbClr val="1A2429"/>
                          </a:solidFill>
                          <a:latin typeface="Calibri"/>
                        </a:rPr>
                        <a:t>ALCOSAN Sewer System</a:t>
                      </a:r>
                    </a:p>
                  </a:txBody>
                  <a:tcPr marL="54864" marR="54864" marT="9144" marB="9144" anchor="ctr">
                    <a:solidFill>
                      <a:srgbClr val="FFFFFF"/>
                    </a:solidFill>
                  </a:tcPr>
                </a:tc>
                <a:tc>
                  <a:txBody>
                    <a:bodyPr/>
                    <a:lstStyle/>
                    <a:p>
                      <a:pPr algn="ctr"/>
                      <a:r>
                        <a:rPr sz="1200" b="0" i="0">
                          <a:solidFill>
                            <a:srgbClr val="1A2429"/>
                          </a:solidFill>
                          <a:latin typeface="Calibri"/>
                        </a:rPr>
                        <a:t>PA</a:t>
                      </a:r>
                    </a:p>
                  </a:txBody>
                  <a:tcPr marL="54864" marR="54864" marT="9144" marB="9144" anchor="ctr">
                    <a:solidFill>
                      <a:srgbClr val="FFFFFF"/>
                    </a:solidFill>
                  </a:tcPr>
                </a:tc>
                <a:tc>
                  <a:txBody>
                    <a:bodyPr/>
                    <a:lstStyle/>
                    <a:p>
                      <a:pPr algn="r"/>
                      <a:r>
                        <a:rPr sz="1200" b="0" i="0">
                          <a:solidFill>
                            <a:srgbClr val="1A2429"/>
                          </a:solidFill>
                          <a:latin typeface="Calibri"/>
                        </a:rPr>
                        <a:t>193.9</a:t>
                      </a:r>
                    </a:p>
                  </a:txBody>
                  <a:tcPr marL="54864" marR="54864" marT="9144" marB="9144" anchor="ctr">
                    <a:solidFill>
                      <a:srgbClr val="FFFFFF"/>
                    </a:solidFill>
                  </a:tcPr>
                </a:tc>
                <a:tc>
                  <a:txBody>
                    <a:bodyPr/>
                    <a:lstStyle/>
                    <a:p>
                      <a:pPr algn="r"/>
                      <a:r>
                        <a:rPr sz="1200" b="0" i="0">
                          <a:solidFill>
                            <a:srgbClr val="1A2429"/>
                          </a:solidFill>
                          <a:latin typeface="Calibri"/>
                        </a:rPr>
                        <a:t>0.525</a:t>
                      </a:r>
                    </a:p>
                  </a:txBody>
                  <a:tcPr marL="54864" marR="54864" marT="9144" marB="9144" anchor="ctr">
                    <a:solidFill>
                      <a:srgbClr val="FFFFFF"/>
                    </a:solidFill>
                  </a:tcPr>
                </a:tc>
                <a:extLst>
                  <a:ext uri="{0D108BD9-81ED-4DB2-BD59-A6C34878D82A}">
                    <a16:rowId xmlns:a16="http://schemas.microsoft.com/office/drawing/2014/main" val="10003"/>
                  </a:ext>
                </a:extLst>
              </a:tr>
              <a:tr h="384048">
                <a:tc>
                  <a:txBody>
                    <a:bodyPr/>
                    <a:lstStyle/>
                    <a:p>
                      <a:pPr algn="ctr"/>
                      <a:r>
                        <a:rPr sz="1200" b="1" i="0">
                          <a:solidFill>
                            <a:srgbClr val="1A2429"/>
                          </a:solidFill>
                          <a:latin typeface="Calibri"/>
                        </a:rPr>
                        <a:t>4</a:t>
                      </a:r>
                    </a:p>
                  </a:txBody>
                  <a:tcPr marL="54864" marR="54864" marT="9144" marB="9144" anchor="ctr">
                    <a:solidFill>
                      <a:srgbClr val="ECF1F2"/>
                    </a:solidFill>
                  </a:tcPr>
                </a:tc>
                <a:tc>
                  <a:txBody>
                    <a:bodyPr/>
                    <a:lstStyle/>
                    <a:p>
                      <a:pPr algn="l"/>
                      <a:r>
                        <a:rPr sz="1200" b="0" i="0">
                          <a:solidFill>
                            <a:srgbClr val="1A2429"/>
                          </a:solidFill>
                          <a:latin typeface="Calibri"/>
                        </a:rPr>
                        <a:t>MWRDGC Stickney WRP</a:t>
                      </a:r>
                    </a:p>
                  </a:txBody>
                  <a:tcPr marL="54864" marR="54864" marT="9144" marB="9144" anchor="ctr">
                    <a:solidFill>
                      <a:srgbClr val="ECF1F2"/>
                    </a:solidFill>
                  </a:tcPr>
                </a:tc>
                <a:tc>
                  <a:txBody>
                    <a:bodyPr/>
                    <a:lstStyle/>
                    <a:p>
                      <a:pPr algn="ctr"/>
                      <a:r>
                        <a:rPr sz="1200" b="0" i="0">
                          <a:solidFill>
                            <a:srgbClr val="1A2429"/>
                          </a:solidFill>
                          <a:latin typeface="Calibri"/>
                        </a:rPr>
                        <a:t>IL</a:t>
                      </a:r>
                    </a:p>
                  </a:txBody>
                  <a:tcPr marL="54864" marR="54864" marT="9144" marB="9144" anchor="ctr">
                    <a:solidFill>
                      <a:srgbClr val="ECF1F2"/>
                    </a:solidFill>
                  </a:tcPr>
                </a:tc>
                <a:tc>
                  <a:txBody>
                    <a:bodyPr/>
                    <a:lstStyle/>
                    <a:p>
                      <a:pPr algn="r"/>
                      <a:r>
                        <a:rPr sz="1200" b="0" i="0">
                          <a:solidFill>
                            <a:srgbClr val="1A2429"/>
                          </a:solidFill>
                          <a:latin typeface="Calibri"/>
                        </a:rPr>
                        <a:t>1,200.0</a:t>
                      </a:r>
                    </a:p>
                  </a:txBody>
                  <a:tcPr marL="54864" marR="54864" marT="9144" marB="9144" anchor="ctr">
                    <a:solidFill>
                      <a:srgbClr val="ECF1F2"/>
                    </a:solidFill>
                  </a:tcPr>
                </a:tc>
                <a:tc>
                  <a:txBody>
                    <a:bodyPr/>
                    <a:lstStyle/>
                    <a:p>
                      <a:pPr algn="r"/>
                      <a:r>
                        <a:rPr sz="1200" b="0" i="0">
                          <a:solidFill>
                            <a:srgbClr val="1A2429"/>
                          </a:solidFill>
                          <a:latin typeface="Calibri"/>
                        </a:rPr>
                        <a:t>0.513</a:t>
                      </a:r>
                    </a:p>
                  </a:txBody>
                  <a:tcPr marL="54864" marR="54864" marT="9144" marB="9144" anchor="ctr">
                    <a:solidFill>
                      <a:srgbClr val="ECF1F2"/>
                    </a:solidFill>
                  </a:tcPr>
                </a:tc>
                <a:extLst>
                  <a:ext uri="{0D108BD9-81ED-4DB2-BD59-A6C34878D82A}">
                    <a16:rowId xmlns:a16="http://schemas.microsoft.com/office/drawing/2014/main" val="10004"/>
                  </a:ext>
                </a:extLst>
              </a:tr>
              <a:tr h="384048">
                <a:tc>
                  <a:txBody>
                    <a:bodyPr/>
                    <a:lstStyle/>
                    <a:p>
                      <a:pPr algn="ctr"/>
                      <a:r>
                        <a:rPr sz="1200" b="1" i="0">
                          <a:solidFill>
                            <a:srgbClr val="1A2429"/>
                          </a:solidFill>
                          <a:latin typeface="Calibri"/>
                        </a:rPr>
                        <a:t>5</a:t>
                      </a:r>
                    </a:p>
                  </a:txBody>
                  <a:tcPr marL="54864" marR="54864" marT="9144" marB="9144" anchor="ctr">
                    <a:solidFill>
                      <a:srgbClr val="FFFFFF"/>
                    </a:solidFill>
                  </a:tcPr>
                </a:tc>
                <a:tc>
                  <a:txBody>
                    <a:bodyPr/>
                    <a:lstStyle/>
                    <a:p>
                      <a:pPr algn="l"/>
                      <a:r>
                        <a:rPr sz="1200" b="0" i="0">
                          <a:solidFill>
                            <a:srgbClr val="1A2429"/>
                          </a:solidFill>
                          <a:latin typeface="Calibri"/>
                        </a:rPr>
                        <a:t>NYCDEP — Ward's Island WRRF</a:t>
                      </a:r>
                    </a:p>
                  </a:txBody>
                  <a:tcPr marL="54864" marR="54864" marT="9144" marB="9144" anchor="ctr">
                    <a:solidFill>
                      <a:srgbClr val="FFFFFF"/>
                    </a:solidFill>
                  </a:tcPr>
                </a:tc>
                <a:tc>
                  <a:txBody>
                    <a:bodyPr/>
                    <a:lstStyle/>
                    <a:p>
                      <a:pPr algn="ctr"/>
                      <a:r>
                        <a:rPr sz="1200" b="0" i="0">
                          <a:solidFill>
                            <a:srgbClr val="1A2429"/>
                          </a:solidFill>
                          <a:latin typeface="Calibri"/>
                        </a:rPr>
                        <a:t>NY</a:t>
                      </a:r>
                    </a:p>
                  </a:txBody>
                  <a:tcPr marL="54864" marR="54864" marT="9144" marB="9144" anchor="ctr">
                    <a:solidFill>
                      <a:srgbClr val="FFFFFF"/>
                    </a:solidFill>
                  </a:tcPr>
                </a:tc>
                <a:tc>
                  <a:txBody>
                    <a:bodyPr/>
                    <a:lstStyle/>
                    <a:p>
                      <a:pPr algn="r"/>
                      <a:r>
                        <a:rPr sz="1200" b="0" i="0">
                          <a:solidFill>
                            <a:srgbClr val="1A2429"/>
                          </a:solidFill>
                          <a:latin typeface="Calibri"/>
                        </a:rPr>
                        <a:t>206.9</a:t>
                      </a:r>
                    </a:p>
                  </a:txBody>
                  <a:tcPr marL="54864" marR="54864" marT="9144" marB="9144" anchor="ctr">
                    <a:solidFill>
                      <a:srgbClr val="FFFFFF"/>
                    </a:solidFill>
                  </a:tcPr>
                </a:tc>
                <a:tc>
                  <a:txBody>
                    <a:bodyPr/>
                    <a:lstStyle/>
                    <a:p>
                      <a:pPr algn="r"/>
                      <a:r>
                        <a:rPr sz="1200" b="0" i="0">
                          <a:solidFill>
                            <a:srgbClr val="1A2429"/>
                          </a:solidFill>
                          <a:latin typeface="Calibri"/>
                        </a:rPr>
                        <a:t>0.507</a:t>
                      </a:r>
                    </a:p>
                  </a:txBody>
                  <a:tcPr marL="54864" marR="54864" marT="9144" marB="9144" anchor="ctr">
                    <a:solidFill>
                      <a:srgbClr val="FFFFFF"/>
                    </a:solidFill>
                  </a:tcPr>
                </a:tc>
                <a:extLst>
                  <a:ext uri="{0D108BD9-81ED-4DB2-BD59-A6C34878D82A}">
                    <a16:rowId xmlns:a16="http://schemas.microsoft.com/office/drawing/2014/main" val="10005"/>
                  </a:ext>
                </a:extLst>
              </a:tr>
              <a:tr h="384048">
                <a:tc>
                  <a:txBody>
                    <a:bodyPr/>
                    <a:lstStyle/>
                    <a:p>
                      <a:pPr algn="ctr"/>
                      <a:r>
                        <a:rPr sz="1200" b="1" i="0">
                          <a:solidFill>
                            <a:srgbClr val="1A2429"/>
                          </a:solidFill>
                          <a:latin typeface="Calibri"/>
                        </a:rPr>
                        <a:t>6</a:t>
                      </a:r>
                    </a:p>
                  </a:txBody>
                  <a:tcPr marL="54864" marR="54864" marT="9144" marB="9144" anchor="ctr">
                    <a:solidFill>
                      <a:srgbClr val="ECF1F2"/>
                    </a:solidFill>
                  </a:tcPr>
                </a:tc>
                <a:tc>
                  <a:txBody>
                    <a:bodyPr/>
                    <a:lstStyle/>
                    <a:p>
                      <a:pPr algn="l"/>
                      <a:r>
                        <a:rPr sz="1200" b="0" i="0">
                          <a:solidFill>
                            <a:srgbClr val="1A2429"/>
                          </a:solidFill>
                          <a:latin typeface="Calibri"/>
                        </a:rPr>
                        <a:t>NYCDEP — Newtown Creek WRRF</a:t>
                      </a:r>
                    </a:p>
                  </a:txBody>
                  <a:tcPr marL="54864" marR="54864" marT="9144" marB="9144" anchor="ctr">
                    <a:solidFill>
                      <a:srgbClr val="ECF1F2"/>
                    </a:solidFill>
                  </a:tcPr>
                </a:tc>
                <a:tc>
                  <a:txBody>
                    <a:bodyPr/>
                    <a:lstStyle/>
                    <a:p>
                      <a:pPr algn="ctr"/>
                      <a:r>
                        <a:rPr sz="1200" b="0" i="0">
                          <a:solidFill>
                            <a:srgbClr val="1A2429"/>
                          </a:solidFill>
                          <a:latin typeface="Calibri"/>
                        </a:rPr>
                        <a:t>NY</a:t>
                      </a:r>
                    </a:p>
                  </a:txBody>
                  <a:tcPr marL="54864" marR="54864" marT="9144" marB="9144" anchor="ctr">
                    <a:solidFill>
                      <a:srgbClr val="ECF1F2"/>
                    </a:solidFill>
                  </a:tcPr>
                </a:tc>
                <a:tc>
                  <a:txBody>
                    <a:bodyPr/>
                    <a:lstStyle/>
                    <a:p>
                      <a:pPr algn="r"/>
                      <a:r>
                        <a:rPr sz="1200" b="0" i="0">
                          <a:solidFill>
                            <a:srgbClr val="1A2429"/>
                          </a:solidFill>
                          <a:latin typeface="Calibri"/>
                        </a:rPr>
                        <a:t>203.1</a:t>
                      </a:r>
                    </a:p>
                  </a:txBody>
                  <a:tcPr marL="54864" marR="54864" marT="9144" marB="9144" anchor="ctr">
                    <a:solidFill>
                      <a:srgbClr val="ECF1F2"/>
                    </a:solidFill>
                  </a:tcPr>
                </a:tc>
                <a:tc>
                  <a:txBody>
                    <a:bodyPr/>
                    <a:lstStyle/>
                    <a:p>
                      <a:pPr algn="r"/>
                      <a:r>
                        <a:rPr sz="1200" b="0" i="0">
                          <a:solidFill>
                            <a:srgbClr val="1A2429"/>
                          </a:solidFill>
                          <a:latin typeface="Calibri"/>
                        </a:rPr>
                        <a:t>0.503</a:t>
                      </a:r>
                    </a:p>
                  </a:txBody>
                  <a:tcPr marL="54864" marR="54864" marT="9144" marB="9144" anchor="ctr">
                    <a:solidFill>
                      <a:srgbClr val="ECF1F2"/>
                    </a:solidFill>
                  </a:tcPr>
                </a:tc>
                <a:extLst>
                  <a:ext uri="{0D108BD9-81ED-4DB2-BD59-A6C34878D82A}">
                    <a16:rowId xmlns:a16="http://schemas.microsoft.com/office/drawing/2014/main" val="10006"/>
                  </a:ext>
                </a:extLst>
              </a:tr>
              <a:tr h="384048">
                <a:tc>
                  <a:txBody>
                    <a:bodyPr/>
                    <a:lstStyle/>
                    <a:p>
                      <a:pPr algn="ctr"/>
                      <a:r>
                        <a:rPr sz="1200" b="1" i="0">
                          <a:solidFill>
                            <a:srgbClr val="1A2429"/>
                          </a:solidFill>
                          <a:latin typeface="Calibri"/>
                        </a:rPr>
                        <a:t>7</a:t>
                      </a:r>
                    </a:p>
                  </a:txBody>
                  <a:tcPr marL="54864" marR="54864" marT="9144" marB="9144" anchor="ctr">
                    <a:solidFill>
                      <a:srgbClr val="FFFFFF"/>
                    </a:solidFill>
                  </a:tcPr>
                </a:tc>
                <a:tc>
                  <a:txBody>
                    <a:bodyPr/>
                    <a:lstStyle/>
                    <a:p>
                      <a:pPr algn="l"/>
                      <a:r>
                        <a:rPr sz="1200" b="0" i="0">
                          <a:solidFill>
                            <a:srgbClr val="1A2429"/>
                          </a:solidFill>
                          <a:latin typeface="Calibri"/>
                        </a:rPr>
                        <a:t>Phila. Water Dept — NE WPC Plant</a:t>
                      </a:r>
                    </a:p>
                  </a:txBody>
                  <a:tcPr marL="54864" marR="54864" marT="9144" marB="9144" anchor="ctr">
                    <a:solidFill>
                      <a:srgbClr val="FFFFFF"/>
                    </a:solidFill>
                  </a:tcPr>
                </a:tc>
                <a:tc>
                  <a:txBody>
                    <a:bodyPr/>
                    <a:lstStyle/>
                    <a:p>
                      <a:pPr algn="ctr"/>
                      <a:r>
                        <a:rPr sz="1200" b="0" i="0">
                          <a:solidFill>
                            <a:srgbClr val="1A2429"/>
                          </a:solidFill>
                          <a:latin typeface="Calibri"/>
                        </a:rPr>
                        <a:t>PA</a:t>
                      </a:r>
                    </a:p>
                  </a:txBody>
                  <a:tcPr marL="54864" marR="54864" marT="9144" marB="9144" anchor="ctr">
                    <a:solidFill>
                      <a:srgbClr val="FFFFFF"/>
                    </a:solidFill>
                  </a:tcPr>
                </a:tc>
                <a:tc>
                  <a:txBody>
                    <a:bodyPr/>
                    <a:lstStyle/>
                    <a:p>
                      <a:pPr algn="r"/>
                      <a:r>
                        <a:rPr sz="1200" b="0" i="0">
                          <a:solidFill>
                            <a:srgbClr val="1A2429"/>
                          </a:solidFill>
                          <a:latin typeface="Calibri"/>
                        </a:rPr>
                        <a:t>172.8</a:t>
                      </a:r>
                    </a:p>
                  </a:txBody>
                  <a:tcPr marL="54864" marR="54864" marT="9144" marB="9144" anchor="ctr">
                    <a:solidFill>
                      <a:srgbClr val="FFFFFF"/>
                    </a:solidFill>
                  </a:tcPr>
                </a:tc>
                <a:tc>
                  <a:txBody>
                    <a:bodyPr/>
                    <a:lstStyle/>
                    <a:p>
                      <a:pPr algn="r"/>
                      <a:r>
                        <a:rPr sz="1200" b="0" i="0">
                          <a:solidFill>
                            <a:srgbClr val="1A2429"/>
                          </a:solidFill>
                          <a:latin typeface="Calibri"/>
                        </a:rPr>
                        <a:t>0.489</a:t>
                      </a:r>
                    </a:p>
                  </a:txBody>
                  <a:tcPr marL="54864" marR="54864" marT="9144" marB="9144" anchor="ctr">
                    <a:solidFill>
                      <a:srgbClr val="FFFFFF"/>
                    </a:solidFill>
                  </a:tcPr>
                </a:tc>
                <a:extLst>
                  <a:ext uri="{0D108BD9-81ED-4DB2-BD59-A6C34878D82A}">
                    <a16:rowId xmlns:a16="http://schemas.microsoft.com/office/drawing/2014/main" val="10007"/>
                  </a:ext>
                </a:extLst>
              </a:tr>
              <a:tr h="384048">
                <a:tc>
                  <a:txBody>
                    <a:bodyPr/>
                    <a:lstStyle/>
                    <a:p>
                      <a:pPr algn="ctr"/>
                      <a:r>
                        <a:rPr sz="1200" b="1" i="0">
                          <a:solidFill>
                            <a:srgbClr val="1A2429"/>
                          </a:solidFill>
                          <a:latin typeface="Calibri"/>
                        </a:rPr>
                        <a:t>8</a:t>
                      </a:r>
                    </a:p>
                  </a:txBody>
                  <a:tcPr marL="54864" marR="54864" marT="9144" marB="9144" anchor="ctr">
                    <a:solidFill>
                      <a:srgbClr val="ECF1F2"/>
                    </a:solidFill>
                  </a:tcPr>
                </a:tc>
                <a:tc>
                  <a:txBody>
                    <a:bodyPr/>
                    <a:lstStyle/>
                    <a:p>
                      <a:pPr algn="l"/>
                      <a:r>
                        <a:rPr sz="1200" b="0" i="0">
                          <a:solidFill>
                            <a:srgbClr val="1A2429"/>
                          </a:solidFill>
                          <a:latin typeface="Calibri"/>
                        </a:rPr>
                        <a:t>Central Regional WWTP</a:t>
                      </a:r>
                    </a:p>
                  </a:txBody>
                  <a:tcPr marL="54864" marR="54864" marT="9144" marB="9144" anchor="ctr">
                    <a:solidFill>
                      <a:srgbClr val="ECF1F2"/>
                    </a:solidFill>
                  </a:tcPr>
                </a:tc>
                <a:tc>
                  <a:txBody>
                    <a:bodyPr/>
                    <a:lstStyle/>
                    <a:p>
                      <a:pPr algn="ctr"/>
                      <a:r>
                        <a:rPr sz="1200" b="0" i="0">
                          <a:solidFill>
                            <a:srgbClr val="1A2429"/>
                          </a:solidFill>
                          <a:latin typeface="Calibri"/>
                        </a:rPr>
                        <a:t>TX</a:t>
                      </a:r>
                    </a:p>
                  </a:txBody>
                  <a:tcPr marL="54864" marR="54864" marT="9144" marB="9144" anchor="ctr">
                    <a:solidFill>
                      <a:srgbClr val="ECF1F2"/>
                    </a:solidFill>
                  </a:tcPr>
                </a:tc>
                <a:tc>
                  <a:txBody>
                    <a:bodyPr/>
                    <a:lstStyle/>
                    <a:p>
                      <a:pPr algn="r"/>
                      <a:r>
                        <a:rPr sz="1200" b="0" i="0">
                          <a:solidFill>
                            <a:srgbClr val="1A2429"/>
                          </a:solidFill>
                          <a:latin typeface="Calibri"/>
                        </a:rPr>
                        <a:t>182.9</a:t>
                      </a:r>
                    </a:p>
                  </a:txBody>
                  <a:tcPr marL="54864" marR="54864" marT="9144" marB="9144" anchor="ctr">
                    <a:solidFill>
                      <a:srgbClr val="ECF1F2"/>
                    </a:solidFill>
                  </a:tcPr>
                </a:tc>
                <a:tc>
                  <a:txBody>
                    <a:bodyPr/>
                    <a:lstStyle/>
                    <a:p>
                      <a:pPr algn="r"/>
                      <a:r>
                        <a:rPr sz="1200" b="0" i="0">
                          <a:solidFill>
                            <a:srgbClr val="1A2429"/>
                          </a:solidFill>
                          <a:latin typeface="Calibri"/>
                        </a:rPr>
                        <a:t>0.477</a:t>
                      </a:r>
                    </a:p>
                  </a:txBody>
                  <a:tcPr marL="54864" marR="54864" marT="9144" marB="9144" anchor="ctr">
                    <a:solidFill>
                      <a:srgbClr val="ECF1F2"/>
                    </a:solidFill>
                  </a:tcPr>
                </a:tc>
                <a:extLst>
                  <a:ext uri="{0D108BD9-81ED-4DB2-BD59-A6C34878D82A}">
                    <a16:rowId xmlns:a16="http://schemas.microsoft.com/office/drawing/2014/main" val="10008"/>
                  </a:ext>
                </a:extLst>
              </a:tr>
              <a:tr h="384048">
                <a:tc>
                  <a:txBody>
                    <a:bodyPr/>
                    <a:lstStyle/>
                    <a:p>
                      <a:pPr algn="ctr"/>
                      <a:r>
                        <a:rPr sz="1200" b="1" i="0">
                          <a:solidFill>
                            <a:srgbClr val="1A2429"/>
                          </a:solidFill>
                          <a:latin typeface="Calibri"/>
                        </a:rPr>
                        <a:t>9</a:t>
                      </a:r>
                    </a:p>
                  </a:txBody>
                  <a:tcPr marL="54864" marR="54864" marT="9144" marB="9144" anchor="ctr">
                    <a:solidFill>
                      <a:srgbClr val="FFFFFF"/>
                    </a:solidFill>
                  </a:tcPr>
                </a:tc>
                <a:tc>
                  <a:txBody>
                    <a:bodyPr/>
                    <a:lstStyle/>
                    <a:p>
                      <a:pPr algn="l"/>
                      <a:r>
                        <a:rPr sz="1200" b="0" i="0">
                          <a:solidFill>
                            <a:srgbClr val="1A2429"/>
                          </a:solidFill>
                          <a:latin typeface="Calibri"/>
                        </a:rPr>
                        <a:t>Robert W. Hite Treatment Facility</a:t>
                      </a:r>
                    </a:p>
                  </a:txBody>
                  <a:tcPr marL="54864" marR="54864" marT="9144" marB="9144" anchor="ctr">
                    <a:solidFill>
                      <a:srgbClr val="FFFFFF"/>
                    </a:solidFill>
                  </a:tcPr>
                </a:tc>
                <a:tc>
                  <a:txBody>
                    <a:bodyPr/>
                    <a:lstStyle/>
                    <a:p>
                      <a:pPr algn="ctr"/>
                      <a:r>
                        <a:rPr sz="1200" b="0" i="0">
                          <a:solidFill>
                            <a:srgbClr val="1A2429"/>
                          </a:solidFill>
                          <a:latin typeface="Calibri"/>
                        </a:rPr>
                        <a:t>CO</a:t>
                      </a:r>
                    </a:p>
                  </a:txBody>
                  <a:tcPr marL="54864" marR="54864" marT="9144" marB="9144" anchor="ctr">
                    <a:solidFill>
                      <a:srgbClr val="FFFFFF"/>
                    </a:solidFill>
                  </a:tcPr>
                </a:tc>
                <a:tc>
                  <a:txBody>
                    <a:bodyPr/>
                    <a:lstStyle/>
                    <a:p>
                      <a:pPr algn="r"/>
                      <a:r>
                        <a:rPr sz="1200" b="0" i="0">
                          <a:solidFill>
                            <a:srgbClr val="1A2429"/>
                          </a:solidFill>
                          <a:latin typeface="Calibri"/>
                        </a:rPr>
                        <a:t>131.4</a:t>
                      </a:r>
                    </a:p>
                  </a:txBody>
                  <a:tcPr marL="54864" marR="54864" marT="9144" marB="9144" anchor="ctr">
                    <a:solidFill>
                      <a:srgbClr val="FFFFFF"/>
                    </a:solidFill>
                  </a:tcPr>
                </a:tc>
                <a:tc>
                  <a:txBody>
                    <a:bodyPr/>
                    <a:lstStyle/>
                    <a:p>
                      <a:pPr algn="r"/>
                      <a:r>
                        <a:rPr sz="1200" b="0" i="0">
                          <a:solidFill>
                            <a:srgbClr val="1A2429"/>
                          </a:solidFill>
                          <a:latin typeface="Calibri"/>
                        </a:rPr>
                        <a:t>0.465</a:t>
                      </a:r>
                    </a:p>
                  </a:txBody>
                  <a:tcPr marL="54864" marR="54864" marT="9144" marB="9144" anchor="ctr">
                    <a:solidFill>
                      <a:srgbClr val="FFFFFF"/>
                    </a:solidFill>
                  </a:tcPr>
                </a:tc>
                <a:extLst>
                  <a:ext uri="{0D108BD9-81ED-4DB2-BD59-A6C34878D82A}">
                    <a16:rowId xmlns:a16="http://schemas.microsoft.com/office/drawing/2014/main" val="10009"/>
                  </a:ext>
                </a:extLst>
              </a:tr>
              <a:tr h="384048">
                <a:tc>
                  <a:txBody>
                    <a:bodyPr/>
                    <a:lstStyle/>
                    <a:p>
                      <a:pPr algn="ctr"/>
                      <a:r>
                        <a:rPr sz="1200" b="1" i="0">
                          <a:solidFill>
                            <a:srgbClr val="1A2429"/>
                          </a:solidFill>
                          <a:latin typeface="Calibri"/>
                        </a:rPr>
                        <a:t>10</a:t>
                      </a:r>
                    </a:p>
                  </a:txBody>
                  <a:tcPr marL="54864" marR="54864" marT="9144" marB="9144" anchor="ctr">
                    <a:solidFill>
                      <a:srgbClr val="ECF1F2"/>
                    </a:solidFill>
                  </a:tcPr>
                </a:tc>
                <a:tc>
                  <a:txBody>
                    <a:bodyPr/>
                    <a:lstStyle/>
                    <a:p>
                      <a:pPr algn="l"/>
                      <a:r>
                        <a:rPr sz="1200" b="0" i="0">
                          <a:solidFill>
                            <a:srgbClr val="1A2429"/>
                          </a:solidFill>
                          <a:latin typeface="Calibri"/>
                        </a:rPr>
                        <a:t>Plover WWTF</a:t>
                      </a:r>
                    </a:p>
                  </a:txBody>
                  <a:tcPr marL="54864" marR="54864" marT="9144" marB="9144" anchor="ctr">
                    <a:solidFill>
                      <a:srgbClr val="ECF1F2"/>
                    </a:solidFill>
                  </a:tcPr>
                </a:tc>
                <a:tc>
                  <a:txBody>
                    <a:bodyPr/>
                    <a:lstStyle/>
                    <a:p>
                      <a:pPr algn="ctr"/>
                      <a:r>
                        <a:rPr sz="1200" b="0" i="0">
                          <a:solidFill>
                            <a:srgbClr val="1A2429"/>
                          </a:solidFill>
                          <a:latin typeface="Calibri"/>
                        </a:rPr>
                        <a:t>WI</a:t>
                      </a:r>
                    </a:p>
                  </a:txBody>
                  <a:tcPr marL="54864" marR="54864" marT="9144" marB="9144" anchor="ctr">
                    <a:solidFill>
                      <a:srgbClr val="ECF1F2"/>
                    </a:solidFill>
                  </a:tcPr>
                </a:tc>
                <a:tc>
                  <a:txBody>
                    <a:bodyPr/>
                    <a:lstStyle/>
                    <a:p>
                      <a:pPr algn="r"/>
                      <a:r>
                        <a:rPr sz="1200" b="0" i="0">
                          <a:solidFill>
                            <a:srgbClr val="1A2429"/>
                          </a:solidFill>
                          <a:latin typeface="Calibri"/>
                        </a:rPr>
                        <a:t>1.4</a:t>
                      </a:r>
                    </a:p>
                  </a:txBody>
                  <a:tcPr marL="54864" marR="54864" marT="9144" marB="9144" anchor="ctr">
                    <a:solidFill>
                      <a:srgbClr val="ECF1F2"/>
                    </a:solidFill>
                  </a:tcPr>
                </a:tc>
                <a:tc>
                  <a:txBody>
                    <a:bodyPr/>
                    <a:lstStyle/>
                    <a:p>
                      <a:pPr algn="r"/>
                      <a:r>
                        <a:rPr sz="1200" b="0" i="0">
                          <a:solidFill>
                            <a:srgbClr val="1A2429"/>
                          </a:solidFill>
                          <a:latin typeface="Calibri"/>
                        </a:rPr>
                        <a:t>0.439</a:t>
                      </a:r>
                    </a:p>
                  </a:txBody>
                  <a:tcPr marL="54864" marR="54864" marT="9144" marB="9144" anchor="ctr">
                    <a:solidFill>
                      <a:srgbClr val="ECF1F2"/>
                    </a:solidFill>
                  </a:tcPr>
                </a:tc>
                <a:extLst>
                  <a:ext uri="{0D108BD9-81ED-4DB2-BD59-A6C34878D82A}">
                    <a16:rowId xmlns:a16="http://schemas.microsoft.com/office/drawing/2014/main" val="10010"/>
                  </a:ext>
                </a:extLst>
              </a:tr>
            </a:tbl>
          </a:graphicData>
        </a:graphic>
      </p:graphicFrame>
      <p:sp>
        <p:nvSpPr>
          <p:cNvPr id="8" name="TextBox 7"/>
          <p:cNvSpPr txBox="1"/>
          <p:nvPr/>
        </p:nvSpPr>
        <p:spPr>
          <a:xfrm>
            <a:off x="548640" y="5989320"/>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Reads correctly: the largest metros lead, but Plover WI (#10, 1.4 MGD) ranks high on flow consistency + data quality — the score is not just a flow sort. Output file: phase1/ranked_candidates.parquet (17,158 × 33).</a:t>
            </a:r>
          </a:p>
        </p:txBody>
      </p:sp>
      <p:sp>
        <p:nvSpPr>
          <p:cNvPr id="9" name="Rectangle 8"/>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1" name="TextBox 10"/>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3A9AAE"/>
                </a:solidFill>
                <a:latin typeface="Calibri"/>
              </a:rPr>
              <a:t>PHASE 2 · METHOD</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Monte-Carlo energy estimation</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417320"/>
            <a:ext cx="11091672" cy="713232"/>
          </a:xfrm>
          <a:prstGeom prst="round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417320"/>
            <a:ext cx="11091672" cy="713232"/>
          </a:xfrm>
          <a:prstGeom prst="rect">
            <a:avLst/>
          </a:prstGeom>
          <a:noFill/>
        </p:spPr>
        <p:txBody>
          <a:bodyPr wrap="square" lIns="45720" tIns="18288" rIns="45720" bIns="18288" anchor="ctr">
            <a:spAutoFit/>
          </a:bodyPr>
          <a:lstStyle/>
          <a:p>
            <a:pPr algn="ctr"/>
            <a:r>
              <a:rPr sz="1900" b="1" i="0">
                <a:solidFill>
                  <a:srgbClr val="FFFFFF"/>
                </a:solidFill>
                <a:latin typeface="Calibri"/>
              </a:rPr>
              <a:t>P (kW) = η × ρ × g × Q × H ÷ 1000        </a:t>
            </a:r>
            <a:r>
              <a:rPr sz="1250" b="0" i="0">
                <a:solidFill>
                  <a:srgbClr val="3A9AAE"/>
                </a:solidFill>
                <a:latin typeface="Calibri"/>
              </a:rPr>
              <a:t>(η = efficiency, ρ = 998.2 kg/m³, g = 9.81 m/s², Q = flow m³/s, H = head m)</a:t>
            </a:r>
          </a:p>
        </p:txBody>
      </p:sp>
      <p:sp>
        <p:nvSpPr>
          <p:cNvPr id="9" name="TextBox 8"/>
          <p:cNvSpPr txBox="1"/>
          <p:nvPr/>
        </p:nvSpPr>
        <p:spPr>
          <a:xfrm>
            <a:off x="548640" y="2286000"/>
            <a:ext cx="7040880" cy="4754880"/>
          </a:xfrm>
          <a:prstGeom prst="rect">
            <a:avLst/>
          </a:prstGeom>
          <a:noFill/>
        </p:spPr>
        <p:txBody>
          <a:bodyPr wrap="square" lIns="45720" tIns="18288" rIns="45720" bIns="18288" anchor="t">
            <a:spAutoFit/>
          </a:bodyPr>
          <a:lstStyle/>
          <a:p>
            <a:pPr>
              <a:spcBef>
                <a:spcPts val="0"/>
              </a:spcBef>
              <a:spcAft>
                <a:spcPts val="600"/>
              </a:spcAft>
            </a:pPr>
            <a:r>
              <a:rPr sz="1350" b="1" i="0">
                <a:solidFill>
                  <a:srgbClr val="126E82"/>
                </a:solidFill>
                <a:latin typeface="Calibri"/>
              </a:rPr>
              <a:t>▸  </a:t>
            </a:r>
            <a:r>
              <a:rPr sz="1350" b="0" i="0">
                <a:solidFill>
                  <a:srgbClr val="1A2429"/>
                </a:solidFill>
                <a:latin typeface="Calibri"/>
              </a:rPr>
              <a:t>Per plant, 10,000 Monte-Carlo iterations. Each iteration samples three uncertain inputs from triangular distributions:</a:t>
            </a:r>
          </a:p>
          <a:p>
            <a:pPr lvl="1">
              <a:spcBef>
                <a:spcPts val="0"/>
              </a:spcBef>
              <a:spcAft>
                <a:spcPts val="600"/>
              </a:spcAft>
            </a:pPr>
            <a:r>
              <a:rPr sz="1250" b="1" i="0">
                <a:solidFill>
                  <a:srgbClr val="2E9E5B"/>
                </a:solidFill>
                <a:latin typeface="Calibri"/>
              </a:rPr>
              <a:t>–  </a:t>
            </a:r>
            <a:r>
              <a:rPr sz="1250" b="0" i="0">
                <a:solidFill>
                  <a:srgbClr val="5C6B70"/>
                </a:solidFill>
                <a:latin typeface="Calibri"/>
              </a:rPr>
              <a:t>Head H — from a size-based literature range (see table; replaced by real elevation in Phase 3).</a:t>
            </a:r>
          </a:p>
          <a:p>
            <a:pPr lvl="1">
              <a:spcBef>
                <a:spcPts val="0"/>
              </a:spcBef>
              <a:spcAft>
                <a:spcPts val="600"/>
              </a:spcAft>
            </a:pPr>
            <a:r>
              <a:rPr sz="1250" b="1" i="0">
                <a:solidFill>
                  <a:srgbClr val="2E9E5B"/>
                </a:solidFill>
                <a:latin typeface="Calibri"/>
              </a:rPr>
              <a:t>–  </a:t>
            </a:r>
            <a:r>
              <a:rPr sz="1250" b="0" i="0">
                <a:solidFill>
                  <a:srgbClr val="5C6B70"/>
                </a:solidFill>
                <a:latin typeface="Calibri"/>
              </a:rPr>
              <a:t>Efficiency η — Triangular(0.70, 0.82, 0.90).</a:t>
            </a:r>
          </a:p>
          <a:p>
            <a:pPr lvl="1">
              <a:spcBef>
                <a:spcPts val="0"/>
              </a:spcBef>
              <a:spcAft>
                <a:spcPts val="600"/>
              </a:spcAft>
            </a:pPr>
            <a:r>
              <a:rPr sz="1250" b="1" i="0">
                <a:solidFill>
                  <a:srgbClr val="2E9E5B"/>
                </a:solidFill>
                <a:latin typeface="Calibri"/>
              </a:rPr>
              <a:t>–  </a:t>
            </a:r>
            <a:r>
              <a:rPr sz="1250" b="0" i="0">
                <a:solidFill>
                  <a:srgbClr val="5C6B70"/>
                </a:solidFill>
                <a:latin typeface="Calibri"/>
              </a:rPr>
              <a:t>Availability — Triangular(0.90, 0.95, 0.98).</a:t>
            </a:r>
          </a:p>
          <a:p>
            <a:pPr>
              <a:spcBef>
                <a:spcPts val="0"/>
              </a:spcBef>
              <a:spcAft>
                <a:spcPts val="600"/>
              </a:spcAft>
            </a:pPr>
            <a:r>
              <a:rPr sz="1350" b="1" i="0">
                <a:solidFill>
                  <a:srgbClr val="126E82"/>
                </a:solidFill>
                <a:latin typeface="Calibri"/>
              </a:rPr>
              <a:t>▸  </a:t>
            </a:r>
            <a:r>
              <a:rPr sz="1350" b="0" i="0">
                <a:solidFill>
                  <a:srgbClr val="1A2429"/>
                </a:solidFill>
                <a:latin typeface="Calibri"/>
              </a:rPr>
              <a:t>Within each iteration, power is integrated across the 20-point flow-duration curve by the trapezoidal rule × 8,766 h/yr × availability → annual kWh. This captures that flow varies through the year, not just the mean.</a:t>
            </a:r>
          </a:p>
          <a:p>
            <a:pPr>
              <a:spcBef>
                <a:spcPts val="0"/>
              </a:spcBef>
              <a:spcAft>
                <a:spcPts val="600"/>
              </a:spcAft>
            </a:pPr>
            <a:r>
              <a:rPr sz="1350" b="1" i="0">
                <a:solidFill>
                  <a:srgbClr val="126E82"/>
                </a:solidFill>
                <a:latin typeface="Calibri"/>
              </a:rPr>
              <a:t>▸  </a:t>
            </a:r>
            <a:r>
              <a:rPr sz="1350" b="1" i="0">
                <a:solidFill>
                  <a:srgbClr val="0C2D3A"/>
                </a:solidFill>
                <a:latin typeface="Calibri"/>
              </a:rPr>
              <a:t>Output per site:</a:t>
            </a:r>
            <a:r>
              <a:rPr sz="1350" b="0" i="0">
                <a:solidFill>
                  <a:srgbClr val="1A2429"/>
                </a:solidFill>
                <a:latin typeface="Calibri"/>
              </a:rPr>
              <a:t> energy P10 / P50 / P90, mean, std, P50 power (kW), capacity factor.</a:t>
            </a:r>
          </a:p>
        </p:txBody>
      </p:sp>
      <p:graphicFrame>
        <p:nvGraphicFramePr>
          <p:cNvPr id="10" name="Table 9"/>
          <p:cNvGraphicFramePr>
            <a:graphicFrameLocks noGrp="1"/>
          </p:cNvGraphicFramePr>
          <p:nvPr/>
        </p:nvGraphicFramePr>
        <p:xfrm>
          <a:off x="7818120" y="2395728"/>
          <a:ext cx="3840480" cy="1828800"/>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2112264">
                  <a:extLst>
                    <a:ext uri="{9D8B030D-6E8A-4147-A177-3AD203B41FA5}">
                      <a16:colId xmlns:a16="http://schemas.microsoft.com/office/drawing/2014/main" val="20001"/>
                    </a:ext>
                  </a:extLst>
                </a:gridCol>
              </a:tblGrid>
              <a:tr h="457200">
                <a:tc>
                  <a:txBody>
                    <a:bodyPr/>
                    <a:lstStyle/>
                    <a:p>
                      <a:pPr algn="l"/>
                      <a:r>
                        <a:rPr sz="1100" b="1" i="0">
                          <a:solidFill>
                            <a:srgbClr val="FFFFFF"/>
                          </a:solidFill>
                          <a:latin typeface="Calibri"/>
                        </a:rPr>
                        <a:t>Archetype</a:t>
                      </a:r>
                    </a:p>
                  </a:txBody>
                  <a:tcPr marL="54864" marR="54864" marT="18288" marB="18288" anchor="ctr">
                    <a:solidFill>
                      <a:srgbClr val="0C2D3A"/>
                    </a:solidFill>
                  </a:tcPr>
                </a:tc>
                <a:tc>
                  <a:txBody>
                    <a:bodyPr/>
                    <a:lstStyle/>
                    <a:p>
                      <a:pPr algn="ctr"/>
                      <a:r>
                        <a:rPr sz="1100" b="1" i="0">
                          <a:solidFill>
                            <a:srgbClr val="FFFFFF"/>
                          </a:solidFill>
                          <a:latin typeface="Calibri"/>
                        </a:rPr>
                        <a:t>Head low / mode / high (m)</a:t>
                      </a:r>
                    </a:p>
                  </a:txBody>
                  <a:tcPr marL="54864" marR="54864" marT="18288" marB="18288" anchor="ctr">
                    <a:solidFill>
                      <a:srgbClr val="0C2D3A"/>
                    </a:solidFill>
                  </a:tcPr>
                </a:tc>
                <a:extLst>
                  <a:ext uri="{0D108BD9-81ED-4DB2-BD59-A6C34878D82A}">
                    <a16:rowId xmlns:a16="http://schemas.microsoft.com/office/drawing/2014/main" val="10000"/>
                  </a:ext>
                </a:extLst>
              </a:tr>
              <a:tr h="457200">
                <a:tc>
                  <a:txBody>
                    <a:bodyPr/>
                    <a:lstStyle/>
                    <a:p>
                      <a:pPr algn="l"/>
                      <a:r>
                        <a:rPr sz="1150" b="1" i="0">
                          <a:solidFill>
                            <a:srgbClr val="1A2429"/>
                          </a:solidFill>
                          <a:latin typeface="Calibri"/>
                        </a:rPr>
                        <a:t>Large POTW (&gt;10 MGD)</a:t>
                      </a:r>
                    </a:p>
                  </a:txBody>
                  <a:tcPr marL="54864" marR="54864" marT="9144" marB="9144" anchor="ctr">
                    <a:solidFill>
                      <a:srgbClr val="FFFFFF"/>
                    </a:solidFill>
                  </a:tcPr>
                </a:tc>
                <a:tc>
                  <a:txBody>
                    <a:bodyPr/>
                    <a:lstStyle/>
                    <a:p>
                      <a:pPr algn="ctr"/>
                      <a:r>
                        <a:rPr sz="1150" b="0" i="0">
                          <a:solidFill>
                            <a:srgbClr val="1A2429"/>
                          </a:solidFill>
                          <a:latin typeface="Calibri"/>
                        </a:rPr>
                        <a:t>3 / 8 / 15</a:t>
                      </a:r>
                    </a:p>
                  </a:txBody>
                  <a:tcPr marL="54864" marR="54864" marT="9144" marB="9144" anchor="ctr">
                    <a:solidFill>
                      <a:srgbClr val="FFFFFF"/>
                    </a:solidFill>
                  </a:tcPr>
                </a:tc>
                <a:extLst>
                  <a:ext uri="{0D108BD9-81ED-4DB2-BD59-A6C34878D82A}">
                    <a16:rowId xmlns:a16="http://schemas.microsoft.com/office/drawing/2014/main" val="10001"/>
                  </a:ext>
                </a:extLst>
              </a:tr>
              <a:tr h="457200">
                <a:tc>
                  <a:txBody>
                    <a:bodyPr/>
                    <a:lstStyle/>
                    <a:p>
                      <a:pPr algn="l"/>
                      <a:r>
                        <a:rPr sz="1150" b="1" i="0">
                          <a:solidFill>
                            <a:srgbClr val="1A2429"/>
                          </a:solidFill>
                          <a:latin typeface="Calibri"/>
                        </a:rPr>
                        <a:t>Medium POTW (1–10 MGD)</a:t>
                      </a:r>
                    </a:p>
                  </a:txBody>
                  <a:tcPr marL="54864" marR="54864" marT="9144" marB="9144" anchor="ctr">
                    <a:solidFill>
                      <a:srgbClr val="ECF1F2"/>
                    </a:solidFill>
                  </a:tcPr>
                </a:tc>
                <a:tc>
                  <a:txBody>
                    <a:bodyPr/>
                    <a:lstStyle/>
                    <a:p>
                      <a:pPr algn="ctr"/>
                      <a:r>
                        <a:rPr sz="1150" b="0" i="0">
                          <a:solidFill>
                            <a:srgbClr val="1A2429"/>
                          </a:solidFill>
                          <a:latin typeface="Calibri"/>
                        </a:rPr>
                        <a:t>2 / 5 / 10</a:t>
                      </a:r>
                    </a:p>
                  </a:txBody>
                  <a:tcPr marL="54864" marR="54864" marT="9144" marB="9144" anchor="ctr">
                    <a:solidFill>
                      <a:srgbClr val="ECF1F2"/>
                    </a:solidFill>
                  </a:tcPr>
                </a:tc>
                <a:extLst>
                  <a:ext uri="{0D108BD9-81ED-4DB2-BD59-A6C34878D82A}">
                    <a16:rowId xmlns:a16="http://schemas.microsoft.com/office/drawing/2014/main" val="10002"/>
                  </a:ext>
                </a:extLst>
              </a:tr>
              <a:tr h="457200">
                <a:tc>
                  <a:txBody>
                    <a:bodyPr/>
                    <a:lstStyle/>
                    <a:p>
                      <a:pPr algn="l"/>
                      <a:r>
                        <a:rPr sz="1150" b="1" i="0">
                          <a:solidFill>
                            <a:srgbClr val="1A2429"/>
                          </a:solidFill>
                          <a:latin typeface="Calibri"/>
                        </a:rPr>
                        <a:t>Small POTW (&lt;1 MGD)</a:t>
                      </a:r>
                    </a:p>
                  </a:txBody>
                  <a:tcPr marL="54864" marR="54864" marT="9144" marB="9144" anchor="ctr">
                    <a:solidFill>
                      <a:srgbClr val="FFFFFF"/>
                    </a:solidFill>
                  </a:tcPr>
                </a:tc>
                <a:tc>
                  <a:txBody>
                    <a:bodyPr/>
                    <a:lstStyle/>
                    <a:p>
                      <a:pPr algn="ctr"/>
                      <a:r>
                        <a:rPr sz="1150" b="0" i="0">
                          <a:solidFill>
                            <a:srgbClr val="1A2429"/>
                          </a:solidFill>
                          <a:latin typeface="Calibri"/>
                        </a:rPr>
                        <a:t>1 / 3 / 6</a:t>
                      </a:r>
                    </a:p>
                  </a:txBody>
                  <a:tcPr marL="54864" marR="54864" marT="9144" marB="9144"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7818120" y="3977639"/>
            <a:ext cx="3886200" cy="1828800"/>
          </a:xfrm>
          <a:prstGeom prst="rect">
            <a:avLst/>
          </a:prstGeom>
          <a:noFill/>
        </p:spPr>
        <p:txBody>
          <a:bodyPr wrap="square" lIns="45720" tIns="18288" rIns="45720" bIns="18288" anchor="t">
            <a:spAutoFit/>
          </a:bodyPr>
          <a:lstStyle/>
          <a:p>
            <a:pPr>
              <a:spcAft>
                <a:spcPts val="500"/>
              </a:spcAft>
            </a:pPr>
            <a:r>
              <a:rPr sz="1200" b="1" i="0">
                <a:solidFill>
                  <a:srgbClr val="E89B1F"/>
                </a:solidFill>
                <a:latin typeface="Calibri"/>
              </a:rPr>
              <a:t>KEY ASSUMPTIONS</a:t>
            </a:r>
          </a:p>
          <a:p>
            <a:pPr>
              <a:spcAft>
                <a:spcPts val="500"/>
              </a:spcAft>
            </a:pPr>
            <a:r>
              <a:rPr sz="1150" b="1" i="0">
                <a:solidFill>
                  <a:srgbClr val="E89B1F"/>
                </a:solidFill>
                <a:latin typeface="Calibri"/>
              </a:rPr>
              <a:t>• </a:t>
            </a:r>
            <a:r>
              <a:rPr sz="1100" b="0" i="0">
                <a:solidFill>
                  <a:srgbClr val="1A2429"/>
                </a:solidFill>
                <a:latin typeface="Calibri"/>
              </a:rPr>
              <a:t>Head ranges are literature-derived by plant size (no site elevation yet).</a:t>
            </a:r>
          </a:p>
          <a:p>
            <a:pPr>
              <a:spcAft>
                <a:spcPts val="500"/>
              </a:spcAft>
            </a:pPr>
            <a:r>
              <a:rPr sz="1150" b="1" i="0">
                <a:solidFill>
                  <a:srgbClr val="E89B1F"/>
                </a:solidFill>
                <a:latin typeface="Calibri"/>
              </a:rPr>
              <a:t>• </a:t>
            </a:r>
            <a:r>
              <a:rPr sz="1100" b="0" i="0">
                <a:solidFill>
                  <a:srgbClr val="1A2429"/>
                </a:solidFill>
                <a:latin typeface="Calibri"/>
              </a:rPr>
              <a:t>FDC tail truncation underestimates energy by ~2–3% — conservative for screening.</a:t>
            </a:r>
          </a:p>
          <a:p>
            <a:pPr>
              <a:spcAft>
                <a:spcPts val="500"/>
              </a:spcAft>
            </a:pPr>
            <a:r>
              <a:rPr sz="1150" b="1" i="0">
                <a:solidFill>
                  <a:srgbClr val="E89B1F"/>
                </a:solidFill>
                <a:latin typeface="Calibri"/>
              </a:rPr>
              <a:t>• </a:t>
            </a:r>
            <a:r>
              <a:rPr sz="1100" b="0" i="0">
                <a:solidFill>
                  <a:srgbClr val="1A2429"/>
                </a:solidFill>
                <a:latin typeface="Calibri"/>
              </a:rPr>
              <a:t>Same physics constants shared with Phase 3 (single source of truth in config).</a:t>
            </a:r>
          </a:p>
        </p:txBody>
      </p:sp>
      <p:sp>
        <p:nvSpPr>
          <p:cNvPr id="12" name="Rectangle 11"/>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4" name="TextBox 13"/>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3A9AAE"/>
                </a:solidFill>
                <a:latin typeface="Calibri"/>
              </a:rPr>
              <a:t>PHASE 2 · RESULTS</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National energy potential — and DOE cross-check</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54480"/>
            <a:ext cx="3648456" cy="132588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554480"/>
            <a:ext cx="3648456" cy="109728"/>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737360"/>
            <a:ext cx="3465576" cy="1051560"/>
          </a:xfrm>
          <a:prstGeom prst="rect">
            <a:avLst/>
          </a:prstGeom>
          <a:noFill/>
        </p:spPr>
        <p:txBody>
          <a:bodyPr wrap="square" lIns="45720" tIns="18288" rIns="45720" bIns="18288" anchor="ctr">
            <a:spAutoFit/>
          </a:bodyPr>
          <a:lstStyle/>
          <a:p>
            <a:pPr algn="ctr"/>
            <a:r>
              <a:rPr sz="3000" b="1" i="0">
                <a:solidFill>
                  <a:srgbClr val="3A9AAE"/>
                </a:solidFill>
                <a:latin typeface="Calibri"/>
              </a:rPr>
              <a:t>445 GWh</a:t>
            </a:r>
          </a:p>
          <a:p>
            <a:pPr algn="ctr">
              <a:spcBef>
                <a:spcPts val="200"/>
              </a:spcBef>
            </a:pPr>
            <a:r>
              <a:rPr sz="1100" b="1" i="0">
                <a:solidFill>
                  <a:srgbClr val="5C6B70"/>
                </a:solidFill>
                <a:latin typeface="Calibri"/>
              </a:rPr>
              <a:t>national P10 (conservative)</a:t>
            </a:r>
          </a:p>
        </p:txBody>
      </p:sp>
      <p:sp>
        <p:nvSpPr>
          <p:cNvPr id="10" name="Rounded Rectangle 9"/>
          <p:cNvSpPr/>
          <p:nvPr/>
        </p:nvSpPr>
        <p:spPr>
          <a:xfrm>
            <a:off x="4270248" y="1554480"/>
            <a:ext cx="3648456" cy="132588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70248" y="1554480"/>
            <a:ext cx="3648456" cy="1097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61688" y="1737360"/>
            <a:ext cx="3465576" cy="1051560"/>
          </a:xfrm>
          <a:prstGeom prst="rect">
            <a:avLst/>
          </a:prstGeom>
          <a:noFill/>
        </p:spPr>
        <p:txBody>
          <a:bodyPr wrap="square" lIns="45720" tIns="18288" rIns="45720" bIns="18288" anchor="ctr">
            <a:spAutoFit/>
          </a:bodyPr>
          <a:lstStyle/>
          <a:p>
            <a:pPr algn="ctr"/>
            <a:r>
              <a:rPr sz="3000" b="1" i="0">
                <a:solidFill>
                  <a:srgbClr val="2E9E5B"/>
                </a:solidFill>
                <a:latin typeface="Calibri"/>
              </a:rPr>
              <a:t>699 GWh</a:t>
            </a:r>
          </a:p>
          <a:p>
            <a:pPr algn="ctr">
              <a:spcBef>
                <a:spcPts val="200"/>
              </a:spcBef>
            </a:pPr>
            <a:r>
              <a:rPr sz="1100" b="1" i="0">
                <a:solidFill>
                  <a:srgbClr val="5C6B70"/>
                </a:solidFill>
                <a:latin typeface="Calibri"/>
              </a:rPr>
              <a:t>national P50 (central)</a:t>
            </a:r>
          </a:p>
        </p:txBody>
      </p:sp>
      <p:sp>
        <p:nvSpPr>
          <p:cNvPr id="13" name="Rounded Rectangle 12"/>
          <p:cNvSpPr/>
          <p:nvPr/>
        </p:nvSpPr>
        <p:spPr>
          <a:xfrm>
            <a:off x="8083296" y="1554480"/>
            <a:ext cx="3648456" cy="132588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83296" y="1554480"/>
            <a:ext cx="3648456" cy="1097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74736" y="1737360"/>
            <a:ext cx="3465576" cy="1051560"/>
          </a:xfrm>
          <a:prstGeom prst="rect">
            <a:avLst/>
          </a:prstGeom>
          <a:noFill/>
        </p:spPr>
        <p:txBody>
          <a:bodyPr wrap="square" lIns="45720" tIns="18288" rIns="45720" bIns="18288" anchor="ctr">
            <a:spAutoFit/>
          </a:bodyPr>
          <a:lstStyle/>
          <a:p>
            <a:pPr algn="ctr"/>
            <a:r>
              <a:rPr sz="3000" b="1" i="0">
                <a:solidFill>
                  <a:srgbClr val="E89B1F"/>
                </a:solidFill>
                <a:latin typeface="Calibri"/>
              </a:rPr>
              <a:t>1,002 GWh</a:t>
            </a:r>
          </a:p>
          <a:p>
            <a:pPr algn="ctr">
              <a:spcBef>
                <a:spcPts val="200"/>
              </a:spcBef>
            </a:pPr>
            <a:r>
              <a:rPr sz="1100" b="1" i="0">
                <a:solidFill>
                  <a:srgbClr val="5C6B70"/>
                </a:solidFill>
                <a:latin typeface="Calibri"/>
              </a:rPr>
              <a:t>national P90 (optimistic)</a:t>
            </a:r>
          </a:p>
        </p:txBody>
      </p:sp>
      <p:sp>
        <p:nvSpPr>
          <p:cNvPr id="16" name="TextBox 15"/>
          <p:cNvSpPr txBox="1"/>
          <p:nvPr/>
        </p:nvSpPr>
        <p:spPr>
          <a:xfrm>
            <a:off x="548640" y="3154680"/>
            <a:ext cx="11064240" cy="4754880"/>
          </a:xfrm>
          <a:prstGeom prst="rect">
            <a:avLst/>
          </a:prstGeom>
          <a:noFill/>
        </p:spPr>
        <p:txBody>
          <a:bodyPr wrap="square" lIns="45720" tIns="18288" rIns="45720" bIns="18288" anchor="t">
            <a:spAutoFit/>
          </a:bodyPr>
          <a:lstStyle/>
          <a:p>
            <a:pPr>
              <a:spcBef>
                <a:spcPts val="0"/>
              </a:spcBef>
              <a:spcAft>
                <a:spcPts val="900"/>
              </a:spcAft>
            </a:pPr>
            <a:r>
              <a:rPr sz="1450" b="1" i="0">
                <a:solidFill>
                  <a:srgbClr val="126E82"/>
                </a:solidFill>
                <a:latin typeface="Calibri"/>
              </a:rPr>
              <a:t>▸  </a:t>
            </a:r>
            <a:r>
              <a:rPr sz="1450" b="1" i="0">
                <a:solidFill>
                  <a:srgbClr val="0C2D3A"/>
                </a:solidFill>
                <a:latin typeface="Calibri"/>
              </a:rPr>
              <a:t>Independent validation:</a:t>
            </a:r>
            <a:r>
              <a:rPr sz="1450" b="0" i="0">
                <a:solidFill>
                  <a:srgbClr val="1A2429"/>
                </a:solidFill>
                <a:latin typeface="Calibri"/>
              </a:rPr>
              <a:t> DOE estimates US wastewater hydro potential at 500–5,000 GWh/yr. Our P50 of 699 GWh/yr sits inside that band — the model is calibrated against an external authority, not self-referential.</a:t>
            </a:r>
          </a:p>
          <a:p>
            <a:pPr>
              <a:spcBef>
                <a:spcPts val="0"/>
              </a:spcBef>
              <a:spcAft>
                <a:spcPts val="900"/>
              </a:spcAft>
            </a:pPr>
            <a:r>
              <a:rPr sz="1450" b="1" i="0">
                <a:solidFill>
                  <a:srgbClr val="126E82"/>
                </a:solidFill>
                <a:latin typeface="Calibri"/>
              </a:rPr>
              <a:t>▸  </a:t>
            </a:r>
            <a:r>
              <a:rPr sz="1450" b="0" i="0">
                <a:solidFill>
                  <a:srgbClr val="1A2429"/>
                </a:solidFill>
                <a:latin typeface="Calibri"/>
              </a:rPr>
              <a:t>5,468 sites carried forward with a real energy estimate; 11,690 excluded here — but only because EPA DMR had no usable flow record for them (data gap, not a model rejection).</a:t>
            </a:r>
          </a:p>
          <a:p>
            <a:pPr>
              <a:spcBef>
                <a:spcPts val="0"/>
              </a:spcBef>
              <a:spcAft>
                <a:spcPts val="900"/>
              </a:spcAft>
            </a:pPr>
            <a:r>
              <a:rPr sz="1450" b="1" i="0">
                <a:solidFill>
                  <a:srgbClr val="126E82"/>
                </a:solidFill>
                <a:latin typeface="Calibri"/>
              </a:rPr>
              <a:t>▸  </a:t>
            </a:r>
            <a:r>
              <a:rPr sz="1450" b="1" i="0">
                <a:solidFill>
                  <a:srgbClr val="0C2D3A"/>
                </a:solidFill>
                <a:latin typeface="Calibri"/>
              </a:rPr>
              <a:t>Top single-site P50 example:</a:t>
            </a:r>
            <a:r>
              <a:rPr sz="1450" b="0" i="0">
                <a:solidFill>
                  <a:srgbClr val="1A2429"/>
                </a:solidFill>
                <a:latin typeface="Calibri"/>
              </a:rPr>
              <a:t> MWRDGC Stickney WRP (IL) — ~29 GWh/yr at 1,200 MGD, consistent with its scale.</a:t>
            </a:r>
          </a:p>
          <a:p>
            <a:pPr>
              <a:spcBef>
                <a:spcPts val="0"/>
              </a:spcBef>
              <a:spcAft>
                <a:spcPts val="900"/>
              </a:spcAft>
            </a:pPr>
            <a:r>
              <a:rPr sz="1450" b="1" i="0">
                <a:solidFill>
                  <a:srgbClr val="126E82"/>
                </a:solidFill>
                <a:latin typeface="Calibri"/>
              </a:rPr>
              <a:t>▸  </a:t>
            </a:r>
            <a:r>
              <a:rPr sz="1450" b="0" i="0">
                <a:solidFill>
                  <a:srgbClr val="1A2429"/>
                </a:solidFill>
                <a:latin typeface="Calibri"/>
              </a:rPr>
              <a:t>The probabilistic output (P10/P50/P90) flows into Phase 4 as a built-in sensitivity band — we never bet the financials on one point estimate.</a:t>
            </a:r>
          </a:p>
        </p:txBody>
      </p:sp>
      <p:sp>
        <p:nvSpPr>
          <p:cNvPr id="17" name="TextBox 16"/>
          <p:cNvSpPr txBox="1"/>
          <p:nvPr/>
        </p:nvSpPr>
        <p:spPr>
          <a:xfrm>
            <a:off x="548640" y="6053328"/>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Output file: phase2/energy_yield_estimates.parquet (17,158 rows; 5,468 with estimates, 11,690 flagged excluded).</a:t>
            </a:r>
          </a:p>
        </p:txBody>
      </p:sp>
      <p:sp>
        <p:nvSpPr>
          <p:cNvPr id="18" name="Rectangle 17"/>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20" name="TextBox 19"/>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2E9E5B"/>
                </a:solidFill>
                <a:latin typeface="Calibri"/>
              </a:rPr>
              <a:t>PHASE 3 · METHOD (HEAD)</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Real elevation-based net head</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6949440" cy="4754880"/>
          </a:xfrm>
          <a:prstGeom prst="rect">
            <a:avLst/>
          </a:prstGeom>
          <a:noFill/>
        </p:spPr>
        <p:txBody>
          <a:bodyPr wrap="square" lIns="45720" tIns="18288" rIns="45720" bIns="18288" anchor="t">
            <a:spAutoFit/>
          </a:bodyPr>
          <a:lstStyle/>
          <a:p>
            <a:pPr>
              <a:spcBef>
                <a:spcPts val="0"/>
              </a:spcBef>
              <a:spcAft>
                <a:spcPts val="700"/>
              </a:spcAft>
            </a:pPr>
            <a:r>
              <a:rPr sz="1400" b="1" i="0">
                <a:solidFill>
                  <a:srgbClr val="126E82"/>
                </a:solidFill>
                <a:latin typeface="Calibri"/>
              </a:rPr>
              <a:t>▸  </a:t>
            </a:r>
            <a:r>
              <a:rPr sz="1400" b="0" i="0">
                <a:solidFill>
                  <a:srgbClr val="1A2429"/>
                </a:solidFill>
                <a:latin typeface="Calibri"/>
              </a:rPr>
              <a:t>Gross head = facility elevation − outfall elevation, from USGS 3DEP (queried at real per-outfall coordinates from the EPA NPDES outfall layer).</a:t>
            </a:r>
          </a:p>
          <a:p>
            <a:pPr>
              <a:spcBef>
                <a:spcPts val="0"/>
              </a:spcBef>
              <a:spcAft>
                <a:spcPts val="700"/>
              </a:spcAft>
            </a:pPr>
            <a:r>
              <a:rPr sz="1400" b="1" i="0">
                <a:solidFill>
                  <a:srgbClr val="126E82"/>
                </a:solidFill>
                <a:latin typeface="Calibri"/>
              </a:rPr>
              <a:t>▸  </a:t>
            </a:r>
            <a:r>
              <a:rPr sz="1400" b="0" i="0">
                <a:solidFill>
                  <a:srgbClr val="1A2429"/>
                </a:solidFill>
                <a:latin typeface="Calibri"/>
              </a:rPr>
              <a:t>Net head = gross head × (1 − 0.15) — the 15% accounts for pipe friction, valves, bends, and screen losses in the effluent conduit.</a:t>
            </a:r>
          </a:p>
          <a:p>
            <a:pPr>
              <a:spcBef>
                <a:spcPts val="0"/>
              </a:spcBef>
              <a:spcAft>
                <a:spcPts val="700"/>
              </a:spcAft>
            </a:pPr>
            <a:r>
              <a:rPr sz="1400" b="1" i="0">
                <a:solidFill>
                  <a:srgbClr val="126E82"/>
                </a:solidFill>
                <a:latin typeface="Calibri"/>
              </a:rPr>
              <a:t>▸  </a:t>
            </a:r>
            <a:r>
              <a:rPr sz="1400" b="0" i="0">
                <a:solidFill>
                  <a:srgbClr val="1A2429"/>
                </a:solidFill>
                <a:latin typeface="Calibri"/>
              </a:rPr>
              <a:t>Source priority (graceful degradation): real 3DEP elevation → Phase-2 literature head → 5 m design fallback.</a:t>
            </a:r>
          </a:p>
          <a:p>
            <a:pPr>
              <a:spcBef>
                <a:spcPts val="0"/>
              </a:spcBef>
              <a:spcAft>
                <a:spcPts val="700"/>
              </a:spcAft>
            </a:pPr>
            <a:r>
              <a:rPr sz="1400" b="1" i="0">
                <a:solidFill>
                  <a:srgbClr val="126E82"/>
                </a:solidFill>
                <a:latin typeface="Calibri"/>
              </a:rPr>
              <a:t>▸  </a:t>
            </a:r>
            <a:r>
              <a:rPr sz="1400" b="1" i="0">
                <a:solidFill>
                  <a:srgbClr val="0C2D3A"/>
                </a:solidFill>
                <a:latin typeface="Calibri"/>
              </a:rPr>
              <a:t>Plausibility / divergence gate:</a:t>
            </a:r>
            <a:r>
              <a:rPr sz="1400" b="0" i="0">
                <a:solidFill>
                  <a:srgbClr val="1A2429"/>
                </a:solidFill>
                <a:latin typeface="Calibri"/>
              </a:rPr>
              <a:t> a 3DEP head is rejected if it differs from the literature value by more than 4× (catches the API returning a wrong point); negative head (outfall above facility) is physically impossible → rejected.</a:t>
            </a:r>
          </a:p>
          <a:p>
            <a:pPr>
              <a:spcBef>
                <a:spcPts val="0"/>
              </a:spcBef>
              <a:spcAft>
                <a:spcPts val="700"/>
              </a:spcAft>
            </a:pPr>
            <a:r>
              <a:rPr sz="1400" b="1" i="0">
                <a:solidFill>
                  <a:srgbClr val="126E82"/>
                </a:solidFill>
                <a:latin typeface="Calibri"/>
              </a:rPr>
              <a:t>▸  </a:t>
            </a:r>
            <a:r>
              <a:rPr sz="1400" b="0" i="0">
                <a:solidFill>
                  <a:srgbClr val="1A2429"/>
                </a:solidFill>
                <a:latin typeface="Calibri"/>
              </a:rPr>
              <a:t>A genuinely low but valid 3DEP reading (below the 1 m minimum) is trusted and marked non-viable — not overwritten with an optimistic default.</a:t>
            </a:r>
          </a:p>
        </p:txBody>
      </p:sp>
      <p:sp>
        <p:nvSpPr>
          <p:cNvPr id="8" name="Rounded Rectangle 7"/>
          <p:cNvSpPr/>
          <p:nvPr/>
        </p:nvSpPr>
        <p:spPr>
          <a:xfrm>
            <a:off x="7818120" y="1554480"/>
            <a:ext cx="3886200" cy="416052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 Same Side Corner Rectangle 8"/>
          <p:cNvSpPr/>
          <p:nvPr/>
        </p:nvSpPr>
        <p:spPr>
          <a:xfrm>
            <a:off x="7818120" y="1554480"/>
            <a:ext cx="3886200" cy="457200"/>
          </a:xfrm>
          <a:prstGeom prst="round2Same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8120" y="1554480"/>
            <a:ext cx="3886200" cy="457200"/>
          </a:xfrm>
          <a:prstGeom prst="rect">
            <a:avLst/>
          </a:prstGeom>
          <a:noFill/>
        </p:spPr>
        <p:txBody>
          <a:bodyPr wrap="square" lIns="45720" tIns="18288" rIns="45720" bIns="18288" anchor="ctr">
            <a:spAutoFit/>
          </a:bodyPr>
          <a:lstStyle/>
          <a:p>
            <a:pPr algn="ctr"/>
            <a:r>
              <a:rPr sz="1250" b="1" i="0">
                <a:solidFill>
                  <a:srgbClr val="FFFFFF"/>
                </a:solidFill>
                <a:latin typeface="Calibri"/>
              </a:rPr>
              <a:t>HEAD RESULTS</a:t>
            </a:r>
          </a:p>
        </p:txBody>
      </p:sp>
      <p:sp>
        <p:nvSpPr>
          <p:cNvPr id="11" name="TextBox 10"/>
          <p:cNvSpPr txBox="1"/>
          <p:nvPr/>
        </p:nvSpPr>
        <p:spPr>
          <a:xfrm>
            <a:off x="8046720" y="2157984"/>
            <a:ext cx="3429000" cy="658368"/>
          </a:xfrm>
          <a:prstGeom prst="rect">
            <a:avLst/>
          </a:prstGeom>
          <a:noFill/>
        </p:spPr>
        <p:txBody>
          <a:bodyPr wrap="square" lIns="45720" tIns="18288" rIns="45720" bIns="18288" anchor="t">
            <a:spAutoFit/>
          </a:bodyPr>
          <a:lstStyle/>
          <a:p>
            <a:r>
              <a:rPr sz="2100" b="1" i="0">
                <a:solidFill>
                  <a:srgbClr val="2E9E5B"/>
                </a:solidFill>
                <a:latin typeface="Calibri"/>
              </a:rPr>
              <a:t>3,780</a:t>
            </a:r>
          </a:p>
          <a:p>
            <a:r>
              <a:rPr sz="1100" b="0" i="0">
                <a:solidFill>
                  <a:srgbClr val="5C6B70"/>
                </a:solidFill>
                <a:latin typeface="Calibri"/>
              </a:rPr>
              <a:t>sites with real 3DEP head</a:t>
            </a:r>
          </a:p>
        </p:txBody>
      </p:sp>
      <p:sp>
        <p:nvSpPr>
          <p:cNvPr id="12" name="TextBox 11"/>
          <p:cNvSpPr txBox="1"/>
          <p:nvPr/>
        </p:nvSpPr>
        <p:spPr>
          <a:xfrm>
            <a:off x="8046720" y="2852928"/>
            <a:ext cx="3429000" cy="658368"/>
          </a:xfrm>
          <a:prstGeom prst="rect">
            <a:avLst/>
          </a:prstGeom>
          <a:noFill/>
        </p:spPr>
        <p:txBody>
          <a:bodyPr wrap="square" lIns="45720" tIns="18288" rIns="45720" bIns="18288" anchor="t">
            <a:spAutoFit/>
          </a:bodyPr>
          <a:lstStyle/>
          <a:p>
            <a:r>
              <a:rPr sz="2100" b="1" i="0">
                <a:solidFill>
                  <a:srgbClr val="2E9E5B"/>
                </a:solidFill>
                <a:latin typeface="Calibri"/>
              </a:rPr>
              <a:t>1,688</a:t>
            </a:r>
          </a:p>
          <a:p>
            <a:r>
              <a:rPr sz="1100" b="0" i="0">
                <a:solidFill>
                  <a:srgbClr val="5C6B70"/>
                </a:solidFill>
                <a:latin typeface="Calibri"/>
              </a:rPr>
              <a:t>fell back to literature head</a:t>
            </a:r>
          </a:p>
        </p:txBody>
      </p:sp>
      <p:sp>
        <p:nvSpPr>
          <p:cNvPr id="13" name="TextBox 12"/>
          <p:cNvSpPr txBox="1"/>
          <p:nvPr/>
        </p:nvSpPr>
        <p:spPr>
          <a:xfrm>
            <a:off x="8046720" y="3547872"/>
            <a:ext cx="3429000" cy="658368"/>
          </a:xfrm>
          <a:prstGeom prst="rect">
            <a:avLst/>
          </a:prstGeom>
          <a:noFill/>
        </p:spPr>
        <p:txBody>
          <a:bodyPr wrap="square" lIns="45720" tIns="18288" rIns="45720" bIns="18288" anchor="t">
            <a:spAutoFit/>
          </a:bodyPr>
          <a:lstStyle/>
          <a:p>
            <a:r>
              <a:rPr sz="2100" b="1" i="0">
                <a:solidFill>
                  <a:srgbClr val="2E9E5B"/>
                </a:solidFill>
                <a:latin typeface="Calibri"/>
              </a:rPr>
              <a:t>4,864</a:t>
            </a:r>
          </a:p>
          <a:p>
            <a:r>
              <a:rPr sz="1100" b="0" i="0">
                <a:solidFill>
                  <a:srgbClr val="5C6B70"/>
                </a:solidFill>
                <a:latin typeface="Calibri"/>
              </a:rPr>
              <a:t>sites with valid net head</a:t>
            </a:r>
          </a:p>
        </p:txBody>
      </p:sp>
      <p:sp>
        <p:nvSpPr>
          <p:cNvPr id="14" name="TextBox 13"/>
          <p:cNvSpPr txBox="1"/>
          <p:nvPr/>
        </p:nvSpPr>
        <p:spPr>
          <a:xfrm>
            <a:off x="8046720" y="4242816"/>
            <a:ext cx="3429000" cy="658368"/>
          </a:xfrm>
          <a:prstGeom prst="rect">
            <a:avLst/>
          </a:prstGeom>
          <a:noFill/>
        </p:spPr>
        <p:txBody>
          <a:bodyPr wrap="square" lIns="45720" tIns="18288" rIns="45720" bIns="18288" anchor="t">
            <a:spAutoFit/>
          </a:bodyPr>
          <a:lstStyle/>
          <a:p>
            <a:r>
              <a:rPr sz="2100" b="1" i="0">
                <a:solidFill>
                  <a:srgbClr val="2E9E5B"/>
                </a:solidFill>
                <a:latin typeface="Calibri"/>
              </a:rPr>
              <a:t>604</a:t>
            </a:r>
          </a:p>
          <a:p>
            <a:r>
              <a:rPr sz="1100" b="0" i="0">
                <a:solidFill>
                  <a:srgbClr val="5C6B70"/>
                </a:solidFill>
                <a:latin typeface="Calibri"/>
              </a:rPr>
              <a:t>dropped — no valid head</a:t>
            </a:r>
          </a:p>
        </p:txBody>
      </p:sp>
      <p:sp>
        <p:nvSpPr>
          <p:cNvPr id="15" name="TextBox 14"/>
          <p:cNvSpPr txBox="1"/>
          <p:nvPr/>
        </p:nvSpPr>
        <p:spPr>
          <a:xfrm>
            <a:off x="8046720" y="4937760"/>
            <a:ext cx="3429000" cy="658368"/>
          </a:xfrm>
          <a:prstGeom prst="rect">
            <a:avLst/>
          </a:prstGeom>
          <a:noFill/>
        </p:spPr>
        <p:txBody>
          <a:bodyPr wrap="square" lIns="45720" tIns="18288" rIns="45720" bIns="18288" anchor="t">
            <a:spAutoFit/>
          </a:bodyPr>
          <a:lstStyle/>
          <a:p>
            <a:r>
              <a:rPr sz="2100" b="1" i="0">
                <a:solidFill>
                  <a:srgbClr val="2E9E5B"/>
                </a:solidFill>
                <a:latin typeface="Calibri"/>
              </a:rPr>
              <a:t>4.7 m</a:t>
            </a:r>
          </a:p>
          <a:p>
            <a:r>
              <a:rPr sz="1100" b="0" i="0">
                <a:solidFill>
                  <a:srgbClr val="5C6B70"/>
                </a:solidFill>
                <a:latin typeface="Calibri"/>
              </a:rPr>
              <a:t>median net head (P10 2.6 / P90 11.0)</a:t>
            </a:r>
          </a:p>
        </p:txBody>
      </p:sp>
      <p:sp>
        <p:nvSpPr>
          <p:cNvPr id="16" name="Rectangle 15"/>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8" name="TextBox 17"/>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2E9E5B"/>
                </a:solidFill>
                <a:latin typeface="Calibri"/>
              </a:rPr>
              <a:t>PHASE 3 · METHOD (TURBINE)</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Type selection + rated-power optimizer</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6903720" cy="4754880"/>
          </a:xfrm>
          <a:prstGeom prst="rect">
            <a:avLst/>
          </a:prstGeom>
          <a:noFill/>
        </p:spPr>
        <p:txBody>
          <a:bodyPr wrap="square" lIns="45720" tIns="18288" rIns="45720" bIns="18288" anchor="t">
            <a:spAutoFit/>
          </a:bodyPr>
          <a:lstStyle/>
          <a:p>
            <a:pPr>
              <a:spcBef>
                <a:spcPts val="0"/>
              </a:spcBef>
              <a:spcAft>
                <a:spcPts val="600"/>
              </a:spcAft>
            </a:pPr>
            <a:r>
              <a:rPr sz="1350" b="1" i="0">
                <a:solidFill>
                  <a:srgbClr val="126E82"/>
                </a:solidFill>
                <a:latin typeface="Calibri"/>
              </a:rPr>
              <a:t>▸  </a:t>
            </a:r>
            <a:r>
              <a:rPr sz="1350" b="0" i="0">
                <a:solidFill>
                  <a:srgbClr val="1A2429"/>
                </a:solidFill>
                <a:latin typeface="Calibri"/>
              </a:rPr>
              <a:t>Turbine type from the standard H–Q envelope: Pelton (H&gt;50 m, low Q) · Francis (H≥10 m) · Crossflow (2–10 m, low Q) · Kaplan (2–10 m, high Q) · in-conduit micro (H&lt;2 m).</a:t>
            </a:r>
          </a:p>
          <a:p>
            <a:pPr>
              <a:spcBef>
                <a:spcPts val="0"/>
              </a:spcBef>
              <a:spcAft>
                <a:spcPts val="600"/>
              </a:spcAft>
            </a:pPr>
            <a:r>
              <a:rPr sz="1350" b="1" i="0">
                <a:solidFill>
                  <a:srgbClr val="126E82"/>
                </a:solidFill>
                <a:latin typeface="Calibri"/>
              </a:rPr>
              <a:t>▸  </a:t>
            </a:r>
            <a:r>
              <a:rPr sz="1350" b="1" i="0">
                <a:solidFill>
                  <a:srgbClr val="0C2D3A"/>
                </a:solidFill>
                <a:latin typeface="Calibri"/>
              </a:rPr>
              <a:t>Rated-power optimizer:</a:t>
            </a:r>
            <a:r>
              <a:rPr sz="1350" b="0" i="0">
                <a:solidFill>
                  <a:srgbClr val="1A2429"/>
                </a:solidFill>
                <a:latin typeface="Calibri"/>
              </a:rPr>
              <a:t> sweep Q_rated = 30…100% of design flow; for each, integrate the part-load efficiency curve η(Q/Q_rated) over the FDC; pick the size that maximizes annual MWh subject to capacity factor ≥ 0.40.</a:t>
            </a:r>
          </a:p>
          <a:p>
            <a:pPr>
              <a:spcBef>
                <a:spcPts val="0"/>
              </a:spcBef>
              <a:spcAft>
                <a:spcPts val="600"/>
              </a:spcAft>
            </a:pPr>
            <a:r>
              <a:rPr sz="1350" b="1" i="0">
                <a:solidFill>
                  <a:srgbClr val="126E82"/>
                </a:solidFill>
                <a:latin typeface="Calibri"/>
              </a:rPr>
              <a:t>▸  </a:t>
            </a:r>
            <a:r>
              <a:rPr sz="1350" b="0" i="0">
                <a:solidFill>
                  <a:srgbClr val="1A2429"/>
                </a:solidFill>
                <a:latin typeface="Calibri"/>
              </a:rPr>
              <a:t>Part-load efficiency η(q) curves are empirical fits to published manufacturer hill charts (Kaplan peaks ~0.93, Francis ~0.91, Pelton 0.88, Crossflow 0.82, micro 0.75).</a:t>
            </a:r>
          </a:p>
          <a:p>
            <a:pPr>
              <a:spcBef>
                <a:spcPts val="0"/>
              </a:spcBef>
              <a:spcAft>
                <a:spcPts val="600"/>
              </a:spcAft>
            </a:pPr>
            <a:r>
              <a:rPr sz="1350" b="1" i="0">
                <a:solidFill>
                  <a:srgbClr val="126E82"/>
                </a:solidFill>
                <a:latin typeface="Calibri"/>
              </a:rPr>
              <a:t>▸  </a:t>
            </a:r>
            <a:r>
              <a:rPr sz="1350" b="0" i="0">
                <a:solidFill>
                  <a:srgbClr val="1A2429"/>
                </a:solidFill>
                <a:latin typeface="Calibri"/>
              </a:rPr>
              <a:t>Each site is matched to a real manufacturer (preferring wastewater-certified, then lowest $/kW) from a 15-turbine vendor database.</a:t>
            </a:r>
          </a:p>
          <a:p>
            <a:pPr>
              <a:spcBef>
                <a:spcPts val="0"/>
              </a:spcBef>
              <a:spcAft>
                <a:spcPts val="600"/>
              </a:spcAft>
            </a:pPr>
            <a:r>
              <a:rPr sz="1350" b="1" i="0">
                <a:solidFill>
                  <a:srgbClr val="126E82"/>
                </a:solidFill>
                <a:latin typeface="Calibri"/>
              </a:rPr>
              <a:t>▸  </a:t>
            </a:r>
            <a:r>
              <a:rPr sz="1350" b="1" i="0">
                <a:solidFill>
                  <a:srgbClr val="0C2D3A"/>
                </a:solidFill>
                <a:latin typeface="Calibri"/>
              </a:rPr>
              <a:t>Viability floor:</a:t>
            </a:r>
            <a:r>
              <a:rPr sz="1350" b="0" i="0">
                <a:solidFill>
                  <a:srgbClr val="1A2429"/>
                </a:solidFill>
                <a:latin typeface="Calibri"/>
              </a:rPr>
              <a:t> rated power must be ≥ 1 kW — 1,081 sites fail this physics floor and are dropped (not an economic rejection).</a:t>
            </a:r>
          </a:p>
        </p:txBody>
      </p:sp>
      <p:graphicFrame>
        <p:nvGraphicFramePr>
          <p:cNvPr id="8" name="Table 7"/>
          <p:cNvGraphicFramePr>
            <a:graphicFrameLocks noGrp="1"/>
          </p:cNvGraphicFramePr>
          <p:nvPr/>
        </p:nvGraphicFramePr>
        <p:xfrm>
          <a:off x="7772400" y="1554480"/>
          <a:ext cx="3931918" cy="2743200"/>
        </p:xfrm>
        <a:graphic>
          <a:graphicData uri="http://schemas.openxmlformats.org/drawingml/2006/table">
            <a:tbl>
              <a:tblPr>
                <a:tableStyleId>{5C22544A-7EE6-4342-B048-85BDC9FD1C3A}</a:tableStyleId>
              </a:tblPr>
              <a:tblGrid>
                <a:gridCol w="1890346">
                  <a:extLst>
                    <a:ext uri="{9D8B030D-6E8A-4147-A177-3AD203B41FA5}">
                      <a16:colId xmlns:a16="http://schemas.microsoft.com/office/drawing/2014/main" val="20000"/>
                    </a:ext>
                  </a:extLst>
                </a:gridCol>
                <a:gridCol w="1020786">
                  <a:extLst>
                    <a:ext uri="{9D8B030D-6E8A-4147-A177-3AD203B41FA5}">
                      <a16:colId xmlns:a16="http://schemas.microsoft.com/office/drawing/2014/main" val="20001"/>
                    </a:ext>
                  </a:extLst>
                </a:gridCol>
                <a:gridCol w="1020786">
                  <a:extLst>
                    <a:ext uri="{9D8B030D-6E8A-4147-A177-3AD203B41FA5}">
                      <a16:colId xmlns:a16="http://schemas.microsoft.com/office/drawing/2014/main" val="20002"/>
                    </a:ext>
                  </a:extLst>
                </a:gridCol>
              </a:tblGrid>
              <a:tr h="457200">
                <a:tc>
                  <a:txBody>
                    <a:bodyPr/>
                    <a:lstStyle/>
                    <a:p>
                      <a:pPr algn="l"/>
                      <a:r>
                        <a:rPr sz="1100" b="1" i="0">
                          <a:solidFill>
                            <a:srgbClr val="FFFFFF"/>
                          </a:solidFill>
                          <a:latin typeface="Calibri"/>
                        </a:rPr>
                        <a:t>Turbine type</a:t>
                      </a:r>
                    </a:p>
                  </a:txBody>
                  <a:tcPr marL="54864" marR="54864" marT="18288" marB="18288" anchor="ctr">
                    <a:solidFill>
                      <a:srgbClr val="0C2D3A"/>
                    </a:solidFill>
                  </a:tcPr>
                </a:tc>
                <a:tc>
                  <a:txBody>
                    <a:bodyPr/>
                    <a:lstStyle/>
                    <a:p>
                      <a:pPr algn="r"/>
                      <a:r>
                        <a:rPr sz="1100" b="1" i="0">
                          <a:solidFill>
                            <a:srgbClr val="FFFFFF"/>
                          </a:solidFill>
                          <a:latin typeface="Calibri"/>
                        </a:rPr>
                        <a:t>Sites</a:t>
                      </a:r>
                    </a:p>
                  </a:txBody>
                  <a:tcPr marL="54864" marR="54864" marT="18288" marB="18288" anchor="ctr">
                    <a:solidFill>
                      <a:srgbClr val="0C2D3A"/>
                    </a:solidFill>
                  </a:tcPr>
                </a:tc>
                <a:tc>
                  <a:txBody>
                    <a:bodyPr/>
                    <a:lstStyle/>
                    <a:p>
                      <a:pPr algn="r"/>
                      <a:r>
                        <a:rPr sz="1100" b="1" i="0">
                          <a:solidFill>
                            <a:srgbClr val="FFFFFF"/>
                          </a:solidFill>
                          <a:latin typeface="Calibri"/>
                        </a:rPr>
                        <a:t>Avg kW</a:t>
                      </a:r>
                    </a:p>
                  </a:txBody>
                  <a:tcPr marL="54864" marR="54864" marT="18288" marB="18288" anchor="ctr">
                    <a:solidFill>
                      <a:srgbClr val="0C2D3A"/>
                    </a:solidFill>
                  </a:tcPr>
                </a:tc>
                <a:extLst>
                  <a:ext uri="{0D108BD9-81ED-4DB2-BD59-A6C34878D82A}">
                    <a16:rowId xmlns:a16="http://schemas.microsoft.com/office/drawing/2014/main" val="10000"/>
                  </a:ext>
                </a:extLst>
              </a:tr>
              <a:tr h="457200">
                <a:tc>
                  <a:txBody>
                    <a:bodyPr/>
                    <a:lstStyle/>
                    <a:p>
                      <a:pPr algn="l"/>
                      <a:r>
                        <a:rPr sz="1200" b="1" i="0">
                          <a:solidFill>
                            <a:srgbClr val="1A2429"/>
                          </a:solidFill>
                          <a:latin typeface="Calibri"/>
                        </a:rPr>
                        <a:t>Crossflow</a:t>
                      </a:r>
                    </a:p>
                  </a:txBody>
                  <a:tcPr marL="54864" marR="54864" marT="9144" marB="9144" anchor="ctr">
                    <a:solidFill>
                      <a:srgbClr val="FFFFFF"/>
                    </a:solidFill>
                  </a:tcPr>
                </a:tc>
                <a:tc>
                  <a:txBody>
                    <a:bodyPr/>
                    <a:lstStyle/>
                    <a:p>
                      <a:pPr algn="r"/>
                      <a:r>
                        <a:rPr sz="1200" b="0" i="0">
                          <a:solidFill>
                            <a:srgbClr val="1A2429"/>
                          </a:solidFill>
                          <a:latin typeface="Calibri"/>
                        </a:rPr>
                        <a:t>2,771</a:t>
                      </a:r>
                    </a:p>
                  </a:txBody>
                  <a:tcPr marL="54864" marR="54864" marT="9144" marB="9144" anchor="ctr">
                    <a:solidFill>
                      <a:srgbClr val="FFFFFF"/>
                    </a:solidFill>
                  </a:tcPr>
                </a:tc>
                <a:tc>
                  <a:txBody>
                    <a:bodyPr/>
                    <a:lstStyle/>
                    <a:p>
                      <a:pPr algn="r"/>
                      <a:r>
                        <a:rPr sz="1200" b="0" i="0">
                          <a:solidFill>
                            <a:srgbClr val="1A2429"/>
                          </a:solidFill>
                          <a:latin typeface="Calibri"/>
                        </a:rPr>
                        <a:t>5.0</a:t>
                      </a:r>
                    </a:p>
                  </a:txBody>
                  <a:tcPr marL="54864" marR="54864" marT="9144" marB="9144" anchor="ctr">
                    <a:solidFill>
                      <a:srgbClr val="FFFFFF"/>
                    </a:solidFill>
                  </a:tcPr>
                </a:tc>
                <a:extLst>
                  <a:ext uri="{0D108BD9-81ED-4DB2-BD59-A6C34878D82A}">
                    <a16:rowId xmlns:a16="http://schemas.microsoft.com/office/drawing/2014/main" val="10001"/>
                  </a:ext>
                </a:extLst>
              </a:tr>
              <a:tr h="457200">
                <a:tc>
                  <a:txBody>
                    <a:bodyPr/>
                    <a:lstStyle/>
                    <a:p>
                      <a:pPr algn="l"/>
                      <a:r>
                        <a:rPr sz="1200" b="1" i="0">
                          <a:solidFill>
                            <a:srgbClr val="1A2429"/>
                          </a:solidFill>
                          <a:latin typeface="Calibri"/>
                        </a:rPr>
                        <a:t>Francis</a:t>
                      </a:r>
                    </a:p>
                  </a:txBody>
                  <a:tcPr marL="54864" marR="54864" marT="9144" marB="9144" anchor="ctr">
                    <a:solidFill>
                      <a:srgbClr val="ECF1F2"/>
                    </a:solidFill>
                  </a:tcPr>
                </a:tc>
                <a:tc>
                  <a:txBody>
                    <a:bodyPr/>
                    <a:lstStyle/>
                    <a:p>
                      <a:pPr algn="r"/>
                      <a:r>
                        <a:rPr sz="1200" b="0" i="0">
                          <a:solidFill>
                            <a:srgbClr val="1A2429"/>
                          </a:solidFill>
                          <a:latin typeface="Calibri"/>
                        </a:rPr>
                        <a:t>452</a:t>
                      </a:r>
                    </a:p>
                  </a:txBody>
                  <a:tcPr marL="54864" marR="54864" marT="9144" marB="9144" anchor="ctr">
                    <a:solidFill>
                      <a:srgbClr val="ECF1F2"/>
                    </a:solidFill>
                  </a:tcPr>
                </a:tc>
                <a:tc>
                  <a:txBody>
                    <a:bodyPr/>
                    <a:lstStyle/>
                    <a:p>
                      <a:pPr algn="r"/>
                      <a:r>
                        <a:rPr sz="1200" b="0" i="0">
                          <a:solidFill>
                            <a:srgbClr val="1A2429"/>
                          </a:solidFill>
                          <a:latin typeface="Calibri"/>
                        </a:rPr>
                        <a:t>44.9</a:t>
                      </a:r>
                    </a:p>
                  </a:txBody>
                  <a:tcPr marL="54864" marR="54864" marT="9144" marB="9144" anchor="ctr">
                    <a:solidFill>
                      <a:srgbClr val="ECF1F2"/>
                    </a:solidFill>
                  </a:tcPr>
                </a:tc>
                <a:extLst>
                  <a:ext uri="{0D108BD9-81ED-4DB2-BD59-A6C34878D82A}">
                    <a16:rowId xmlns:a16="http://schemas.microsoft.com/office/drawing/2014/main" val="10002"/>
                  </a:ext>
                </a:extLst>
              </a:tr>
              <a:tr h="457200">
                <a:tc>
                  <a:txBody>
                    <a:bodyPr/>
                    <a:lstStyle/>
                    <a:p>
                      <a:pPr algn="l"/>
                      <a:r>
                        <a:rPr sz="1200" b="1" i="0">
                          <a:solidFill>
                            <a:srgbClr val="1A2429"/>
                          </a:solidFill>
                          <a:latin typeface="Calibri"/>
                        </a:rPr>
                        <a:t>Kaplan</a:t>
                      </a:r>
                    </a:p>
                  </a:txBody>
                  <a:tcPr marL="54864" marR="54864" marT="9144" marB="9144" anchor="ctr">
                    <a:solidFill>
                      <a:srgbClr val="FFFFFF"/>
                    </a:solidFill>
                  </a:tcPr>
                </a:tc>
                <a:tc>
                  <a:txBody>
                    <a:bodyPr/>
                    <a:lstStyle/>
                    <a:p>
                      <a:pPr algn="r"/>
                      <a:r>
                        <a:rPr sz="1200" b="0" i="0">
                          <a:solidFill>
                            <a:srgbClr val="1A2429"/>
                          </a:solidFill>
                          <a:latin typeface="Calibri"/>
                        </a:rPr>
                        <a:t>364</a:t>
                      </a:r>
                    </a:p>
                  </a:txBody>
                  <a:tcPr marL="54864" marR="54864" marT="9144" marB="9144" anchor="ctr">
                    <a:solidFill>
                      <a:srgbClr val="FFFFFF"/>
                    </a:solidFill>
                  </a:tcPr>
                </a:tc>
                <a:tc>
                  <a:txBody>
                    <a:bodyPr/>
                    <a:lstStyle/>
                    <a:p>
                      <a:pPr algn="r"/>
                      <a:r>
                        <a:rPr sz="1200" b="0" i="0">
                          <a:solidFill>
                            <a:srgbClr val="1A2429"/>
                          </a:solidFill>
                          <a:latin typeface="Calibri"/>
                        </a:rPr>
                        <a:t>107.2</a:t>
                      </a:r>
                    </a:p>
                  </a:txBody>
                  <a:tcPr marL="54864" marR="54864" marT="9144" marB="9144" anchor="ctr">
                    <a:solidFill>
                      <a:srgbClr val="FFFFFF"/>
                    </a:solidFill>
                  </a:tcPr>
                </a:tc>
                <a:extLst>
                  <a:ext uri="{0D108BD9-81ED-4DB2-BD59-A6C34878D82A}">
                    <a16:rowId xmlns:a16="http://schemas.microsoft.com/office/drawing/2014/main" val="10003"/>
                  </a:ext>
                </a:extLst>
              </a:tr>
              <a:tr h="457200">
                <a:tc>
                  <a:txBody>
                    <a:bodyPr/>
                    <a:lstStyle/>
                    <a:p>
                      <a:pPr algn="l"/>
                      <a:r>
                        <a:rPr sz="1200" b="1" i="0">
                          <a:solidFill>
                            <a:srgbClr val="1A2429"/>
                          </a:solidFill>
                          <a:latin typeface="Calibri"/>
                        </a:rPr>
                        <a:t>In-conduit micro</a:t>
                      </a:r>
                    </a:p>
                  </a:txBody>
                  <a:tcPr marL="54864" marR="54864" marT="9144" marB="9144" anchor="ctr">
                    <a:solidFill>
                      <a:srgbClr val="ECF1F2"/>
                    </a:solidFill>
                  </a:tcPr>
                </a:tc>
                <a:tc>
                  <a:txBody>
                    <a:bodyPr/>
                    <a:lstStyle/>
                    <a:p>
                      <a:pPr algn="r"/>
                      <a:r>
                        <a:rPr sz="1200" b="0" i="0">
                          <a:solidFill>
                            <a:srgbClr val="1A2429"/>
                          </a:solidFill>
                          <a:latin typeface="Calibri"/>
                        </a:rPr>
                        <a:t>196</a:t>
                      </a:r>
                    </a:p>
                  </a:txBody>
                  <a:tcPr marL="54864" marR="54864" marT="9144" marB="9144" anchor="ctr">
                    <a:solidFill>
                      <a:srgbClr val="ECF1F2"/>
                    </a:solidFill>
                  </a:tcPr>
                </a:tc>
                <a:tc>
                  <a:txBody>
                    <a:bodyPr/>
                    <a:lstStyle/>
                    <a:p>
                      <a:pPr algn="r"/>
                      <a:r>
                        <a:rPr sz="1200" b="0" i="0">
                          <a:solidFill>
                            <a:srgbClr val="1A2429"/>
                          </a:solidFill>
                          <a:latin typeface="Calibri"/>
                        </a:rPr>
                        <a:t>5.4</a:t>
                      </a:r>
                    </a:p>
                  </a:txBody>
                  <a:tcPr marL="54864" marR="54864" marT="9144" marB="9144" anchor="ctr">
                    <a:solidFill>
                      <a:srgbClr val="ECF1F2"/>
                    </a:solidFill>
                  </a:tcPr>
                </a:tc>
                <a:extLst>
                  <a:ext uri="{0D108BD9-81ED-4DB2-BD59-A6C34878D82A}">
                    <a16:rowId xmlns:a16="http://schemas.microsoft.com/office/drawing/2014/main" val="10004"/>
                  </a:ext>
                </a:extLst>
              </a:tr>
              <a:tr h="457200">
                <a:tc>
                  <a:txBody>
                    <a:bodyPr/>
                    <a:lstStyle/>
                    <a:p>
                      <a:pPr algn="l"/>
                      <a:r>
                        <a:rPr sz="1200" b="1" i="0">
                          <a:solidFill>
                            <a:srgbClr val="1A2429"/>
                          </a:solidFill>
                          <a:latin typeface="Calibri"/>
                        </a:rPr>
                        <a:t>Total viable</a:t>
                      </a:r>
                    </a:p>
                  </a:txBody>
                  <a:tcPr marL="54864" marR="54864" marT="9144" marB="9144" anchor="ctr">
                    <a:solidFill>
                      <a:srgbClr val="FFFFFF"/>
                    </a:solidFill>
                  </a:tcPr>
                </a:tc>
                <a:tc>
                  <a:txBody>
                    <a:bodyPr/>
                    <a:lstStyle/>
                    <a:p>
                      <a:pPr algn="r"/>
                      <a:r>
                        <a:rPr sz="1200" b="0" i="0">
                          <a:solidFill>
                            <a:srgbClr val="1A2429"/>
                          </a:solidFill>
                          <a:latin typeface="Calibri"/>
                        </a:rPr>
                        <a:t>3,783</a:t>
                      </a:r>
                    </a:p>
                  </a:txBody>
                  <a:tcPr marL="54864" marR="54864" marT="9144" marB="9144" anchor="ctr">
                    <a:solidFill>
                      <a:srgbClr val="FFFFFF"/>
                    </a:solidFill>
                  </a:tcPr>
                </a:tc>
                <a:tc>
                  <a:txBody>
                    <a:bodyPr/>
                    <a:lstStyle/>
                    <a:p>
                      <a:pPr algn="r"/>
                      <a:r>
                        <a:rPr sz="1200" b="0" i="0">
                          <a:solidFill>
                            <a:srgbClr val="1A2429"/>
                          </a:solidFill>
                          <a:latin typeface="Calibri"/>
                        </a:rPr>
                        <a:t>—</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7772400" y="4434840"/>
            <a:ext cx="3931920" cy="1371600"/>
          </a:xfrm>
          <a:prstGeom prst="rect">
            <a:avLst/>
          </a:prstGeom>
          <a:noFill/>
        </p:spPr>
        <p:txBody>
          <a:bodyPr wrap="square" lIns="45720" tIns="18288" rIns="45720" bIns="18288" anchor="t">
            <a:spAutoFit/>
          </a:bodyPr>
          <a:lstStyle/>
          <a:p>
            <a:pPr>
              <a:spcAft>
                <a:spcPts val="500"/>
              </a:spcAft>
            </a:pPr>
            <a:r>
              <a:rPr sz="1200" b="1" i="0">
                <a:solidFill>
                  <a:srgbClr val="E89B1F"/>
                </a:solidFill>
                <a:latin typeface="Calibri"/>
              </a:rPr>
              <a:t>ASSUMPTIONS</a:t>
            </a:r>
          </a:p>
          <a:p>
            <a:pPr>
              <a:spcAft>
                <a:spcPts val="500"/>
              </a:spcAft>
            </a:pPr>
            <a:r>
              <a:rPr sz="1150" b="1" i="0">
                <a:solidFill>
                  <a:srgbClr val="E89B1F"/>
                </a:solidFill>
                <a:latin typeface="Calibri"/>
              </a:rPr>
              <a:t>• </a:t>
            </a:r>
            <a:r>
              <a:rPr sz="1050" b="0" i="0">
                <a:solidFill>
                  <a:srgbClr val="1A2429"/>
                </a:solidFill>
                <a:latin typeface="Calibri"/>
              </a:rPr>
              <a:t>Efficiency curves are literature/vendor fits, not site-measured.</a:t>
            </a:r>
          </a:p>
          <a:p>
            <a:pPr>
              <a:spcAft>
                <a:spcPts val="500"/>
              </a:spcAft>
            </a:pPr>
            <a:r>
              <a:rPr sz="1150" b="1" i="0">
                <a:solidFill>
                  <a:srgbClr val="E89B1F"/>
                </a:solidFill>
                <a:latin typeface="Calibri"/>
              </a:rPr>
              <a:t>• </a:t>
            </a:r>
            <a:r>
              <a:rPr sz="1050" b="0" i="0">
                <a:solidFill>
                  <a:srgbClr val="1A2429"/>
                </a:solidFill>
                <a:latin typeface="Calibri"/>
              </a:rPr>
              <a:t>Min capacity factor 0.40; min viable power 1 kW.</a:t>
            </a:r>
          </a:p>
          <a:p>
            <a:pPr>
              <a:spcAft>
                <a:spcPts val="500"/>
              </a:spcAft>
            </a:pPr>
            <a:r>
              <a:rPr sz="1150" b="1" i="0">
                <a:solidFill>
                  <a:srgbClr val="E89B1F"/>
                </a:solidFill>
                <a:latin typeface="Calibri"/>
              </a:rPr>
              <a:t>• </a:t>
            </a:r>
            <a:r>
              <a:rPr sz="1050" b="0" i="0">
                <a:solidFill>
                  <a:srgbClr val="1A2429"/>
                </a:solidFill>
                <a:latin typeface="Calibri"/>
              </a:rPr>
              <a:t>Most sites are small (Crossflow, ~5 kW); energy is concentrated in few large Kaplan/Francis sites.</a:t>
            </a:r>
          </a:p>
        </p:txBody>
      </p:sp>
      <p:sp>
        <p:nvSpPr>
          <p:cNvPr id="10" name="Rectangle 9"/>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2" name="TextBox 11"/>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E89B1F"/>
                </a:solidFill>
                <a:latin typeface="Calibri"/>
              </a:rPr>
              <a:t>PHASE 4 · METHOD (COST)</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CapEx / OpEx model</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6858000" cy="4754880"/>
          </a:xfrm>
          <a:prstGeom prst="rect">
            <a:avLst/>
          </a:prstGeom>
          <a:noFill/>
        </p:spPr>
        <p:txBody>
          <a:bodyPr wrap="square" lIns="45720" tIns="18288" rIns="45720" bIns="18288" anchor="t">
            <a:spAutoFit/>
          </a:bodyPr>
          <a:lstStyle/>
          <a:p>
            <a:pPr>
              <a:spcBef>
                <a:spcPts val="0"/>
              </a:spcBef>
              <a:spcAft>
                <a:spcPts val="550"/>
              </a:spcAft>
            </a:pPr>
            <a:r>
              <a:rPr sz="1350" b="1" i="0">
                <a:solidFill>
                  <a:srgbClr val="126E82"/>
                </a:solidFill>
                <a:latin typeface="Calibri"/>
              </a:rPr>
              <a:t>▸  </a:t>
            </a:r>
            <a:r>
              <a:rPr sz="1350" b="0" i="0">
                <a:solidFill>
                  <a:srgbClr val="1A2429"/>
                </a:solidFill>
                <a:latin typeface="Calibri"/>
              </a:rPr>
              <a:t>Equipment $/kW = clamp( A × kW^B , vendor_min , vendor_max ), per turbine type. Power-law from DOE Hydropower Vision + ORNL TM-2014/525, then clamped to real vendor bands.</a:t>
            </a:r>
          </a:p>
          <a:p>
            <a:pPr>
              <a:spcBef>
                <a:spcPts val="0"/>
              </a:spcBef>
              <a:spcAft>
                <a:spcPts val="550"/>
              </a:spcAft>
            </a:pPr>
            <a:r>
              <a:rPr sz="1350" b="1" i="0">
                <a:solidFill>
                  <a:srgbClr val="126E82"/>
                </a:solidFill>
                <a:latin typeface="Calibri"/>
              </a:rPr>
              <a:t>▸  </a:t>
            </a:r>
            <a:r>
              <a:rPr sz="1350" b="1" i="0">
                <a:solidFill>
                  <a:srgbClr val="0C2D3A"/>
                </a:solidFill>
                <a:latin typeface="Calibri"/>
              </a:rPr>
              <a:t>Vendor-band guardrail:</a:t>
            </a:r>
            <a:r>
              <a:rPr sz="1350" b="0" i="0">
                <a:solidFill>
                  <a:srgbClr val="1A2429"/>
                </a:solidFill>
                <a:latin typeface="Calibri"/>
              </a:rPr>
              <a:t> every site's modeled $/kW is cross-checked against manufacturer-published ranges. 0 of 3,783 sites fall outside the band.</a:t>
            </a:r>
          </a:p>
          <a:p>
            <a:pPr>
              <a:spcBef>
                <a:spcPts val="0"/>
              </a:spcBef>
              <a:spcAft>
                <a:spcPts val="550"/>
              </a:spcAft>
            </a:pPr>
            <a:r>
              <a:rPr sz="1350" b="1" i="0">
                <a:solidFill>
                  <a:srgbClr val="126E82"/>
                </a:solidFill>
                <a:latin typeface="Calibri"/>
              </a:rPr>
              <a:t>▸  </a:t>
            </a:r>
            <a:r>
              <a:rPr sz="1350" b="0" i="0">
                <a:solidFill>
                  <a:srgbClr val="1A2429"/>
                </a:solidFill>
                <a:latin typeface="Calibri"/>
              </a:rPr>
              <a:t>Total project CapEx = Equipment + Installation + Interconnection + Permitting:</a:t>
            </a:r>
          </a:p>
          <a:p>
            <a:pPr lvl="1">
              <a:spcBef>
                <a:spcPts val="0"/>
              </a:spcBef>
              <a:spcAft>
                <a:spcPts val="550"/>
              </a:spcAft>
            </a:pPr>
            <a:r>
              <a:rPr sz="1250" b="1" i="0">
                <a:solidFill>
                  <a:srgbClr val="2E9E5B"/>
                </a:solidFill>
                <a:latin typeface="Calibri"/>
              </a:rPr>
              <a:t>–  </a:t>
            </a:r>
            <a:r>
              <a:rPr sz="1250" b="0" i="0">
                <a:solidFill>
                  <a:srgbClr val="5C6B70"/>
                </a:solidFill>
                <a:latin typeface="Calibri"/>
              </a:rPr>
              <a:t>Installation = 17.5% of equipment (mechanical labor only; the director's 15–20% lever; civil works excluded).</a:t>
            </a:r>
          </a:p>
          <a:p>
            <a:pPr lvl="1">
              <a:spcBef>
                <a:spcPts val="0"/>
              </a:spcBef>
              <a:spcAft>
                <a:spcPts val="550"/>
              </a:spcAft>
            </a:pPr>
            <a:r>
              <a:rPr sz="1250" b="1" i="0">
                <a:solidFill>
                  <a:srgbClr val="2E9E5B"/>
                </a:solidFill>
                <a:latin typeface="Calibri"/>
              </a:rPr>
              <a:t>–  </a:t>
            </a:r>
            <a:r>
              <a:rPr sz="1250" b="0" i="0">
                <a:solidFill>
                  <a:srgbClr val="5C6B70"/>
                </a:solidFill>
                <a:latin typeface="Calibri"/>
              </a:rPr>
              <a:t>Interconnection = tiered $50k–$200k by kW; behind-the-meter micro (≤25 kW) only $5k (no grid export).</a:t>
            </a:r>
          </a:p>
          <a:p>
            <a:pPr lvl="1">
              <a:spcBef>
                <a:spcPts val="0"/>
              </a:spcBef>
              <a:spcAft>
                <a:spcPts val="550"/>
              </a:spcAft>
            </a:pPr>
            <a:r>
              <a:rPr sz="1250" b="1" i="0">
                <a:solidFill>
                  <a:srgbClr val="2E9E5B"/>
                </a:solidFill>
                <a:latin typeface="Calibri"/>
              </a:rPr>
              <a:t>–  </a:t>
            </a:r>
            <a:r>
              <a:rPr sz="1250" b="0" i="0">
                <a:solidFill>
                  <a:srgbClr val="5C6B70"/>
                </a:solidFill>
                <a:latin typeface="Calibri"/>
              </a:rPr>
              <a:t>Permitting = tiered: $5k qualifying conduit facility (≤25 kW) → $75k abbreviated FERC → $150k full NEPA.</a:t>
            </a:r>
          </a:p>
          <a:p>
            <a:pPr>
              <a:spcBef>
                <a:spcPts val="0"/>
              </a:spcBef>
              <a:spcAft>
                <a:spcPts val="550"/>
              </a:spcAft>
            </a:pPr>
            <a:r>
              <a:rPr sz="1350" b="1" i="0">
                <a:solidFill>
                  <a:srgbClr val="126E82"/>
                </a:solidFill>
                <a:latin typeface="Calibri"/>
              </a:rPr>
              <a:t>▸  </a:t>
            </a:r>
            <a:r>
              <a:rPr sz="1350" b="0" i="0">
                <a:solidFill>
                  <a:srgbClr val="1A2429"/>
                </a:solidFill>
                <a:latin typeface="Calibri"/>
              </a:rPr>
              <a:t>O&amp;M = fixed % of equipment CapEx per type (1.5–3.0%); one-time costs (install/intercon/permit) are not O&amp;M-bearing.</a:t>
            </a:r>
          </a:p>
        </p:txBody>
      </p:sp>
      <p:graphicFrame>
        <p:nvGraphicFramePr>
          <p:cNvPr id="8" name="Table 7"/>
          <p:cNvGraphicFramePr>
            <a:graphicFrameLocks noGrp="1"/>
          </p:cNvGraphicFramePr>
          <p:nvPr/>
        </p:nvGraphicFramePr>
        <p:xfrm>
          <a:off x="7726679" y="1554480"/>
          <a:ext cx="3977638" cy="2414016"/>
        </p:xfrm>
        <a:graphic>
          <a:graphicData uri="http://schemas.openxmlformats.org/drawingml/2006/table">
            <a:tbl>
              <a:tblPr>
                <a:tableStyleId>{5C22544A-7EE6-4342-B048-85BDC9FD1C3A}</a:tableStyleId>
              </a:tblPr>
              <a:tblGrid>
                <a:gridCol w="1229452">
                  <a:extLst>
                    <a:ext uri="{9D8B030D-6E8A-4147-A177-3AD203B41FA5}">
                      <a16:colId xmlns:a16="http://schemas.microsoft.com/office/drawing/2014/main" val="20000"/>
                    </a:ext>
                  </a:extLst>
                </a:gridCol>
                <a:gridCol w="795527">
                  <a:extLst>
                    <a:ext uri="{9D8B030D-6E8A-4147-A177-3AD203B41FA5}">
                      <a16:colId xmlns:a16="http://schemas.microsoft.com/office/drawing/2014/main" val="20001"/>
                    </a:ext>
                  </a:extLst>
                </a:gridCol>
                <a:gridCol w="723207">
                  <a:extLst>
                    <a:ext uri="{9D8B030D-6E8A-4147-A177-3AD203B41FA5}">
                      <a16:colId xmlns:a16="http://schemas.microsoft.com/office/drawing/2014/main" val="20002"/>
                    </a:ext>
                  </a:extLst>
                </a:gridCol>
                <a:gridCol w="1229452">
                  <a:extLst>
                    <a:ext uri="{9D8B030D-6E8A-4147-A177-3AD203B41FA5}">
                      <a16:colId xmlns:a16="http://schemas.microsoft.com/office/drawing/2014/main" val="20003"/>
                    </a:ext>
                  </a:extLst>
                </a:gridCol>
              </a:tblGrid>
              <a:tr h="402336">
                <a:tc>
                  <a:txBody>
                    <a:bodyPr/>
                    <a:lstStyle/>
                    <a:p>
                      <a:pPr algn="l"/>
                      <a:r>
                        <a:rPr sz="1100" b="1" i="0">
                          <a:solidFill>
                            <a:srgbClr val="FFFFFF"/>
                          </a:solidFill>
                          <a:latin typeface="Calibri"/>
                        </a:rPr>
                        <a:t>Type</a:t>
                      </a:r>
                    </a:p>
                  </a:txBody>
                  <a:tcPr marL="54864" marR="54864" marT="18288" marB="18288" anchor="ctr">
                    <a:solidFill>
                      <a:srgbClr val="0C2D3A"/>
                    </a:solidFill>
                  </a:tcPr>
                </a:tc>
                <a:tc>
                  <a:txBody>
                    <a:bodyPr/>
                    <a:lstStyle/>
                    <a:p>
                      <a:pPr algn="r"/>
                      <a:r>
                        <a:rPr sz="1100" b="1" i="0">
                          <a:solidFill>
                            <a:srgbClr val="FFFFFF"/>
                          </a:solidFill>
                          <a:latin typeface="Calibri"/>
                        </a:rPr>
                        <a:t>A</a:t>
                      </a:r>
                    </a:p>
                  </a:txBody>
                  <a:tcPr marL="54864" marR="54864" marT="18288" marB="18288" anchor="ctr">
                    <a:solidFill>
                      <a:srgbClr val="0C2D3A"/>
                    </a:solidFill>
                  </a:tcPr>
                </a:tc>
                <a:tc>
                  <a:txBody>
                    <a:bodyPr/>
                    <a:lstStyle/>
                    <a:p>
                      <a:pPr algn="r"/>
                      <a:r>
                        <a:rPr sz="1100" b="1" i="0">
                          <a:solidFill>
                            <a:srgbClr val="FFFFFF"/>
                          </a:solidFill>
                          <a:latin typeface="Calibri"/>
                        </a:rPr>
                        <a:t>B</a:t>
                      </a:r>
                    </a:p>
                  </a:txBody>
                  <a:tcPr marL="54864" marR="54864" marT="18288" marB="18288" anchor="ctr">
                    <a:solidFill>
                      <a:srgbClr val="0C2D3A"/>
                    </a:solidFill>
                  </a:tcPr>
                </a:tc>
                <a:tc>
                  <a:txBody>
                    <a:bodyPr/>
                    <a:lstStyle/>
                    <a:p>
                      <a:pPr algn="r"/>
                      <a:r>
                        <a:rPr sz="1100" b="1" i="0">
                          <a:solidFill>
                            <a:srgbClr val="FFFFFF"/>
                          </a:solidFill>
                          <a:latin typeface="Calibri"/>
                        </a:rPr>
                        <a:t>$/kW band</a:t>
                      </a:r>
                    </a:p>
                  </a:txBody>
                  <a:tcPr marL="54864" marR="54864" marT="18288" marB="18288" anchor="ctr">
                    <a:solidFill>
                      <a:srgbClr val="0C2D3A"/>
                    </a:solidFill>
                  </a:tcPr>
                </a:tc>
                <a:extLst>
                  <a:ext uri="{0D108BD9-81ED-4DB2-BD59-A6C34878D82A}">
                    <a16:rowId xmlns:a16="http://schemas.microsoft.com/office/drawing/2014/main" val="10000"/>
                  </a:ext>
                </a:extLst>
              </a:tr>
              <a:tr h="402336">
                <a:tc>
                  <a:txBody>
                    <a:bodyPr/>
                    <a:lstStyle/>
                    <a:p>
                      <a:pPr algn="l"/>
                      <a:r>
                        <a:rPr sz="1050" b="1" i="0">
                          <a:solidFill>
                            <a:srgbClr val="1A2429"/>
                          </a:solidFill>
                          <a:latin typeface="Calibri"/>
                        </a:rPr>
                        <a:t>Kaplan</a:t>
                      </a:r>
                    </a:p>
                  </a:txBody>
                  <a:tcPr marL="54864" marR="54864" marT="9144" marB="9144" anchor="ctr">
                    <a:solidFill>
                      <a:srgbClr val="FFFFFF"/>
                    </a:solidFill>
                  </a:tcPr>
                </a:tc>
                <a:tc>
                  <a:txBody>
                    <a:bodyPr/>
                    <a:lstStyle/>
                    <a:p>
                      <a:pPr algn="r"/>
                      <a:r>
                        <a:rPr sz="1050" b="0" i="0">
                          <a:solidFill>
                            <a:srgbClr val="1A2429"/>
                          </a:solidFill>
                          <a:latin typeface="Calibri"/>
                        </a:rPr>
                        <a:t>9,500</a:t>
                      </a:r>
                    </a:p>
                  </a:txBody>
                  <a:tcPr marL="54864" marR="54864" marT="9144" marB="9144" anchor="ctr">
                    <a:solidFill>
                      <a:srgbClr val="FFFFFF"/>
                    </a:solidFill>
                  </a:tcPr>
                </a:tc>
                <a:tc>
                  <a:txBody>
                    <a:bodyPr/>
                    <a:lstStyle/>
                    <a:p>
                      <a:pPr algn="r"/>
                      <a:r>
                        <a:rPr sz="1050" b="0" i="0">
                          <a:solidFill>
                            <a:srgbClr val="1A2429"/>
                          </a:solidFill>
                          <a:latin typeface="Calibri"/>
                        </a:rPr>
                        <a:t>-0.35</a:t>
                      </a:r>
                    </a:p>
                  </a:txBody>
                  <a:tcPr marL="54864" marR="54864" marT="9144" marB="9144" anchor="ctr">
                    <a:solidFill>
                      <a:srgbClr val="FFFFFF"/>
                    </a:solidFill>
                  </a:tcPr>
                </a:tc>
                <a:tc>
                  <a:txBody>
                    <a:bodyPr/>
                    <a:lstStyle/>
                    <a:p>
                      <a:pPr algn="r"/>
                      <a:r>
                        <a:rPr sz="1050" b="0" i="0">
                          <a:solidFill>
                            <a:srgbClr val="1A2429"/>
                          </a:solidFill>
                          <a:latin typeface="Calibri"/>
                        </a:rPr>
                        <a:t>800–10,000</a:t>
                      </a:r>
                    </a:p>
                  </a:txBody>
                  <a:tcPr marL="54864" marR="54864" marT="9144" marB="9144" anchor="ctr">
                    <a:solidFill>
                      <a:srgbClr val="FFFFFF"/>
                    </a:solidFill>
                  </a:tcPr>
                </a:tc>
                <a:extLst>
                  <a:ext uri="{0D108BD9-81ED-4DB2-BD59-A6C34878D82A}">
                    <a16:rowId xmlns:a16="http://schemas.microsoft.com/office/drawing/2014/main" val="10001"/>
                  </a:ext>
                </a:extLst>
              </a:tr>
              <a:tr h="402336">
                <a:tc>
                  <a:txBody>
                    <a:bodyPr/>
                    <a:lstStyle/>
                    <a:p>
                      <a:pPr algn="l"/>
                      <a:r>
                        <a:rPr sz="1050" b="1" i="0">
                          <a:solidFill>
                            <a:srgbClr val="1A2429"/>
                          </a:solidFill>
                          <a:latin typeface="Calibri"/>
                        </a:rPr>
                        <a:t>Francis</a:t>
                      </a:r>
                    </a:p>
                  </a:txBody>
                  <a:tcPr marL="54864" marR="54864" marT="9144" marB="9144" anchor="ctr">
                    <a:solidFill>
                      <a:srgbClr val="ECF1F2"/>
                    </a:solidFill>
                  </a:tcPr>
                </a:tc>
                <a:tc>
                  <a:txBody>
                    <a:bodyPr/>
                    <a:lstStyle/>
                    <a:p>
                      <a:pPr algn="r"/>
                      <a:r>
                        <a:rPr sz="1050" b="0" i="0">
                          <a:solidFill>
                            <a:srgbClr val="1A2429"/>
                          </a:solidFill>
                          <a:latin typeface="Calibri"/>
                        </a:rPr>
                        <a:t>8,500</a:t>
                      </a:r>
                    </a:p>
                  </a:txBody>
                  <a:tcPr marL="54864" marR="54864" marT="9144" marB="9144" anchor="ctr">
                    <a:solidFill>
                      <a:srgbClr val="ECF1F2"/>
                    </a:solidFill>
                  </a:tcPr>
                </a:tc>
                <a:tc>
                  <a:txBody>
                    <a:bodyPr/>
                    <a:lstStyle/>
                    <a:p>
                      <a:pPr algn="r"/>
                      <a:r>
                        <a:rPr sz="1050" b="0" i="0">
                          <a:solidFill>
                            <a:srgbClr val="1A2429"/>
                          </a:solidFill>
                          <a:latin typeface="Calibri"/>
                        </a:rPr>
                        <a:t>-0.32</a:t>
                      </a:r>
                    </a:p>
                  </a:txBody>
                  <a:tcPr marL="54864" marR="54864" marT="9144" marB="9144" anchor="ctr">
                    <a:solidFill>
                      <a:srgbClr val="ECF1F2"/>
                    </a:solidFill>
                  </a:tcPr>
                </a:tc>
                <a:tc>
                  <a:txBody>
                    <a:bodyPr/>
                    <a:lstStyle/>
                    <a:p>
                      <a:pPr algn="r"/>
                      <a:r>
                        <a:rPr sz="1050" b="0" i="0">
                          <a:solidFill>
                            <a:srgbClr val="1A2429"/>
                          </a:solidFill>
                          <a:latin typeface="Calibri"/>
                        </a:rPr>
                        <a:t>1,800–9,000</a:t>
                      </a:r>
                    </a:p>
                  </a:txBody>
                  <a:tcPr marL="54864" marR="54864" marT="9144" marB="9144" anchor="ctr">
                    <a:solidFill>
                      <a:srgbClr val="ECF1F2"/>
                    </a:solidFill>
                  </a:tcPr>
                </a:tc>
                <a:extLst>
                  <a:ext uri="{0D108BD9-81ED-4DB2-BD59-A6C34878D82A}">
                    <a16:rowId xmlns:a16="http://schemas.microsoft.com/office/drawing/2014/main" val="10002"/>
                  </a:ext>
                </a:extLst>
              </a:tr>
              <a:tr h="402336">
                <a:tc>
                  <a:txBody>
                    <a:bodyPr/>
                    <a:lstStyle/>
                    <a:p>
                      <a:pPr algn="l"/>
                      <a:r>
                        <a:rPr sz="1050" b="1" i="0">
                          <a:solidFill>
                            <a:srgbClr val="1A2429"/>
                          </a:solidFill>
                          <a:latin typeface="Calibri"/>
                        </a:rPr>
                        <a:t>Pelton</a:t>
                      </a:r>
                    </a:p>
                  </a:txBody>
                  <a:tcPr marL="54864" marR="54864" marT="9144" marB="9144" anchor="ctr">
                    <a:solidFill>
                      <a:srgbClr val="FFFFFF"/>
                    </a:solidFill>
                  </a:tcPr>
                </a:tc>
                <a:tc>
                  <a:txBody>
                    <a:bodyPr/>
                    <a:lstStyle/>
                    <a:p>
                      <a:pPr algn="r"/>
                      <a:r>
                        <a:rPr sz="1050" b="0" i="0">
                          <a:solidFill>
                            <a:srgbClr val="1A2429"/>
                          </a:solidFill>
                          <a:latin typeface="Calibri"/>
                        </a:rPr>
                        <a:t>7,000</a:t>
                      </a:r>
                    </a:p>
                  </a:txBody>
                  <a:tcPr marL="54864" marR="54864" marT="9144" marB="9144" anchor="ctr">
                    <a:solidFill>
                      <a:srgbClr val="FFFFFF"/>
                    </a:solidFill>
                  </a:tcPr>
                </a:tc>
                <a:tc>
                  <a:txBody>
                    <a:bodyPr/>
                    <a:lstStyle/>
                    <a:p>
                      <a:pPr algn="r"/>
                      <a:r>
                        <a:rPr sz="1050" b="0" i="0">
                          <a:solidFill>
                            <a:srgbClr val="1A2429"/>
                          </a:solidFill>
                          <a:latin typeface="Calibri"/>
                        </a:rPr>
                        <a:t>-0.30</a:t>
                      </a:r>
                    </a:p>
                  </a:txBody>
                  <a:tcPr marL="54864" marR="54864" marT="9144" marB="9144" anchor="ctr">
                    <a:solidFill>
                      <a:srgbClr val="FFFFFF"/>
                    </a:solidFill>
                  </a:tcPr>
                </a:tc>
                <a:tc>
                  <a:txBody>
                    <a:bodyPr/>
                    <a:lstStyle/>
                    <a:p>
                      <a:pPr algn="r"/>
                      <a:r>
                        <a:rPr sz="1050" b="0" i="0">
                          <a:solidFill>
                            <a:srgbClr val="1A2429"/>
                          </a:solidFill>
                          <a:latin typeface="Calibri"/>
                        </a:rPr>
                        <a:t>600–8,000</a:t>
                      </a:r>
                    </a:p>
                  </a:txBody>
                  <a:tcPr marL="54864" marR="54864" marT="9144" marB="9144" anchor="ctr">
                    <a:solidFill>
                      <a:srgbClr val="FFFFFF"/>
                    </a:solidFill>
                  </a:tcPr>
                </a:tc>
                <a:extLst>
                  <a:ext uri="{0D108BD9-81ED-4DB2-BD59-A6C34878D82A}">
                    <a16:rowId xmlns:a16="http://schemas.microsoft.com/office/drawing/2014/main" val="10003"/>
                  </a:ext>
                </a:extLst>
              </a:tr>
              <a:tr h="402336">
                <a:tc>
                  <a:txBody>
                    <a:bodyPr/>
                    <a:lstStyle/>
                    <a:p>
                      <a:pPr algn="l"/>
                      <a:r>
                        <a:rPr sz="1050" b="1" i="0">
                          <a:solidFill>
                            <a:srgbClr val="1A2429"/>
                          </a:solidFill>
                          <a:latin typeface="Calibri"/>
                        </a:rPr>
                        <a:t>In-conduit</a:t>
                      </a:r>
                    </a:p>
                  </a:txBody>
                  <a:tcPr marL="54864" marR="54864" marT="9144" marB="9144" anchor="ctr">
                    <a:solidFill>
                      <a:srgbClr val="ECF1F2"/>
                    </a:solidFill>
                  </a:tcPr>
                </a:tc>
                <a:tc>
                  <a:txBody>
                    <a:bodyPr/>
                    <a:lstStyle/>
                    <a:p>
                      <a:pPr algn="r"/>
                      <a:r>
                        <a:rPr sz="1050" b="0" i="0">
                          <a:solidFill>
                            <a:srgbClr val="1A2429"/>
                          </a:solidFill>
                          <a:latin typeface="Calibri"/>
                        </a:rPr>
                        <a:t>20,283</a:t>
                      </a:r>
                    </a:p>
                  </a:txBody>
                  <a:tcPr marL="54864" marR="54864" marT="9144" marB="9144" anchor="ctr">
                    <a:solidFill>
                      <a:srgbClr val="ECF1F2"/>
                    </a:solidFill>
                  </a:tcPr>
                </a:tc>
                <a:tc>
                  <a:txBody>
                    <a:bodyPr/>
                    <a:lstStyle/>
                    <a:p>
                      <a:pPr algn="r"/>
                      <a:r>
                        <a:rPr sz="1050" b="0" i="0">
                          <a:solidFill>
                            <a:srgbClr val="1A2429"/>
                          </a:solidFill>
                          <a:latin typeface="Calibri"/>
                        </a:rPr>
                        <a:t>-0.181</a:t>
                      </a:r>
                    </a:p>
                  </a:txBody>
                  <a:tcPr marL="54864" marR="54864" marT="9144" marB="9144" anchor="ctr">
                    <a:solidFill>
                      <a:srgbClr val="ECF1F2"/>
                    </a:solidFill>
                  </a:tcPr>
                </a:tc>
                <a:tc>
                  <a:txBody>
                    <a:bodyPr/>
                    <a:lstStyle/>
                    <a:p>
                      <a:pPr algn="r"/>
                      <a:r>
                        <a:rPr sz="1050" b="0" i="0">
                          <a:solidFill>
                            <a:srgbClr val="1A2429"/>
                          </a:solidFill>
                          <a:latin typeface="Calibri"/>
                        </a:rPr>
                        <a:t>2,000–15,000</a:t>
                      </a:r>
                    </a:p>
                  </a:txBody>
                  <a:tcPr marL="54864" marR="54864" marT="9144" marB="9144" anchor="ctr">
                    <a:solidFill>
                      <a:srgbClr val="ECF1F2"/>
                    </a:solidFill>
                  </a:tcPr>
                </a:tc>
                <a:extLst>
                  <a:ext uri="{0D108BD9-81ED-4DB2-BD59-A6C34878D82A}">
                    <a16:rowId xmlns:a16="http://schemas.microsoft.com/office/drawing/2014/main" val="10004"/>
                  </a:ext>
                </a:extLst>
              </a:tr>
              <a:tr h="402336">
                <a:tc>
                  <a:txBody>
                    <a:bodyPr/>
                    <a:lstStyle/>
                    <a:p>
                      <a:pPr algn="l"/>
                      <a:r>
                        <a:rPr sz="1050" b="1" i="0">
                          <a:solidFill>
                            <a:srgbClr val="1A2429"/>
                          </a:solidFill>
                          <a:latin typeface="Calibri"/>
                        </a:rPr>
                        <a:t>Crossflow</a:t>
                      </a:r>
                    </a:p>
                  </a:txBody>
                  <a:tcPr marL="54864" marR="54864" marT="9144" marB="9144" anchor="ctr">
                    <a:solidFill>
                      <a:srgbClr val="FFFFFF"/>
                    </a:solidFill>
                  </a:tcPr>
                </a:tc>
                <a:tc>
                  <a:txBody>
                    <a:bodyPr/>
                    <a:lstStyle/>
                    <a:p>
                      <a:pPr algn="r"/>
                      <a:r>
                        <a:rPr sz="1050" b="0" i="0">
                          <a:solidFill>
                            <a:srgbClr val="1A2429"/>
                          </a:solidFill>
                          <a:latin typeface="Calibri"/>
                        </a:rPr>
                        <a:t>7,500</a:t>
                      </a:r>
                    </a:p>
                  </a:txBody>
                  <a:tcPr marL="54864" marR="54864" marT="9144" marB="9144" anchor="ctr">
                    <a:solidFill>
                      <a:srgbClr val="FFFFFF"/>
                    </a:solidFill>
                  </a:tcPr>
                </a:tc>
                <a:tc>
                  <a:txBody>
                    <a:bodyPr/>
                    <a:lstStyle/>
                    <a:p>
                      <a:pPr algn="r"/>
                      <a:r>
                        <a:rPr sz="1050" b="0" i="0">
                          <a:solidFill>
                            <a:srgbClr val="1A2429"/>
                          </a:solidFill>
                          <a:latin typeface="Calibri"/>
                        </a:rPr>
                        <a:t>-0.28</a:t>
                      </a:r>
                    </a:p>
                  </a:txBody>
                  <a:tcPr marL="54864" marR="54864" marT="9144" marB="9144" anchor="ctr">
                    <a:solidFill>
                      <a:srgbClr val="FFFFFF"/>
                    </a:solidFill>
                  </a:tcPr>
                </a:tc>
                <a:tc>
                  <a:txBody>
                    <a:bodyPr/>
                    <a:lstStyle/>
                    <a:p>
                      <a:pPr algn="r"/>
                      <a:r>
                        <a:rPr sz="1050" b="0" i="0">
                          <a:solidFill>
                            <a:srgbClr val="1A2429"/>
                          </a:solidFill>
                          <a:latin typeface="Calibri"/>
                        </a:rPr>
                        <a:t>500–6,000</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7726679" y="4023360"/>
            <a:ext cx="4023360" cy="1737360"/>
          </a:xfrm>
          <a:prstGeom prst="rect">
            <a:avLst/>
          </a:prstGeom>
          <a:noFill/>
        </p:spPr>
        <p:txBody>
          <a:bodyPr wrap="square" lIns="45720" tIns="18288" rIns="45720" bIns="18288" anchor="t">
            <a:spAutoFit/>
          </a:bodyPr>
          <a:lstStyle/>
          <a:p>
            <a:pPr>
              <a:spcAft>
                <a:spcPts val="500"/>
              </a:spcAft>
            </a:pPr>
            <a:r>
              <a:rPr sz="1150" b="1" i="0">
                <a:solidFill>
                  <a:srgbClr val="E89B1F"/>
                </a:solidFill>
                <a:latin typeface="Calibri"/>
              </a:rPr>
              <a:t>WHY 17.5% (not 2–5×)?</a:t>
            </a:r>
          </a:p>
        </p:txBody>
      </p:sp>
      <p:sp>
        <p:nvSpPr>
          <p:cNvPr id="10" name="TextBox 9"/>
          <p:cNvSpPr txBox="1"/>
          <p:nvPr/>
        </p:nvSpPr>
        <p:spPr>
          <a:xfrm>
            <a:off x="7726679" y="4315968"/>
            <a:ext cx="4023360" cy="1737360"/>
          </a:xfrm>
          <a:prstGeom prst="rect">
            <a:avLst/>
          </a:prstGeom>
          <a:noFill/>
        </p:spPr>
        <p:txBody>
          <a:bodyPr wrap="square" lIns="45720" tIns="18288" rIns="45720" bIns="18288" anchor="t">
            <a:spAutoFit/>
          </a:bodyPr>
          <a:lstStyle/>
          <a:p>
            <a:r>
              <a:rPr sz="1050" b="0" i="0">
                <a:solidFill>
                  <a:srgbClr val="1A2429"/>
                </a:solidFill>
                <a:latin typeface="Calibri"/>
              </a:rPr>
              <a:t>Literature “total installed = 2–5× equipment” bundles civil + interconnection + permitting + contingency. We model those as separate explicit lines, so our installation line is mechanical labor ONLY — hence far smaller. Real install quotes are unobtainable (gov procurement opacity), so % of equipment is the defensible proxy.</a:t>
            </a:r>
          </a:p>
        </p:txBody>
      </p:sp>
      <p:sp>
        <p:nvSpPr>
          <p:cNvPr id="11" name="Rectangle 10"/>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3" name="TextBox 12"/>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E89B1F"/>
                </a:solidFill>
                <a:latin typeface="Calibri"/>
              </a:rPr>
              <a:t>PHASE 4 · METHOD (FINANCE)</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30-year DCF scorecard</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371600"/>
            <a:ext cx="11091672" cy="1371600"/>
          </a:xfrm>
          <a:prstGeom prst="round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463040"/>
            <a:ext cx="10698480" cy="1188720"/>
          </a:xfrm>
          <a:prstGeom prst="rect">
            <a:avLst/>
          </a:prstGeom>
          <a:noFill/>
        </p:spPr>
        <p:txBody>
          <a:bodyPr wrap="square" lIns="45720" tIns="18288" rIns="45720" bIns="18288" anchor="ctr">
            <a:spAutoFit/>
          </a:bodyPr>
          <a:lstStyle/>
          <a:p>
            <a:pPr>
              <a:spcAft>
                <a:spcPts val="500"/>
              </a:spcAft>
            </a:pPr>
            <a:r>
              <a:rPr sz="1400" b="1" i="0">
                <a:solidFill>
                  <a:srgbClr val="FFFFFF"/>
                </a:solidFill>
                <a:latin typeface="Calibri"/>
              </a:rPr>
              <a:t>Revenueₜ = Energyₜ × (state $/kWh + REC $0.01)   ;   Energyₜ = E₁ × (1 − 0.002)^(t−1)</a:t>
            </a:r>
          </a:p>
          <a:p>
            <a:pPr>
              <a:spcAft>
                <a:spcPts val="500"/>
              </a:spcAft>
            </a:pPr>
            <a:r>
              <a:rPr sz="1250" b="1" i="0">
                <a:solidFill>
                  <a:srgbClr val="3A9AAE"/>
                </a:solidFill>
                <a:latin typeface="Calibri"/>
              </a:rPr>
              <a:t>NPV = −CapEx + Σ (Revenueₜ − OpEx) / (1 + 0.06)^t   over t = 1…30 yr</a:t>
            </a:r>
          </a:p>
          <a:p>
            <a:pPr>
              <a:spcAft>
                <a:spcPts val="500"/>
              </a:spcAft>
            </a:pPr>
            <a:r>
              <a:rPr sz="1250" b="0" i="0">
                <a:solidFill>
                  <a:srgbClr val="3A9AAE"/>
                </a:solidFill>
                <a:latin typeface="Calibri"/>
              </a:rPr>
              <a:t>IRR = discount rate where NPV = 0 (Brent solver)   ·   LCOE = (CapEx + PV OpEx) / PV Energy</a:t>
            </a:r>
          </a:p>
        </p:txBody>
      </p:sp>
      <p:sp>
        <p:nvSpPr>
          <p:cNvPr id="9" name="TextBox 8"/>
          <p:cNvSpPr txBox="1"/>
          <p:nvPr/>
        </p:nvSpPr>
        <p:spPr>
          <a:xfrm>
            <a:off x="548640" y="2926080"/>
            <a:ext cx="11064240" cy="4754880"/>
          </a:xfrm>
          <a:prstGeom prst="rect">
            <a:avLst/>
          </a:prstGeom>
          <a:noFill/>
        </p:spPr>
        <p:txBody>
          <a:bodyPr wrap="square" lIns="45720" tIns="18288" rIns="45720" bIns="18288" anchor="t">
            <a:spAutoFit/>
          </a:bodyPr>
          <a:lstStyle/>
          <a:p>
            <a:pPr>
              <a:spcBef>
                <a:spcPts val="0"/>
              </a:spcBef>
              <a:spcAft>
                <a:spcPts val="750"/>
              </a:spcAft>
            </a:pPr>
            <a:r>
              <a:rPr sz="1350" b="1" i="0">
                <a:solidFill>
                  <a:srgbClr val="126E82"/>
                </a:solidFill>
                <a:latin typeface="Calibri"/>
              </a:rPr>
              <a:t>▸  </a:t>
            </a:r>
            <a:r>
              <a:rPr sz="1350" b="1" i="0">
                <a:solidFill>
                  <a:srgbClr val="0C2D3A"/>
                </a:solidFill>
                <a:latin typeface="Calibri"/>
              </a:rPr>
              <a:t>Financial constants:</a:t>
            </a:r>
            <a:r>
              <a:rPr sz="1350" b="0" i="0">
                <a:solidFill>
                  <a:srgbClr val="1A2429"/>
                </a:solidFill>
                <a:latin typeface="Calibri"/>
              </a:rPr>
              <a:t> discount rate 6% · project life 30 yr · degradation 0.2%/yr · REC value $0.01/kWh · state industrial rates (EIA 2023, national avg $0.081/kWh).</a:t>
            </a:r>
          </a:p>
          <a:p>
            <a:pPr>
              <a:spcBef>
                <a:spcPts val="0"/>
              </a:spcBef>
              <a:spcAft>
                <a:spcPts val="750"/>
              </a:spcAft>
            </a:pPr>
            <a:r>
              <a:rPr sz="1350" b="1" i="0">
                <a:solidFill>
                  <a:srgbClr val="126E82"/>
                </a:solidFill>
                <a:latin typeface="Calibri"/>
              </a:rPr>
              <a:t>▸  </a:t>
            </a:r>
            <a:r>
              <a:rPr sz="1350" b="0" i="0">
                <a:solidFill>
                  <a:srgbClr val="1A2429"/>
                </a:solidFill>
                <a:latin typeface="Calibri"/>
              </a:rPr>
              <a:t>Viability gate (all three required): NPV &gt; 0  AND  payback ≤ 20 yr  AND  IRR is a real solver result (not a degenerate sentinel).</a:t>
            </a:r>
          </a:p>
          <a:p>
            <a:pPr>
              <a:spcBef>
                <a:spcPts val="0"/>
              </a:spcBef>
              <a:spcAft>
                <a:spcPts val="750"/>
              </a:spcAft>
            </a:pPr>
            <a:r>
              <a:rPr sz="1350" b="1" i="0">
                <a:solidFill>
                  <a:srgbClr val="126E82"/>
                </a:solidFill>
                <a:latin typeface="Calibri"/>
              </a:rPr>
              <a:t>▸  </a:t>
            </a:r>
            <a:r>
              <a:rPr sz="1350" b="0" i="0">
                <a:solidFill>
                  <a:srgbClr val="1A2429"/>
                </a:solidFill>
                <a:latin typeface="Calibri"/>
              </a:rPr>
              <a:t>A 50%-grant NPV scenario is computed alongside (most municipal hydro is grant-supported) — reported but not used for the base viability call.</a:t>
            </a:r>
          </a:p>
          <a:p>
            <a:pPr>
              <a:spcBef>
                <a:spcPts val="0"/>
              </a:spcBef>
              <a:spcAft>
                <a:spcPts val="750"/>
              </a:spcAft>
            </a:pPr>
            <a:r>
              <a:rPr sz="1350" b="1" i="0">
                <a:solidFill>
                  <a:srgbClr val="126E82"/>
                </a:solidFill>
                <a:latin typeface="Calibri"/>
              </a:rPr>
              <a:t>▸  </a:t>
            </a:r>
            <a:r>
              <a:rPr sz="1350" b="0" i="0">
                <a:solidFill>
                  <a:srgbClr val="1A2429"/>
                </a:solidFill>
                <a:latin typeface="Calibri"/>
              </a:rPr>
              <a:t>Design decision (director, Jun 2026): the old $20k/yr minimum-revenue floor was removed — viability is now pure economics. The lever remains in config, reversible with no code change.</a:t>
            </a:r>
          </a:p>
        </p:txBody>
      </p:sp>
      <p:sp>
        <p:nvSpPr>
          <p:cNvPr id="10" name="Rectangle 9"/>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2" name="TextBox 11"/>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E89B1F"/>
                </a:solidFill>
                <a:latin typeface="Calibri"/>
              </a:rPr>
              <a:t>PHASE 4 · RESULTS</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1,141 investment-ready sites @ 17.5% install</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08760"/>
            <a:ext cx="2695194" cy="11887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508760"/>
            <a:ext cx="2695194" cy="1097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691640"/>
            <a:ext cx="2512314" cy="914400"/>
          </a:xfrm>
          <a:prstGeom prst="rect">
            <a:avLst/>
          </a:prstGeom>
          <a:noFill/>
        </p:spPr>
        <p:txBody>
          <a:bodyPr wrap="square" lIns="45720" tIns="18288" rIns="45720" bIns="18288" anchor="ctr">
            <a:spAutoFit/>
          </a:bodyPr>
          <a:lstStyle/>
          <a:p>
            <a:pPr algn="ctr"/>
            <a:r>
              <a:rPr sz="3000" b="1" i="0">
                <a:solidFill>
                  <a:srgbClr val="2E9E5B"/>
                </a:solidFill>
                <a:latin typeface="Calibri"/>
              </a:rPr>
              <a:t>1,141</a:t>
            </a:r>
          </a:p>
          <a:p>
            <a:pPr algn="ctr">
              <a:spcBef>
                <a:spcPts val="200"/>
              </a:spcBef>
            </a:pPr>
            <a:r>
              <a:rPr sz="1100" b="1" i="0">
                <a:solidFill>
                  <a:srgbClr val="5C6B70"/>
                </a:solidFill>
                <a:latin typeface="Calibri"/>
              </a:rPr>
              <a:t>investment-ready sites</a:t>
            </a:r>
          </a:p>
        </p:txBody>
      </p:sp>
      <p:sp>
        <p:nvSpPr>
          <p:cNvPr id="10" name="Rounded Rectangle 9"/>
          <p:cNvSpPr/>
          <p:nvPr/>
        </p:nvSpPr>
        <p:spPr>
          <a:xfrm>
            <a:off x="3316986" y="1508760"/>
            <a:ext cx="2695194" cy="11887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16986" y="1508760"/>
            <a:ext cx="2695194" cy="1097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08426" y="1691640"/>
            <a:ext cx="2512314" cy="914400"/>
          </a:xfrm>
          <a:prstGeom prst="rect">
            <a:avLst/>
          </a:prstGeom>
          <a:noFill/>
        </p:spPr>
        <p:txBody>
          <a:bodyPr wrap="square" lIns="45720" tIns="18288" rIns="45720" bIns="18288" anchor="ctr">
            <a:spAutoFit/>
          </a:bodyPr>
          <a:lstStyle/>
          <a:p>
            <a:pPr algn="ctr"/>
            <a:r>
              <a:rPr sz="3000" b="1" i="0">
                <a:solidFill>
                  <a:srgbClr val="126E82"/>
                </a:solidFill>
                <a:latin typeface="Calibri"/>
              </a:rPr>
              <a:t>409.1 GWh</a:t>
            </a:r>
          </a:p>
          <a:p>
            <a:pPr algn="ctr">
              <a:spcBef>
                <a:spcPts val="200"/>
              </a:spcBef>
            </a:pPr>
            <a:r>
              <a:rPr sz="1100" b="1" i="0">
                <a:solidFill>
                  <a:srgbClr val="5C6B70"/>
                </a:solidFill>
                <a:latin typeface="Calibri"/>
              </a:rPr>
              <a:t>annual recoverable energy</a:t>
            </a:r>
          </a:p>
        </p:txBody>
      </p:sp>
      <p:sp>
        <p:nvSpPr>
          <p:cNvPr id="13" name="Rounded Rectangle 12"/>
          <p:cNvSpPr/>
          <p:nvPr/>
        </p:nvSpPr>
        <p:spPr>
          <a:xfrm>
            <a:off x="6176772" y="1508760"/>
            <a:ext cx="2695194" cy="11887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6772" y="1508760"/>
            <a:ext cx="2695194" cy="1097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8212" y="1691640"/>
            <a:ext cx="2512314" cy="914400"/>
          </a:xfrm>
          <a:prstGeom prst="rect">
            <a:avLst/>
          </a:prstGeom>
          <a:noFill/>
        </p:spPr>
        <p:txBody>
          <a:bodyPr wrap="square" lIns="45720" tIns="18288" rIns="45720" bIns="18288" anchor="ctr">
            <a:spAutoFit/>
          </a:bodyPr>
          <a:lstStyle/>
          <a:p>
            <a:pPr algn="ctr"/>
            <a:r>
              <a:rPr sz="3000" b="1" i="0">
                <a:solidFill>
                  <a:srgbClr val="E89B1F"/>
                </a:solidFill>
                <a:latin typeface="Calibri"/>
              </a:rPr>
              <a:t>9.8 yr</a:t>
            </a:r>
          </a:p>
          <a:p>
            <a:pPr algn="ctr">
              <a:spcBef>
                <a:spcPts val="200"/>
              </a:spcBef>
            </a:pPr>
            <a:r>
              <a:rPr sz="1100" b="1" i="0">
                <a:solidFill>
                  <a:srgbClr val="5C6B70"/>
                </a:solidFill>
                <a:latin typeface="Calibri"/>
              </a:rPr>
              <a:t>median payback</a:t>
            </a:r>
          </a:p>
        </p:txBody>
      </p:sp>
      <p:sp>
        <p:nvSpPr>
          <p:cNvPr id="16" name="Rounded Rectangle 15"/>
          <p:cNvSpPr/>
          <p:nvPr/>
        </p:nvSpPr>
        <p:spPr>
          <a:xfrm>
            <a:off x="9036558" y="1508760"/>
            <a:ext cx="2695194" cy="11887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036558" y="1508760"/>
            <a:ext cx="2695194" cy="109728"/>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27998" y="1691640"/>
            <a:ext cx="2512314" cy="914400"/>
          </a:xfrm>
          <a:prstGeom prst="rect">
            <a:avLst/>
          </a:prstGeom>
          <a:noFill/>
        </p:spPr>
        <p:txBody>
          <a:bodyPr wrap="square" lIns="45720" tIns="18288" rIns="45720" bIns="18288" anchor="ctr">
            <a:spAutoFit/>
          </a:bodyPr>
          <a:lstStyle/>
          <a:p>
            <a:pPr algn="ctr"/>
            <a:r>
              <a:rPr sz="3000" b="1" i="0">
                <a:solidFill>
                  <a:srgbClr val="3A9AAE"/>
                </a:solidFill>
                <a:latin typeface="Calibri"/>
              </a:rPr>
              <a:t>9.4%</a:t>
            </a:r>
          </a:p>
          <a:p>
            <a:pPr algn="ctr">
              <a:spcBef>
                <a:spcPts val="200"/>
              </a:spcBef>
            </a:pPr>
            <a:r>
              <a:rPr sz="1100" b="1" i="0">
                <a:solidFill>
                  <a:srgbClr val="5C6B70"/>
                </a:solidFill>
                <a:latin typeface="Calibri"/>
              </a:rPr>
              <a:t>median IRR</a:t>
            </a:r>
          </a:p>
        </p:txBody>
      </p:sp>
      <p:graphicFrame>
        <p:nvGraphicFramePr>
          <p:cNvPr id="19" name="Table 18"/>
          <p:cNvGraphicFramePr>
            <a:graphicFrameLocks noGrp="1"/>
          </p:cNvGraphicFramePr>
          <p:nvPr/>
        </p:nvGraphicFramePr>
        <p:xfrm>
          <a:off x="502920" y="2971800"/>
          <a:ext cx="5852158" cy="2523744"/>
        </p:xfrm>
        <a:graphic>
          <a:graphicData uri="http://schemas.openxmlformats.org/drawingml/2006/table">
            <a:tbl>
              <a:tblPr>
                <a:tableStyleId>{5C22544A-7EE6-4342-B048-85BDC9FD1C3A}</a:tableStyleId>
              </a:tblPr>
              <a:tblGrid>
                <a:gridCol w="2208362">
                  <a:extLst>
                    <a:ext uri="{9D8B030D-6E8A-4147-A177-3AD203B41FA5}">
                      <a16:colId xmlns:a16="http://schemas.microsoft.com/office/drawing/2014/main" val="20000"/>
                    </a:ext>
                  </a:extLst>
                </a:gridCol>
                <a:gridCol w="883344">
                  <a:extLst>
                    <a:ext uri="{9D8B030D-6E8A-4147-A177-3AD203B41FA5}">
                      <a16:colId xmlns:a16="http://schemas.microsoft.com/office/drawing/2014/main" val="20001"/>
                    </a:ext>
                  </a:extLst>
                </a:gridCol>
                <a:gridCol w="2760452">
                  <a:extLst>
                    <a:ext uri="{9D8B030D-6E8A-4147-A177-3AD203B41FA5}">
                      <a16:colId xmlns:a16="http://schemas.microsoft.com/office/drawing/2014/main" val="20002"/>
                    </a:ext>
                  </a:extLst>
                </a:gridCol>
              </a:tblGrid>
              <a:tr h="420624">
                <a:tc>
                  <a:txBody>
                    <a:bodyPr/>
                    <a:lstStyle/>
                    <a:p>
                      <a:pPr algn="l"/>
                      <a:r>
                        <a:rPr sz="1100" b="1" i="0">
                          <a:solidFill>
                            <a:srgbClr val="FFFFFF"/>
                          </a:solidFill>
                          <a:latin typeface="Calibri"/>
                        </a:rPr>
                        <a:t>CapEx component</a:t>
                      </a:r>
                    </a:p>
                  </a:txBody>
                  <a:tcPr marL="54864" marR="54864" marT="18288" marB="18288" anchor="ctr">
                    <a:solidFill>
                      <a:srgbClr val="0C2D3A"/>
                    </a:solidFill>
                  </a:tcPr>
                </a:tc>
                <a:tc>
                  <a:txBody>
                    <a:bodyPr/>
                    <a:lstStyle/>
                    <a:p>
                      <a:pPr algn="r"/>
                      <a:r>
                        <a:rPr sz="1100" b="1" i="0">
                          <a:solidFill>
                            <a:srgbClr val="FFFFFF"/>
                          </a:solidFill>
                          <a:latin typeface="Calibri"/>
                        </a:rPr>
                        <a:t>$M</a:t>
                      </a:r>
                    </a:p>
                  </a:txBody>
                  <a:tcPr marL="54864" marR="54864" marT="18288" marB="18288" anchor="ctr">
                    <a:solidFill>
                      <a:srgbClr val="0C2D3A"/>
                    </a:solidFill>
                  </a:tcPr>
                </a:tc>
                <a:tc>
                  <a:txBody>
                    <a:bodyPr/>
                    <a:lstStyle/>
                    <a:p>
                      <a:pPr algn="l"/>
                      <a:r>
                        <a:rPr sz="1100" b="1" i="0">
                          <a:solidFill>
                            <a:srgbClr val="FFFFFF"/>
                          </a:solidFill>
                          <a:latin typeface="Calibri"/>
                        </a:rPr>
                        <a:t>Note</a:t>
                      </a:r>
                    </a:p>
                  </a:txBody>
                  <a:tcPr marL="54864" marR="54864" marT="18288" marB="18288" anchor="ctr">
                    <a:solidFill>
                      <a:srgbClr val="0C2D3A"/>
                    </a:solidFill>
                  </a:tcPr>
                </a:tc>
                <a:extLst>
                  <a:ext uri="{0D108BD9-81ED-4DB2-BD59-A6C34878D82A}">
                    <a16:rowId xmlns:a16="http://schemas.microsoft.com/office/drawing/2014/main" val="10000"/>
                  </a:ext>
                </a:extLst>
              </a:tr>
              <a:tr h="420624">
                <a:tc>
                  <a:txBody>
                    <a:bodyPr/>
                    <a:lstStyle/>
                    <a:p>
                      <a:pPr algn="l"/>
                      <a:r>
                        <a:rPr sz="1150" b="1" i="0">
                          <a:solidFill>
                            <a:srgbClr val="1A2429"/>
                          </a:solidFill>
                          <a:latin typeface="Calibri"/>
                        </a:rPr>
                        <a:t>Equipment</a:t>
                      </a:r>
                    </a:p>
                  </a:txBody>
                  <a:tcPr marL="54864" marR="54864" marT="9144" marB="9144" anchor="ctr">
                    <a:solidFill>
                      <a:srgbClr val="FFFFFF"/>
                    </a:solidFill>
                  </a:tcPr>
                </a:tc>
                <a:tc>
                  <a:txBody>
                    <a:bodyPr/>
                    <a:lstStyle/>
                    <a:p>
                      <a:pPr algn="r"/>
                      <a:r>
                        <a:rPr sz="1150" b="0" i="0">
                          <a:solidFill>
                            <a:srgbClr val="1A2429"/>
                          </a:solidFill>
                          <a:latin typeface="Calibri"/>
                        </a:rPr>
                        <a:t>181.6</a:t>
                      </a:r>
                    </a:p>
                  </a:txBody>
                  <a:tcPr marL="54864" marR="54864" marT="9144" marB="9144" anchor="ctr">
                    <a:solidFill>
                      <a:srgbClr val="FFFFFF"/>
                    </a:solidFill>
                  </a:tcPr>
                </a:tc>
                <a:tc>
                  <a:txBody>
                    <a:bodyPr/>
                    <a:lstStyle/>
                    <a:p>
                      <a:pPr algn="l"/>
                      <a:r>
                        <a:rPr sz="1150" b="0" i="0">
                          <a:solidFill>
                            <a:srgbClr val="1A2429"/>
                          </a:solidFill>
                          <a:latin typeface="Calibri"/>
                        </a:rPr>
                        <a:t>Power-law, vendor-band clamped</a:t>
                      </a:r>
                    </a:p>
                  </a:txBody>
                  <a:tcPr marL="54864" marR="54864" marT="9144" marB="9144" anchor="ctr">
                    <a:solidFill>
                      <a:srgbClr val="FFFFFF"/>
                    </a:solidFill>
                  </a:tcPr>
                </a:tc>
                <a:extLst>
                  <a:ext uri="{0D108BD9-81ED-4DB2-BD59-A6C34878D82A}">
                    <a16:rowId xmlns:a16="http://schemas.microsoft.com/office/drawing/2014/main" val="10001"/>
                  </a:ext>
                </a:extLst>
              </a:tr>
              <a:tr h="420624">
                <a:tc>
                  <a:txBody>
                    <a:bodyPr/>
                    <a:lstStyle/>
                    <a:p>
                      <a:pPr algn="l"/>
                      <a:r>
                        <a:rPr sz="1150" b="1" i="0">
                          <a:solidFill>
                            <a:srgbClr val="1A2429"/>
                          </a:solidFill>
                          <a:latin typeface="Calibri"/>
                        </a:rPr>
                        <a:t>Installation</a:t>
                      </a:r>
                    </a:p>
                  </a:txBody>
                  <a:tcPr marL="54864" marR="54864" marT="9144" marB="9144" anchor="ctr">
                    <a:solidFill>
                      <a:srgbClr val="ECF1F2"/>
                    </a:solidFill>
                  </a:tcPr>
                </a:tc>
                <a:tc>
                  <a:txBody>
                    <a:bodyPr/>
                    <a:lstStyle/>
                    <a:p>
                      <a:pPr algn="r"/>
                      <a:r>
                        <a:rPr sz="1150" b="0" i="0">
                          <a:solidFill>
                            <a:srgbClr val="1A2429"/>
                          </a:solidFill>
                          <a:latin typeface="Calibri"/>
                        </a:rPr>
                        <a:t>31.8</a:t>
                      </a:r>
                    </a:p>
                  </a:txBody>
                  <a:tcPr marL="54864" marR="54864" marT="9144" marB="9144" anchor="ctr">
                    <a:solidFill>
                      <a:srgbClr val="ECF1F2"/>
                    </a:solidFill>
                  </a:tcPr>
                </a:tc>
                <a:tc>
                  <a:txBody>
                    <a:bodyPr/>
                    <a:lstStyle/>
                    <a:p>
                      <a:pPr algn="l"/>
                      <a:r>
                        <a:rPr sz="1150" b="0" i="0">
                          <a:solidFill>
                            <a:srgbClr val="1A2429"/>
                          </a:solidFill>
                          <a:latin typeface="Calibri"/>
                        </a:rPr>
                        <a:t>= equipment × 0.175 (labor)</a:t>
                      </a:r>
                    </a:p>
                  </a:txBody>
                  <a:tcPr marL="54864" marR="54864" marT="9144" marB="9144" anchor="ctr">
                    <a:solidFill>
                      <a:srgbClr val="ECF1F2"/>
                    </a:solidFill>
                  </a:tcPr>
                </a:tc>
                <a:extLst>
                  <a:ext uri="{0D108BD9-81ED-4DB2-BD59-A6C34878D82A}">
                    <a16:rowId xmlns:a16="http://schemas.microsoft.com/office/drawing/2014/main" val="10002"/>
                  </a:ext>
                </a:extLst>
              </a:tr>
              <a:tr h="420624">
                <a:tc>
                  <a:txBody>
                    <a:bodyPr/>
                    <a:lstStyle/>
                    <a:p>
                      <a:pPr algn="l"/>
                      <a:r>
                        <a:rPr sz="1150" b="1" i="0">
                          <a:solidFill>
                            <a:srgbClr val="1A2429"/>
                          </a:solidFill>
                          <a:latin typeface="Calibri"/>
                        </a:rPr>
                        <a:t>Interconnection</a:t>
                      </a:r>
                    </a:p>
                  </a:txBody>
                  <a:tcPr marL="54864" marR="54864" marT="9144" marB="9144" anchor="ctr">
                    <a:solidFill>
                      <a:srgbClr val="FFFFFF"/>
                    </a:solidFill>
                  </a:tcPr>
                </a:tc>
                <a:tc>
                  <a:txBody>
                    <a:bodyPr/>
                    <a:lstStyle/>
                    <a:p>
                      <a:pPr algn="r"/>
                      <a:r>
                        <a:rPr sz="1150" b="0" i="0">
                          <a:solidFill>
                            <a:srgbClr val="1A2429"/>
                          </a:solidFill>
                          <a:latin typeface="Calibri"/>
                        </a:rPr>
                        <a:t>82.8</a:t>
                      </a:r>
                    </a:p>
                  </a:txBody>
                  <a:tcPr marL="54864" marR="54864" marT="9144" marB="9144" anchor="ctr">
                    <a:solidFill>
                      <a:srgbClr val="FFFFFF"/>
                    </a:solidFill>
                  </a:tcPr>
                </a:tc>
                <a:tc>
                  <a:txBody>
                    <a:bodyPr/>
                    <a:lstStyle/>
                    <a:p>
                      <a:pPr algn="l"/>
                      <a:r>
                        <a:rPr sz="1150" b="0" i="0">
                          <a:solidFill>
                            <a:srgbClr val="1A2429"/>
                          </a:solidFill>
                          <a:latin typeface="Calibri"/>
                        </a:rPr>
                        <a:t>Tiered by kW</a:t>
                      </a:r>
                    </a:p>
                  </a:txBody>
                  <a:tcPr marL="54864" marR="54864" marT="9144" marB="9144" anchor="ctr">
                    <a:solidFill>
                      <a:srgbClr val="FFFFFF"/>
                    </a:solidFill>
                  </a:tcPr>
                </a:tc>
                <a:extLst>
                  <a:ext uri="{0D108BD9-81ED-4DB2-BD59-A6C34878D82A}">
                    <a16:rowId xmlns:a16="http://schemas.microsoft.com/office/drawing/2014/main" val="10003"/>
                  </a:ext>
                </a:extLst>
              </a:tr>
              <a:tr h="420624">
                <a:tc>
                  <a:txBody>
                    <a:bodyPr/>
                    <a:lstStyle/>
                    <a:p>
                      <a:pPr algn="l"/>
                      <a:r>
                        <a:rPr sz="1150" b="1" i="0">
                          <a:solidFill>
                            <a:srgbClr val="1A2429"/>
                          </a:solidFill>
                          <a:latin typeface="Calibri"/>
                        </a:rPr>
                        <a:t>Permitting</a:t>
                      </a:r>
                    </a:p>
                  </a:txBody>
                  <a:tcPr marL="54864" marR="54864" marT="9144" marB="9144" anchor="ctr">
                    <a:solidFill>
                      <a:srgbClr val="ECF1F2"/>
                    </a:solidFill>
                  </a:tcPr>
                </a:tc>
                <a:tc>
                  <a:txBody>
                    <a:bodyPr/>
                    <a:lstStyle/>
                    <a:p>
                      <a:pPr algn="r"/>
                      <a:r>
                        <a:rPr sz="1150" b="0" i="0">
                          <a:solidFill>
                            <a:srgbClr val="1A2429"/>
                          </a:solidFill>
                          <a:latin typeface="Calibri"/>
                        </a:rPr>
                        <a:t>57.3</a:t>
                      </a:r>
                    </a:p>
                  </a:txBody>
                  <a:tcPr marL="54864" marR="54864" marT="9144" marB="9144" anchor="ctr">
                    <a:solidFill>
                      <a:srgbClr val="ECF1F2"/>
                    </a:solidFill>
                  </a:tcPr>
                </a:tc>
                <a:tc>
                  <a:txBody>
                    <a:bodyPr/>
                    <a:lstStyle/>
                    <a:p>
                      <a:pPr algn="l"/>
                      <a:r>
                        <a:rPr sz="1150" b="0" i="0">
                          <a:solidFill>
                            <a:srgbClr val="1A2429"/>
                          </a:solidFill>
                          <a:latin typeface="Calibri"/>
                        </a:rPr>
                        <a:t>FERC conduit / abbrev. / NEPA</a:t>
                      </a:r>
                    </a:p>
                  </a:txBody>
                  <a:tcPr marL="54864" marR="54864" marT="9144" marB="9144" anchor="ctr">
                    <a:solidFill>
                      <a:srgbClr val="ECF1F2"/>
                    </a:solidFill>
                  </a:tcPr>
                </a:tc>
                <a:extLst>
                  <a:ext uri="{0D108BD9-81ED-4DB2-BD59-A6C34878D82A}">
                    <a16:rowId xmlns:a16="http://schemas.microsoft.com/office/drawing/2014/main" val="10004"/>
                  </a:ext>
                </a:extLst>
              </a:tr>
              <a:tr h="420624">
                <a:tc>
                  <a:txBody>
                    <a:bodyPr/>
                    <a:lstStyle/>
                    <a:p>
                      <a:pPr algn="l"/>
                      <a:r>
                        <a:rPr sz="1150" b="1" i="0">
                          <a:solidFill>
                            <a:srgbClr val="1A2429"/>
                          </a:solidFill>
                          <a:latin typeface="Calibri"/>
                        </a:rPr>
                        <a:t>Total project CapEx</a:t>
                      </a:r>
                    </a:p>
                  </a:txBody>
                  <a:tcPr marL="54864" marR="54864" marT="9144" marB="9144" anchor="ctr">
                    <a:solidFill>
                      <a:srgbClr val="FFFFFF"/>
                    </a:solidFill>
                  </a:tcPr>
                </a:tc>
                <a:tc>
                  <a:txBody>
                    <a:bodyPr/>
                    <a:lstStyle/>
                    <a:p>
                      <a:pPr algn="r"/>
                      <a:r>
                        <a:rPr sz="1150" b="0" i="0">
                          <a:solidFill>
                            <a:srgbClr val="1A2429"/>
                          </a:solidFill>
                          <a:latin typeface="Calibri"/>
                        </a:rPr>
                        <a:t>353.5</a:t>
                      </a:r>
                    </a:p>
                  </a:txBody>
                  <a:tcPr marL="54864" marR="54864" marT="9144" marB="9144" anchor="ctr">
                    <a:solidFill>
                      <a:srgbClr val="FFFFFF"/>
                    </a:solidFill>
                  </a:tcPr>
                </a:tc>
                <a:tc>
                  <a:txBody>
                    <a:bodyPr/>
                    <a:lstStyle/>
                    <a:p>
                      <a:pPr algn="l"/>
                      <a:r>
                        <a:rPr sz="1150" b="0" i="0">
                          <a:solidFill>
                            <a:srgbClr val="1A2429"/>
                          </a:solidFill>
                          <a:latin typeface="Calibri"/>
                        </a:rPr>
                        <a:t>4-line sum</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20" name="Table 19"/>
          <p:cNvGraphicFramePr>
            <a:graphicFrameLocks noGrp="1"/>
          </p:cNvGraphicFramePr>
          <p:nvPr/>
        </p:nvGraphicFramePr>
        <p:xfrm>
          <a:off x="6537960" y="2971800"/>
          <a:ext cx="5166356" cy="2523744"/>
        </p:xfrm>
        <a:graphic>
          <a:graphicData uri="http://schemas.openxmlformats.org/drawingml/2006/table">
            <a:tbl>
              <a:tblPr>
                <a:tableStyleId>{5C22544A-7EE6-4342-B048-85BDC9FD1C3A}</a:tableStyleId>
              </a:tblPr>
              <a:tblGrid>
                <a:gridCol w="1990707">
                  <a:extLst>
                    <a:ext uri="{9D8B030D-6E8A-4147-A177-3AD203B41FA5}">
                      <a16:colId xmlns:a16="http://schemas.microsoft.com/office/drawing/2014/main" val="20000"/>
                    </a:ext>
                  </a:extLst>
                </a:gridCol>
                <a:gridCol w="473977">
                  <a:extLst>
                    <a:ext uri="{9D8B030D-6E8A-4147-A177-3AD203B41FA5}">
                      <a16:colId xmlns:a16="http://schemas.microsoft.com/office/drawing/2014/main" val="20001"/>
                    </a:ext>
                  </a:extLst>
                </a:gridCol>
                <a:gridCol w="758364">
                  <a:extLst>
                    <a:ext uri="{9D8B030D-6E8A-4147-A177-3AD203B41FA5}">
                      <a16:colId xmlns:a16="http://schemas.microsoft.com/office/drawing/2014/main" val="20002"/>
                    </a:ext>
                  </a:extLst>
                </a:gridCol>
                <a:gridCol w="758364">
                  <a:extLst>
                    <a:ext uri="{9D8B030D-6E8A-4147-A177-3AD203B41FA5}">
                      <a16:colId xmlns:a16="http://schemas.microsoft.com/office/drawing/2014/main" val="20003"/>
                    </a:ext>
                  </a:extLst>
                </a:gridCol>
                <a:gridCol w="568773">
                  <a:extLst>
                    <a:ext uri="{9D8B030D-6E8A-4147-A177-3AD203B41FA5}">
                      <a16:colId xmlns:a16="http://schemas.microsoft.com/office/drawing/2014/main" val="20004"/>
                    </a:ext>
                  </a:extLst>
                </a:gridCol>
                <a:gridCol w="616171">
                  <a:extLst>
                    <a:ext uri="{9D8B030D-6E8A-4147-A177-3AD203B41FA5}">
                      <a16:colId xmlns:a16="http://schemas.microsoft.com/office/drawing/2014/main" val="20005"/>
                    </a:ext>
                  </a:extLst>
                </a:gridCol>
              </a:tblGrid>
              <a:tr h="420624">
                <a:tc>
                  <a:txBody>
                    <a:bodyPr/>
                    <a:lstStyle/>
                    <a:p>
                      <a:pPr algn="l"/>
                      <a:r>
                        <a:rPr sz="1100" b="1" i="0">
                          <a:solidFill>
                            <a:srgbClr val="FFFFFF"/>
                          </a:solidFill>
                          <a:latin typeface="Calibri"/>
                        </a:rPr>
                        <a:t>Top site</a:t>
                      </a:r>
                    </a:p>
                  </a:txBody>
                  <a:tcPr marL="54864" marR="54864" marT="18288" marB="18288" anchor="ctr">
                    <a:solidFill>
                      <a:srgbClr val="0C2D3A"/>
                    </a:solidFill>
                  </a:tcPr>
                </a:tc>
                <a:tc>
                  <a:txBody>
                    <a:bodyPr/>
                    <a:lstStyle/>
                    <a:p>
                      <a:pPr algn="ctr"/>
                      <a:r>
                        <a:rPr sz="1100" b="1" i="0">
                          <a:solidFill>
                            <a:srgbClr val="FFFFFF"/>
                          </a:solidFill>
                          <a:latin typeface="Calibri"/>
                        </a:rPr>
                        <a:t>ST</a:t>
                      </a:r>
                    </a:p>
                  </a:txBody>
                  <a:tcPr marL="54864" marR="54864" marT="18288" marB="18288" anchor="ctr">
                    <a:solidFill>
                      <a:srgbClr val="0C2D3A"/>
                    </a:solidFill>
                  </a:tcPr>
                </a:tc>
                <a:tc>
                  <a:txBody>
                    <a:bodyPr/>
                    <a:lstStyle/>
                    <a:p>
                      <a:pPr algn="r"/>
                      <a:r>
                        <a:rPr sz="1100" b="1" i="0">
                          <a:solidFill>
                            <a:srgbClr val="FFFFFF"/>
                          </a:solidFill>
                          <a:latin typeface="Calibri"/>
                        </a:rPr>
                        <a:t>kW</a:t>
                      </a:r>
                    </a:p>
                  </a:txBody>
                  <a:tcPr marL="54864" marR="54864" marT="18288" marB="18288" anchor="ctr">
                    <a:solidFill>
                      <a:srgbClr val="0C2D3A"/>
                    </a:solidFill>
                  </a:tcPr>
                </a:tc>
                <a:tc>
                  <a:txBody>
                    <a:bodyPr/>
                    <a:lstStyle/>
                    <a:p>
                      <a:pPr algn="r"/>
                      <a:r>
                        <a:rPr sz="1100" b="1" i="0">
                          <a:solidFill>
                            <a:srgbClr val="FFFFFF"/>
                          </a:solidFill>
                          <a:latin typeface="Calibri"/>
                        </a:rPr>
                        <a:t>GWh/yr</a:t>
                      </a:r>
                    </a:p>
                  </a:txBody>
                  <a:tcPr marL="54864" marR="54864" marT="18288" marB="18288" anchor="ctr">
                    <a:solidFill>
                      <a:srgbClr val="0C2D3A"/>
                    </a:solidFill>
                  </a:tcPr>
                </a:tc>
                <a:tc>
                  <a:txBody>
                    <a:bodyPr/>
                    <a:lstStyle/>
                    <a:p>
                      <a:pPr algn="r"/>
                      <a:r>
                        <a:rPr sz="1100" b="1" i="0">
                          <a:solidFill>
                            <a:srgbClr val="FFFFFF"/>
                          </a:solidFill>
                          <a:latin typeface="Calibri"/>
                        </a:rPr>
                        <a:t>Pay</a:t>
                      </a:r>
                    </a:p>
                  </a:txBody>
                  <a:tcPr marL="54864" marR="54864" marT="18288" marB="18288" anchor="ctr">
                    <a:solidFill>
                      <a:srgbClr val="0C2D3A"/>
                    </a:solidFill>
                  </a:tcPr>
                </a:tc>
                <a:tc>
                  <a:txBody>
                    <a:bodyPr/>
                    <a:lstStyle/>
                    <a:p>
                      <a:pPr algn="r"/>
                      <a:r>
                        <a:rPr sz="1100" b="1" i="0">
                          <a:solidFill>
                            <a:srgbClr val="FFFFFF"/>
                          </a:solidFill>
                          <a:latin typeface="Calibri"/>
                        </a:rPr>
                        <a:t>IRR</a:t>
                      </a:r>
                    </a:p>
                  </a:txBody>
                  <a:tcPr marL="54864" marR="54864" marT="18288" marB="18288" anchor="ctr">
                    <a:solidFill>
                      <a:srgbClr val="0C2D3A"/>
                    </a:solidFill>
                  </a:tcPr>
                </a:tc>
                <a:extLst>
                  <a:ext uri="{0D108BD9-81ED-4DB2-BD59-A6C34878D82A}">
                    <a16:rowId xmlns:a16="http://schemas.microsoft.com/office/drawing/2014/main" val="10000"/>
                  </a:ext>
                </a:extLst>
              </a:tr>
              <a:tr h="420624">
                <a:tc>
                  <a:txBody>
                    <a:bodyPr/>
                    <a:lstStyle/>
                    <a:p>
                      <a:pPr algn="l"/>
                      <a:r>
                        <a:rPr sz="1050" b="1" i="0">
                          <a:solidFill>
                            <a:srgbClr val="1A2429"/>
                          </a:solidFill>
                          <a:latin typeface="Calibri"/>
                        </a:rPr>
                        <a:t>MWRDGC Stickney</a:t>
                      </a:r>
                    </a:p>
                  </a:txBody>
                  <a:tcPr marL="54864" marR="54864" marT="9144" marB="9144" anchor="ctr">
                    <a:solidFill>
                      <a:srgbClr val="FFFFFF"/>
                    </a:solidFill>
                  </a:tcPr>
                </a:tc>
                <a:tc>
                  <a:txBody>
                    <a:bodyPr/>
                    <a:lstStyle/>
                    <a:p>
                      <a:pPr algn="ctr"/>
                      <a:r>
                        <a:rPr sz="1050" b="0" i="0">
                          <a:solidFill>
                            <a:srgbClr val="1A2429"/>
                          </a:solidFill>
                          <a:latin typeface="Calibri"/>
                        </a:rPr>
                        <a:t>IL</a:t>
                      </a:r>
                    </a:p>
                  </a:txBody>
                  <a:tcPr marL="54864" marR="54864" marT="9144" marB="9144" anchor="ctr">
                    <a:solidFill>
                      <a:srgbClr val="FFFFFF"/>
                    </a:solidFill>
                  </a:tcPr>
                </a:tc>
                <a:tc>
                  <a:txBody>
                    <a:bodyPr/>
                    <a:lstStyle/>
                    <a:p>
                      <a:pPr algn="r"/>
                      <a:r>
                        <a:rPr sz="1050" b="0" i="0">
                          <a:solidFill>
                            <a:srgbClr val="1A2429"/>
                          </a:solidFill>
                          <a:latin typeface="Calibri"/>
                        </a:rPr>
                        <a:t>2,644</a:t>
                      </a:r>
                    </a:p>
                  </a:txBody>
                  <a:tcPr marL="54864" marR="54864" marT="9144" marB="9144" anchor="ctr">
                    <a:solidFill>
                      <a:srgbClr val="FFFFFF"/>
                    </a:solidFill>
                  </a:tcPr>
                </a:tc>
                <a:tc>
                  <a:txBody>
                    <a:bodyPr/>
                    <a:lstStyle/>
                    <a:p>
                      <a:pPr algn="r"/>
                      <a:r>
                        <a:rPr sz="1050" b="0" i="0">
                          <a:solidFill>
                            <a:srgbClr val="1A2429"/>
                          </a:solidFill>
                          <a:latin typeface="Calibri"/>
                        </a:rPr>
                        <a:t>16.9</a:t>
                      </a:r>
                    </a:p>
                  </a:txBody>
                  <a:tcPr marL="54864" marR="54864" marT="9144" marB="9144" anchor="ctr">
                    <a:solidFill>
                      <a:srgbClr val="FFFFFF"/>
                    </a:solidFill>
                  </a:tcPr>
                </a:tc>
                <a:tc>
                  <a:txBody>
                    <a:bodyPr/>
                    <a:lstStyle/>
                    <a:p>
                      <a:pPr algn="r"/>
                      <a:r>
                        <a:rPr sz="1050" b="0" i="0">
                          <a:solidFill>
                            <a:srgbClr val="1A2429"/>
                          </a:solidFill>
                          <a:latin typeface="Calibri"/>
                        </a:rPr>
                        <a:t>2.1</a:t>
                      </a:r>
                    </a:p>
                  </a:txBody>
                  <a:tcPr marL="54864" marR="54864" marT="9144" marB="9144" anchor="ctr">
                    <a:solidFill>
                      <a:srgbClr val="FFFFFF"/>
                    </a:solidFill>
                  </a:tcPr>
                </a:tc>
                <a:tc>
                  <a:txBody>
                    <a:bodyPr/>
                    <a:lstStyle/>
                    <a:p>
                      <a:pPr algn="r"/>
                      <a:r>
                        <a:rPr sz="1050" b="0" i="0">
                          <a:solidFill>
                            <a:srgbClr val="1A2429"/>
                          </a:solidFill>
                          <a:latin typeface="Calibri"/>
                        </a:rPr>
                        <a:t>47%</a:t>
                      </a:r>
                    </a:p>
                  </a:txBody>
                  <a:tcPr marL="54864" marR="54864" marT="9144" marB="9144" anchor="ctr">
                    <a:solidFill>
                      <a:srgbClr val="FFFFFF"/>
                    </a:solidFill>
                  </a:tcPr>
                </a:tc>
                <a:extLst>
                  <a:ext uri="{0D108BD9-81ED-4DB2-BD59-A6C34878D82A}">
                    <a16:rowId xmlns:a16="http://schemas.microsoft.com/office/drawing/2014/main" val="10001"/>
                  </a:ext>
                </a:extLst>
              </a:tr>
              <a:tr h="420624">
                <a:tc>
                  <a:txBody>
                    <a:bodyPr/>
                    <a:lstStyle/>
                    <a:p>
                      <a:pPr algn="l"/>
                      <a:r>
                        <a:rPr sz="1050" b="1" i="0">
                          <a:solidFill>
                            <a:srgbClr val="1A2429"/>
                          </a:solidFill>
                          <a:latin typeface="Calibri"/>
                        </a:rPr>
                        <a:t>Point Loma WWTP</a:t>
                      </a:r>
                    </a:p>
                  </a:txBody>
                  <a:tcPr marL="54864" marR="54864" marT="9144" marB="9144" anchor="ctr">
                    <a:solidFill>
                      <a:srgbClr val="ECF1F2"/>
                    </a:solidFill>
                  </a:tcPr>
                </a:tc>
                <a:tc>
                  <a:txBody>
                    <a:bodyPr/>
                    <a:lstStyle/>
                    <a:p>
                      <a:pPr algn="ctr"/>
                      <a:r>
                        <a:rPr sz="1050" b="0" i="0">
                          <a:solidFill>
                            <a:srgbClr val="1A2429"/>
                          </a:solidFill>
                          <a:latin typeface="Calibri"/>
                        </a:rPr>
                        <a:t>CA</a:t>
                      </a:r>
                    </a:p>
                  </a:txBody>
                  <a:tcPr marL="54864" marR="54864" marT="9144" marB="9144" anchor="ctr">
                    <a:solidFill>
                      <a:srgbClr val="ECF1F2"/>
                    </a:solidFill>
                  </a:tcPr>
                </a:tc>
                <a:tc>
                  <a:txBody>
                    <a:bodyPr/>
                    <a:lstStyle/>
                    <a:p>
                      <a:pPr algn="r"/>
                      <a:r>
                        <a:rPr sz="1050" b="0" i="0">
                          <a:solidFill>
                            <a:srgbClr val="1A2429"/>
                          </a:solidFill>
                          <a:latin typeface="Calibri"/>
                        </a:rPr>
                        <a:t>1,579</a:t>
                      </a:r>
                    </a:p>
                  </a:txBody>
                  <a:tcPr marL="54864" marR="54864" marT="9144" marB="9144" anchor="ctr">
                    <a:solidFill>
                      <a:srgbClr val="ECF1F2"/>
                    </a:solidFill>
                  </a:tcPr>
                </a:tc>
                <a:tc>
                  <a:txBody>
                    <a:bodyPr/>
                    <a:lstStyle/>
                    <a:p>
                      <a:pPr algn="r"/>
                      <a:r>
                        <a:rPr sz="1050" b="0" i="0">
                          <a:solidFill>
                            <a:srgbClr val="1A2429"/>
                          </a:solidFill>
                          <a:latin typeface="Calibri"/>
                        </a:rPr>
                        <a:t>10.1</a:t>
                      </a:r>
                    </a:p>
                  </a:txBody>
                  <a:tcPr marL="54864" marR="54864" marT="9144" marB="9144" anchor="ctr">
                    <a:solidFill>
                      <a:srgbClr val="ECF1F2"/>
                    </a:solidFill>
                  </a:tcPr>
                </a:tc>
                <a:tc>
                  <a:txBody>
                    <a:bodyPr/>
                    <a:lstStyle/>
                    <a:p>
                      <a:pPr algn="r"/>
                      <a:r>
                        <a:rPr sz="1050" b="0" i="0">
                          <a:solidFill>
                            <a:srgbClr val="1A2429"/>
                          </a:solidFill>
                          <a:latin typeface="Calibri"/>
                        </a:rPr>
                        <a:t>2.1</a:t>
                      </a:r>
                    </a:p>
                  </a:txBody>
                  <a:tcPr marL="54864" marR="54864" marT="9144" marB="9144" anchor="ctr">
                    <a:solidFill>
                      <a:srgbClr val="ECF1F2"/>
                    </a:solidFill>
                  </a:tcPr>
                </a:tc>
                <a:tc>
                  <a:txBody>
                    <a:bodyPr/>
                    <a:lstStyle/>
                    <a:p>
                      <a:pPr algn="r"/>
                      <a:r>
                        <a:rPr sz="1050" b="0" i="0">
                          <a:solidFill>
                            <a:srgbClr val="1A2429"/>
                          </a:solidFill>
                          <a:latin typeface="Calibri"/>
                        </a:rPr>
                        <a:t>48%</a:t>
                      </a:r>
                    </a:p>
                  </a:txBody>
                  <a:tcPr marL="54864" marR="54864" marT="9144" marB="9144" anchor="ctr">
                    <a:solidFill>
                      <a:srgbClr val="ECF1F2"/>
                    </a:solidFill>
                  </a:tcPr>
                </a:tc>
                <a:extLst>
                  <a:ext uri="{0D108BD9-81ED-4DB2-BD59-A6C34878D82A}">
                    <a16:rowId xmlns:a16="http://schemas.microsoft.com/office/drawing/2014/main" val="10002"/>
                  </a:ext>
                </a:extLst>
              </a:tr>
              <a:tr h="420624">
                <a:tc>
                  <a:txBody>
                    <a:bodyPr/>
                    <a:lstStyle/>
                    <a:p>
                      <a:pPr algn="l"/>
                      <a:r>
                        <a:rPr sz="1050" b="1" i="0">
                          <a:solidFill>
                            <a:srgbClr val="1A2429"/>
                          </a:solidFill>
                          <a:latin typeface="Calibri"/>
                        </a:rPr>
                        <a:t>AK Warren WRF</a:t>
                      </a:r>
                    </a:p>
                  </a:txBody>
                  <a:tcPr marL="54864" marR="54864" marT="9144" marB="9144" anchor="ctr">
                    <a:solidFill>
                      <a:srgbClr val="FFFFFF"/>
                    </a:solidFill>
                  </a:tcPr>
                </a:tc>
                <a:tc>
                  <a:txBody>
                    <a:bodyPr/>
                    <a:lstStyle/>
                    <a:p>
                      <a:pPr algn="ctr"/>
                      <a:r>
                        <a:rPr sz="1050" b="0" i="0">
                          <a:solidFill>
                            <a:srgbClr val="1A2429"/>
                          </a:solidFill>
                          <a:latin typeface="Calibri"/>
                        </a:rPr>
                        <a:t>CA</a:t>
                      </a:r>
                    </a:p>
                  </a:txBody>
                  <a:tcPr marL="54864" marR="54864" marT="9144" marB="9144" anchor="ctr">
                    <a:solidFill>
                      <a:srgbClr val="FFFFFF"/>
                    </a:solidFill>
                  </a:tcPr>
                </a:tc>
                <a:tc>
                  <a:txBody>
                    <a:bodyPr/>
                    <a:lstStyle/>
                    <a:p>
                      <a:pPr algn="r"/>
                      <a:r>
                        <a:rPr sz="1050" b="0" i="0">
                          <a:solidFill>
                            <a:srgbClr val="1A2429"/>
                          </a:solidFill>
                          <a:latin typeface="Calibri"/>
                        </a:rPr>
                        <a:t>1,192</a:t>
                      </a:r>
                    </a:p>
                  </a:txBody>
                  <a:tcPr marL="54864" marR="54864" marT="9144" marB="9144" anchor="ctr">
                    <a:solidFill>
                      <a:srgbClr val="FFFFFF"/>
                    </a:solidFill>
                  </a:tcPr>
                </a:tc>
                <a:tc>
                  <a:txBody>
                    <a:bodyPr/>
                    <a:lstStyle/>
                    <a:p>
                      <a:pPr algn="r"/>
                      <a:r>
                        <a:rPr sz="1050" b="0" i="0">
                          <a:solidFill>
                            <a:srgbClr val="1A2429"/>
                          </a:solidFill>
                          <a:latin typeface="Calibri"/>
                        </a:rPr>
                        <a:t>7.6</a:t>
                      </a:r>
                    </a:p>
                  </a:txBody>
                  <a:tcPr marL="54864" marR="54864" marT="9144" marB="9144" anchor="ctr">
                    <a:solidFill>
                      <a:srgbClr val="FFFFFF"/>
                    </a:solidFill>
                  </a:tcPr>
                </a:tc>
                <a:tc>
                  <a:txBody>
                    <a:bodyPr/>
                    <a:lstStyle/>
                    <a:p>
                      <a:pPr algn="r"/>
                      <a:r>
                        <a:rPr sz="1050" b="0" i="0">
                          <a:solidFill>
                            <a:srgbClr val="1A2429"/>
                          </a:solidFill>
                          <a:latin typeface="Calibri"/>
                        </a:rPr>
                        <a:t>1.1</a:t>
                      </a:r>
                    </a:p>
                  </a:txBody>
                  <a:tcPr marL="54864" marR="54864" marT="9144" marB="9144" anchor="ctr">
                    <a:solidFill>
                      <a:srgbClr val="FFFFFF"/>
                    </a:solidFill>
                  </a:tcPr>
                </a:tc>
                <a:tc>
                  <a:txBody>
                    <a:bodyPr/>
                    <a:lstStyle/>
                    <a:p>
                      <a:pPr algn="r"/>
                      <a:r>
                        <a:rPr sz="1050" b="0" i="0">
                          <a:solidFill>
                            <a:srgbClr val="1A2429"/>
                          </a:solidFill>
                          <a:latin typeface="Calibri"/>
                        </a:rPr>
                        <a:t>93%</a:t>
                      </a:r>
                    </a:p>
                  </a:txBody>
                  <a:tcPr marL="54864" marR="54864" marT="9144" marB="9144" anchor="ctr">
                    <a:solidFill>
                      <a:srgbClr val="FFFFFF"/>
                    </a:solidFill>
                  </a:tcPr>
                </a:tc>
                <a:extLst>
                  <a:ext uri="{0D108BD9-81ED-4DB2-BD59-A6C34878D82A}">
                    <a16:rowId xmlns:a16="http://schemas.microsoft.com/office/drawing/2014/main" val="10003"/>
                  </a:ext>
                </a:extLst>
              </a:tr>
              <a:tr h="420624">
                <a:tc>
                  <a:txBody>
                    <a:bodyPr/>
                    <a:lstStyle/>
                    <a:p>
                      <a:pPr algn="l"/>
                      <a:r>
                        <a:rPr sz="1050" b="1" i="0">
                          <a:solidFill>
                            <a:srgbClr val="1A2429"/>
                          </a:solidFill>
                          <a:latin typeface="Calibri"/>
                        </a:rPr>
                        <a:t>King Co. West Point</a:t>
                      </a:r>
                    </a:p>
                  </a:txBody>
                  <a:tcPr marL="54864" marR="54864" marT="9144" marB="9144" anchor="ctr">
                    <a:solidFill>
                      <a:srgbClr val="ECF1F2"/>
                    </a:solidFill>
                  </a:tcPr>
                </a:tc>
                <a:tc>
                  <a:txBody>
                    <a:bodyPr/>
                    <a:lstStyle/>
                    <a:p>
                      <a:pPr algn="ctr"/>
                      <a:r>
                        <a:rPr sz="1050" b="0" i="0">
                          <a:solidFill>
                            <a:srgbClr val="1A2429"/>
                          </a:solidFill>
                          <a:latin typeface="Calibri"/>
                        </a:rPr>
                        <a:t>WA</a:t>
                      </a:r>
                    </a:p>
                  </a:txBody>
                  <a:tcPr marL="54864" marR="54864" marT="9144" marB="9144" anchor="ctr">
                    <a:solidFill>
                      <a:srgbClr val="ECF1F2"/>
                    </a:solidFill>
                  </a:tcPr>
                </a:tc>
                <a:tc>
                  <a:txBody>
                    <a:bodyPr/>
                    <a:lstStyle/>
                    <a:p>
                      <a:pPr algn="r"/>
                      <a:r>
                        <a:rPr sz="1050" b="0" i="0">
                          <a:solidFill>
                            <a:srgbClr val="1A2429"/>
                          </a:solidFill>
                          <a:latin typeface="Calibri"/>
                        </a:rPr>
                        <a:t>1,136</a:t>
                      </a:r>
                    </a:p>
                  </a:txBody>
                  <a:tcPr marL="54864" marR="54864" marT="9144" marB="9144" anchor="ctr">
                    <a:solidFill>
                      <a:srgbClr val="ECF1F2"/>
                    </a:solidFill>
                  </a:tcPr>
                </a:tc>
                <a:tc>
                  <a:txBody>
                    <a:bodyPr/>
                    <a:lstStyle/>
                    <a:p>
                      <a:pPr algn="r"/>
                      <a:r>
                        <a:rPr sz="1050" b="0" i="0">
                          <a:solidFill>
                            <a:srgbClr val="1A2429"/>
                          </a:solidFill>
                          <a:latin typeface="Calibri"/>
                        </a:rPr>
                        <a:t>7.3</a:t>
                      </a:r>
                    </a:p>
                  </a:txBody>
                  <a:tcPr marL="54864" marR="54864" marT="9144" marB="9144" anchor="ctr">
                    <a:solidFill>
                      <a:srgbClr val="ECF1F2"/>
                    </a:solidFill>
                  </a:tcPr>
                </a:tc>
                <a:tc>
                  <a:txBody>
                    <a:bodyPr/>
                    <a:lstStyle/>
                    <a:p>
                      <a:pPr algn="r"/>
                      <a:r>
                        <a:rPr sz="1050" b="0" i="0">
                          <a:solidFill>
                            <a:srgbClr val="1A2429"/>
                          </a:solidFill>
                          <a:latin typeface="Calibri"/>
                        </a:rPr>
                        <a:t>3.7</a:t>
                      </a:r>
                    </a:p>
                  </a:txBody>
                  <a:tcPr marL="54864" marR="54864" marT="9144" marB="9144" anchor="ctr">
                    <a:solidFill>
                      <a:srgbClr val="ECF1F2"/>
                    </a:solidFill>
                  </a:tcPr>
                </a:tc>
                <a:tc>
                  <a:txBody>
                    <a:bodyPr/>
                    <a:lstStyle/>
                    <a:p>
                      <a:pPr algn="r"/>
                      <a:r>
                        <a:rPr sz="1050" b="0" i="0">
                          <a:solidFill>
                            <a:srgbClr val="1A2429"/>
                          </a:solidFill>
                          <a:latin typeface="Calibri"/>
                        </a:rPr>
                        <a:t>27%</a:t>
                      </a:r>
                    </a:p>
                  </a:txBody>
                  <a:tcPr marL="54864" marR="54864" marT="9144" marB="9144" anchor="ctr">
                    <a:solidFill>
                      <a:srgbClr val="ECF1F2"/>
                    </a:solidFill>
                  </a:tcPr>
                </a:tc>
                <a:extLst>
                  <a:ext uri="{0D108BD9-81ED-4DB2-BD59-A6C34878D82A}">
                    <a16:rowId xmlns:a16="http://schemas.microsoft.com/office/drawing/2014/main" val="10004"/>
                  </a:ext>
                </a:extLst>
              </a:tr>
              <a:tr h="420624">
                <a:tc>
                  <a:txBody>
                    <a:bodyPr/>
                    <a:lstStyle/>
                    <a:p>
                      <a:pPr algn="l"/>
                      <a:r>
                        <a:rPr sz="1050" b="1" i="0">
                          <a:solidFill>
                            <a:srgbClr val="1A2429"/>
                          </a:solidFill>
                          <a:latin typeface="Calibri"/>
                        </a:rPr>
                        <a:t>San Jose Creek WRP</a:t>
                      </a:r>
                    </a:p>
                  </a:txBody>
                  <a:tcPr marL="54864" marR="54864" marT="9144" marB="9144" anchor="ctr">
                    <a:solidFill>
                      <a:srgbClr val="FFFFFF"/>
                    </a:solidFill>
                  </a:tcPr>
                </a:tc>
                <a:tc>
                  <a:txBody>
                    <a:bodyPr/>
                    <a:lstStyle/>
                    <a:p>
                      <a:pPr algn="ctr"/>
                      <a:r>
                        <a:rPr sz="1050" b="0" i="0">
                          <a:solidFill>
                            <a:srgbClr val="1A2429"/>
                          </a:solidFill>
                          <a:latin typeface="Calibri"/>
                        </a:rPr>
                        <a:t>CA</a:t>
                      </a:r>
                    </a:p>
                  </a:txBody>
                  <a:tcPr marL="54864" marR="54864" marT="9144" marB="9144" anchor="ctr">
                    <a:solidFill>
                      <a:srgbClr val="FFFFFF"/>
                    </a:solidFill>
                  </a:tcPr>
                </a:tc>
                <a:tc>
                  <a:txBody>
                    <a:bodyPr/>
                    <a:lstStyle/>
                    <a:p>
                      <a:pPr algn="r"/>
                      <a:r>
                        <a:rPr sz="1050" b="0" i="0">
                          <a:solidFill>
                            <a:srgbClr val="1A2429"/>
                          </a:solidFill>
                          <a:latin typeface="Calibri"/>
                        </a:rPr>
                        <a:t>1,111</a:t>
                      </a:r>
                    </a:p>
                  </a:txBody>
                  <a:tcPr marL="54864" marR="54864" marT="9144" marB="9144" anchor="ctr">
                    <a:solidFill>
                      <a:srgbClr val="FFFFFF"/>
                    </a:solidFill>
                  </a:tcPr>
                </a:tc>
                <a:tc>
                  <a:txBody>
                    <a:bodyPr/>
                    <a:lstStyle/>
                    <a:p>
                      <a:pPr algn="r"/>
                      <a:r>
                        <a:rPr sz="1050" b="0" i="0">
                          <a:solidFill>
                            <a:srgbClr val="1A2429"/>
                          </a:solidFill>
                          <a:latin typeface="Calibri"/>
                        </a:rPr>
                        <a:t>7.1</a:t>
                      </a:r>
                    </a:p>
                  </a:txBody>
                  <a:tcPr marL="54864" marR="54864" marT="9144" marB="9144" anchor="ctr">
                    <a:solidFill>
                      <a:srgbClr val="FFFFFF"/>
                    </a:solidFill>
                  </a:tcPr>
                </a:tc>
                <a:tc>
                  <a:txBody>
                    <a:bodyPr/>
                    <a:lstStyle/>
                    <a:p>
                      <a:pPr algn="r"/>
                      <a:r>
                        <a:rPr sz="1050" b="0" i="0">
                          <a:solidFill>
                            <a:srgbClr val="1A2429"/>
                          </a:solidFill>
                          <a:latin typeface="Calibri"/>
                        </a:rPr>
                        <a:t>2.2</a:t>
                      </a:r>
                    </a:p>
                  </a:txBody>
                  <a:tcPr marL="54864" marR="54864" marT="9144" marB="9144" anchor="ctr">
                    <a:solidFill>
                      <a:srgbClr val="FFFFFF"/>
                    </a:solidFill>
                  </a:tcPr>
                </a:tc>
                <a:tc>
                  <a:txBody>
                    <a:bodyPr/>
                    <a:lstStyle/>
                    <a:p>
                      <a:pPr algn="r"/>
                      <a:r>
                        <a:rPr sz="1050" b="0" i="0">
                          <a:solidFill>
                            <a:srgbClr val="1A2429"/>
                          </a:solidFill>
                          <a:latin typeface="Calibri"/>
                        </a:rPr>
                        <a:t>46%</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sp>
        <p:nvSpPr>
          <p:cNvPr id="21" name="TextBox 20"/>
          <p:cNvSpPr txBox="1"/>
          <p:nvPr/>
        </p:nvSpPr>
        <p:spPr>
          <a:xfrm>
            <a:off x="548640" y="6053328"/>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0 of 3,783 sites priced outside vendor bands. 2,642 uneconomic sites are retained (105.6 GWh) with full specs, categorized by payback/NPV/IRR — not discarded.</a:t>
            </a:r>
          </a:p>
        </p:txBody>
      </p:sp>
      <p:sp>
        <p:nvSpPr>
          <p:cNvPr id="22" name="Rectangle 21"/>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24" name="TextBox 23"/>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C0392B"/>
                </a:solidFill>
                <a:latin typeface="Calibri"/>
              </a:rPr>
              <a:t>THE FUNNEL</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How 17,158 POTWs become 1,141 — honestly</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417320"/>
          <a:ext cx="11274550" cy="2743200"/>
        </p:xfrm>
        <a:graphic>
          <a:graphicData uri="http://schemas.openxmlformats.org/drawingml/2006/table">
            <a:tbl>
              <a:tblPr>
                <a:tableStyleId>{5C22544A-7EE6-4342-B048-85BDC9FD1C3A}</a:tableStyleId>
              </a:tblPr>
              <a:tblGrid>
                <a:gridCol w="3392343">
                  <a:extLst>
                    <a:ext uri="{9D8B030D-6E8A-4147-A177-3AD203B41FA5}">
                      <a16:colId xmlns:a16="http://schemas.microsoft.com/office/drawing/2014/main" val="20000"/>
                    </a:ext>
                  </a:extLst>
                </a:gridCol>
                <a:gridCol w="1696171">
                  <a:extLst>
                    <a:ext uri="{9D8B030D-6E8A-4147-A177-3AD203B41FA5}">
                      <a16:colId xmlns:a16="http://schemas.microsoft.com/office/drawing/2014/main" val="20001"/>
                    </a:ext>
                  </a:extLst>
                </a:gridCol>
                <a:gridCol w="1596396">
                  <a:extLst>
                    <a:ext uri="{9D8B030D-6E8A-4147-A177-3AD203B41FA5}">
                      <a16:colId xmlns:a16="http://schemas.microsoft.com/office/drawing/2014/main" val="20002"/>
                    </a:ext>
                  </a:extLst>
                </a:gridCol>
                <a:gridCol w="4589640">
                  <a:extLst>
                    <a:ext uri="{9D8B030D-6E8A-4147-A177-3AD203B41FA5}">
                      <a16:colId xmlns:a16="http://schemas.microsoft.com/office/drawing/2014/main" val="20003"/>
                    </a:ext>
                  </a:extLst>
                </a:gridCol>
              </a:tblGrid>
              <a:tr h="457200">
                <a:tc>
                  <a:txBody>
                    <a:bodyPr/>
                    <a:lstStyle/>
                    <a:p>
                      <a:pPr algn="l"/>
                      <a:r>
                        <a:rPr sz="1100" b="1" i="0">
                          <a:solidFill>
                            <a:srgbClr val="FFFFFF"/>
                          </a:solidFill>
                          <a:latin typeface="Calibri"/>
                        </a:rPr>
                        <a:t>Stage</a:t>
                      </a:r>
                    </a:p>
                  </a:txBody>
                  <a:tcPr marL="54864" marR="54864" marT="18288" marB="18288" anchor="ctr">
                    <a:solidFill>
                      <a:srgbClr val="0C2D3A"/>
                    </a:solidFill>
                  </a:tcPr>
                </a:tc>
                <a:tc>
                  <a:txBody>
                    <a:bodyPr/>
                    <a:lstStyle/>
                    <a:p>
                      <a:pPr algn="r"/>
                      <a:r>
                        <a:rPr sz="1100" b="1" i="0">
                          <a:solidFill>
                            <a:srgbClr val="FFFFFF"/>
                          </a:solidFill>
                          <a:latin typeface="Calibri"/>
                        </a:rPr>
                        <a:t>Remaining</a:t>
                      </a:r>
                    </a:p>
                  </a:txBody>
                  <a:tcPr marL="54864" marR="54864" marT="18288" marB="18288" anchor="ctr">
                    <a:solidFill>
                      <a:srgbClr val="0C2D3A"/>
                    </a:solidFill>
                  </a:tcPr>
                </a:tc>
                <a:tc>
                  <a:txBody>
                    <a:bodyPr/>
                    <a:lstStyle/>
                    <a:p>
                      <a:pPr algn="r"/>
                      <a:r>
                        <a:rPr sz="1100" b="1" i="0">
                          <a:solidFill>
                            <a:srgbClr val="FFFFFF"/>
                          </a:solidFill>
                          <a:latin typeface="Calibri"/>
                        </a:rPr>
                        <a:t>Dropped</a:t>
                      </a:r>
                    </a:p>
                  </a:txBody>
                  <a:tcPr marL="54864" marR="54864" marT="18288" marB="18288" anchor="ctr">
                    <a:solidFill>
                      <a:srgbClr val="0C2D3A"/>
                    </a:solidFill>
                  </a:tcPr>
                </a:tc>
                <a:tc>
                  <a:txBody>
                    <a:bodyPr/>
                    <a:lstStyle/>
                    <a:p>
                      <a:pPr algn="l"/>
                      <a:r>
                        <a:rPr sz="1100" b="1" i="0">
                          <a:solidFill>
                            <a:srgbClr val="FFFFFF"/>
                          </a:solidFill>
                          <a:latin typeface="Calibri"/>
                        </a:rPr>
                        <a:t>Why dropped</a:t>
                      </a:r>
                    </a:p>
                  </a:txBody>
                  <a:tcPr marL="54864" marR="54864" marT="18288" marB="18288" anchor="ctr">
                    <a:solidFill>
                      <a:srgbClr val="0C2D3A"/>
                    </a:solidFill>
                  </a:tcPr>
                </a:tc>
                <a:extLst>
                  <a:ext uri="{0D108BD9-81ED-4DB2-BD59-A6C34878D82A}">
                    <a16:rowId xmlns:a16="http://schemas.microsoft.com/office/drawing/2014/main" val="10000"/>
                  </a:ext>
                </a:extLst>
              </a:tr>
              <a:tr h="457200">
                <a:tc>
                  <a:txBody>
                    <a:bodyPr/>
                    <a:lstStyle/>
                    <a:p>
                      <a:pPr algn="l"/>
                      <a:r>
                        <a:rPr sz="1150" b="1" i="0">
                          <a:solidFill>
                            <a:srgbClr val="1A2429"/>
                          </a:solidFill>
                          <a:latin typeface="Calibri"/>
                        </a:rPr>
                        <a:t>Phase 1 — ranked POTWs</a:t>
                      </a:r>
                    </a:p>
                  </a:txBody>
                  <a:tcPr marL="54864" marR="54864" marT="9144" marB="9144" anchor="ctr">
                    <a:solidFill>
                      <a:srgbClr val="FFFFFF"/>
                    </a:solidFill>
                  </a:tcPr>
                </a:tc>
                <a:tc>
                  <a:txBody>
                    <a:bodyPr/>
                    <a:lstStyle/>
                    <a:p>
                      <a:pPr algn="r"/>
                      <a:r>
                        <a:rPr sz="1150" b="0" i="0">
                          <a:solidFill>
                            <a:srgbClr val="1A2429"/>
                          </a:solidFill>
                          <a:latin typeface="Calibri"/>
                        </a:rPr>
                        <a:t>17,158</a:t>
                      </a:r>
                    </a:p>
                  </a:txBody>
                  <a:tcPr marL="54864" marR="54864" marT="9144" marB="9144" anchor="ctr">
                    <a:solidFill>
                      <a:srgbClr val="FFFFFF"/>
                    </a:solidFill>
                  </a:tcPr>
                </a:tc>
                <a:tc>
                  <a:txBody>
                    <a:bodyPr/>
                    <a:lstStyle/>
                    <a:p>
                      <a:pPr algn="r"/>
                      <a:r>
                        <a:rPr sz="1150" b="0" i="0">
                          <a:solidFill>
                            <a:srgbClr val="1A2429"/>
                          </a:solidFill>
                          <a:latin typeface="Calibri"/>
                        </a:rPr>
                        <a:t>—</a:t>
                      </a:r>
                    </a:p>
                  </a:txBody>
                  <a:tcPr marL="54864" marR="54864" marT="9144" marB="9144" anchor="ctr">
                    <a:solidFill>
                      <a:srgbClr val="FFFFFF"/>
                    </a:solidFill>
                  </a:tcPr>
                </a:tc>
                <a:tc>
                  <a:txBody>
                    <a:bodyPr/>
                    <a:lstStyle/>
                    <a:p>
                      <a:pPr algn="l"/>
                      <a:r>
                        <a:rPr sz="1150" b="0" i="0">
                          <a:solidFill>
                            <a:srgbClr val="1A2429"/>
                          </a:solidFill>
                          <a:latin typeface="Calibri"/>
                        </a:rPr>
                        <a:t>All active POTWs with DMR coverage</a:t>
                      </a:r>
                    </a:p>
                  </a:txBody>
                  <a:tcPr marL="54864" marR="54864" marT="9144" marB="9144" anchor="ctr">
                    <a:solidFill>
                      <a:srgbClr val="FFFFFF"/>
                    </a:solidFill>
                  </a:tcPr>
                </a:tc>
                <a:extLst>
                  <a:ext uri="{0D108BD9-81ED-4DB2-BD59-A6C34878D82A}">
                    <a16:rowId xmlns:a16="http://schemas.microsoft.com/office/drawing/2014/main" val="10001"/>
                  </a:ext>
                </a:extLst>
              </a:tr>
              <a:tr h="457200">
                <a:tc>
                  <a:txBody>
                    <a:bodyPr/>
                    <a:lstStyle/>
                    <a:p>
                      <a:pPr algn="l"/>
                      <a:r>
                        <a:rPr sz="1150" b="1" i="0">
                          <a:solidFill>
                            <a:srgbClr val="1A2429"/>
                          </a:solidFill>
                          <a:latin typeface="Calibri"/>
                        </a:rPr>
                        <a:t>Phase 2 — has usable flow</a:t>
                      </a:r>
                    </a:p>
                  </a:txBody>
                  <a:tcPr marL="54864" marR="54864" marT="9144" marB="9144" anchor="ctr">
                    <a:solidFill>
                      <a:srgbClr val="ECF1F2"/>
                    </a:solidFill>
                  </a:tcPr>
                </a:tc>
                <a:tc>
                  <a:txBody>
                    <a:bodyPr/>
                    <a:lstStyle/>
                    <a:p>
                      <a:pPr algn="r"/>
                      <a:r>
                        <a:rPr sz="1150" b="0" i="0">
                          <a:solidFill>
                            <a:srgbClr val="1A2429"/>
                          </a:solidFill>
                          <a:latin typeface="Calibri"/>
                        </a:rPr>
                        <a:t>5,468</a:t>
                      </a:r>
                    </a:p>
                  </a:txBody>
                  <a:tcPr marL="54864" marR="54864" marT="9144" marB="9144" anchor="ctr">
                    <a:solidFill>
                      <a:srgbClr val="ECF1F2"/>
                    </a:solidFill>
                  </a:tcPr>
                </a:tc>
                <a:tc>
                  <a:txBody>
                    <a:bodyPr/>
                    <a:lstStyle/>
                    <a:p>
                      <a:pPr algn="r"/>
                      <a:r>
                        <a:rPr sz="1150" b="0" i="0">
                          <a:solidFill>
                            <a:srgbClr val="1A2429"/>
                          </a:solidFill>
                          <a:latin typeface="Calibri"/>
                        </a:rPr>
                        <a:t>11,690</a:t>
                      </a:r>
                    </a:p>
                  </a:txBody>
                  <a:tcPr marL="54864" marR="54864" marT="9144" marB="9144" anchor="ctr">
                    <a:solidFill>
                      <a:srgbClr val="ECF1F2"/>
                    </a:solidFill>
                  </a:tcPr>
                </a:tc>
                <a:tc>
                  <a:txBody>
                    <a:bodyPr/>
                    <a:lstStyle/>
                    <a:p>
                      <a:pPr algn="l"/>
                      <a:r>
                        <a:rPr sz="1150" b="0" i="0">
                          <a:solidFill>
                            <a:srgbClr val="1A2429"/>
                          </a:solidFill>
                          <a:latin typeface="Calibri"/>
                        </a:rPr>
                        <a:t>Data gap: no usable EPA flow record</a:t>
                      </a:r>
                    </a:p>
                  </a:txBody>
                  <a:tcPr marL="54864" marR="54864" marT="9144" marB="9144" anchor="ctr">
                    <a:solidFill>
                      <a:srgbClr val="ECF1F2"/>
                    </a:solidFill>
                  </a:tcPr>
                </a:tc>
                <a:extLst>
                  <a:ext uri="{0D108BD9-81ED-4DB2-BD59-A6C34878D82A}">
                    <a16:rowId xmlns:a16="http://schemas.microsoft.com/office/drawing/2014/main" val="10002"/>
                  </a:ext>
                </a:extLst>
              </a:tr>
              <a:tr h="457200">
                <a:tc>
                  <a:txBody>
                    <a:bodyPr/>
                    <a:lstStyle/>
                    <a:p>
                      <a:pPr algn="l"/>
                      <a:r>
                        <a:rPr sz="1150" b="1" i="0">
                          <a:solidFill>
                            <a:srgbClr val="1A2429"/>
                          </a:solidFill>
                          <a:latin typeface="Calibri"/>
                        </a:rPr>
                        <a:t>Phase 3 — valid net head</a:t>
                      </a:r>
                    </a:p>
                  </a:txBody>
                  <a:tcPr marL="54864" marR="54864" marT="9144" marB="9144" anchor="ctr">
                    <a:solidFill>
                      <a:srgbClr val="FFFFFF"/>
                    </a:solidFill>
                  </a:tcPr>
                </a:tc>
                <a:tc>
                  <a:txBody>
                    <a:bodyPr/>
                    <a:lstStyle/>
                    <a:p>
                      <a:pPr algn="r"/>
                      <a:r>
                        <a:rPr sz="1150" b="0" i="0">
                          <a:solidFill>
                            <a:srgbClr val="1A2429"/>
                          </a:solidFill>
                          <a:latin typeface="Calibri"/>
                        </a:rPr>
                        <a:t>4,864</a:t>
                      </a:r>
                    </a:p>
                  </a:txBody>
                  <a:tcPr marL="54864" marR="54864" marT="9144" marB="9144" anchor="ctr">
                    <a:solidFill>
                      <a:srgbClr val="FFFFFF"/>
                    </a:solidFill>
                  </a:tcPr>
                </a:tc>
                <a:tc>
                  <a:txBody>
                    <a:bodyPr/>
                    <a:lstStyle/>
                    <a:p>
                      <a:pPr algn="r"/>
                      <a:r>
                        <a:rPr sz="1150" b="0" i="0">
                          <a:solidFill>
                            <a:srgbClr val="1A2429"/>
                          </a:solidFill>
                          <a:latin typeface="Calibri"/>
                        </a:rPr>
                        <a:t>604</a:t>
                      </a:r>
                    </a:p>
                  </a:txBody>
                  <a:tcPr marL="54864" marR="54864" marT="9144" marB="9144" anchor="ctr">
                    <a:solidFill>
                      <a:srgbClr val="FFFFFF"/>
                    </a:solidFill>
                  </a:tcPr>
                </a:tc>
                <a:tc>
                  <a:txBody>
                    <a:bodyPr/>
                    <a:lstStyle/>
                    <a:p>
                      <a:pPr algn="l"/>
                      <a:r>
                        <a:rPr sz="1150" b="0" i="0">
                          <a:solidFill>
                            <a:srgbClr val="1A2429"/>
                          </a:solidFill>
                          <a:latin typeface="Calibri"/>
                        </a:rPr>
                        <a:t>Data gap: no valid elevation / head</a:t>
                      </a:r>
                    </a:p>
                  </a:txBody>
                  <a:tcPr marL="54864" marR="54864" marT="9144" marB="9144" anchor="ctr">
                    <a:solidFill>
                      <a:srgbClr val="FFFFFF"/>
                    </a:solidFill>
                  </a:tcPr>
                </a:tc>
                <a:extLst>
                  <a:ext uri="{0D108BD9-81ED-4DB2-BD59-A6C34878D82A}">
                    <a16:rowId xmlns:a16="http://schemas.microsoft.com/office/drawing/2014/main" val="10003"/>
                  </a:ext>
                </a:extLst>
              </a:tr>
              <a:tr h="457200">
                <a:tc>
                  <a:txBody>
                    <a:bodyPr/>
                    <a:lstStyle/>
                    <a:p>
                      <a:pPr algn="l"/>
                      <a:r>
                        <a:rPr sz="1150" b="1" i="0">
                          <a:solidFill>
                            <a:srgbClr val="1A2429"/>
                          </a:solidFill>
                          <a:latin typeface="Calibri"/>
                        </a:rPr>
                        <a:t>Phase 3 — turbine ≥1 kW</a:t>
                      </a:r>
                    </a:p>
                  </a:txBody>
                  <a:tcPr marL="54864" marR="54864" marT="9144" marB="9144" anchor="ctr">
                    <a:solidFill>
                      <a:srgbClr val="ECF1F2"/>
                    </a:solidFill>
                  </a:tcPr>
                </a:tc>
                <a:tc>
                  <a:txBody>
                    <a:bodyPr/>
                    <a:lstStyle/>
                    <a:p>
                      <a:pPr algn="r"/>
                      <a:r>
                        <a:rPr sz="1150" b="0" i="0">
                          <a:solidFill>
                            <a:srgbClr val="1A2429"/>
                          </a:solidFill>
                          <a:latin typeface="Calibri"/>
                        </a:rPr>
                        <a:t>3,783</a:t>
                      </a:r>
                    </a:p>
                  </a:txBody>
                  <a:tcPr marL="54864" marR="54864" marT="9144" marB="9144" anchor="ctr">
                    <a:solidFill>
                      <a:srgbClr val="ECF1F2"/>
                    </a:solidFill>
                  </a:tcPr>
                </a:tc>
                <a:tc>
                  <a:txBody>
                    <a:bodyPr/>
                    <a:lstStyle/>
                    <a:p>
                      <a:pPr algn="r"/>
                      <a:r>
                        <a:rPr sz="1150" b="0" i="0">
                          <a:solidFill>
                            <a:srgbClr val="1A2429"/>
                          </a:solidFill>
                          <a:latin typeface="Calibri"/>
                        </a:rPr>
                        <a:t>1,081</a:t>
                      </a:r>
                    </a:p>
                  </a:txBody>
                  <a:tcPr marL="54864" marR="54864" marT="9144" marB="9144" anchor="ctr">
                    <a:solidFill>
                      <a:srgbClr val="ECF1F2"/>
                    </a:solidFill>
                  </a:tcPr>
                </a:tc>
                <a:tc>
                  <a:txBody>
                    <a:bodyPr/>
                    <a:lstStyle/>
                    <a:p>
                      <a:pPr algn="l"/>
                      <a:r>
                        <a:rPr sz="1150" b="0" i="0">
                          <a:solidFill>
                            <a:srgbClr val="1A2429"/>
                          </a:solidFill>
                          <a:latin typeface="Calibri"/>
                        </a:rPr>
                        <a:t>Physics floor: rated power &lt; 1 kW</a:t>
                      </a:r>
                    </a:p>
                  </a:txBody>
                  <a:tcPr marL="54864" marR="54864" marT="9144" marB="9144" anchor="ctr">
                    <a:solidFill>
                      <a:srgbClr val="ECF1F2"/>
                    </a:solidFill>
                  </a:tcPr>
                </a:tc>
                <a:extLst>
                  <a:ext uri="{0D108BD9-81ED-4DB2-BD59-A6C34878D82A}">
                    <a16:rowId xmlns:a16="http://schemas.microsoft.com/office/drawing/2014/main" val="10004"/>
                  </a:ext>
                </a:extLst>
              </a:tr>
              <a:tr h="457200">
                <a:tc>
                  <a:txBody>
                    <a:bodyPr/>
                    <a:lstStyle/>
                    <a:p>
                      <a:pPr algn="l"/>
                      <a:r>
                        <a:rPr sz="1150" b="1" i="0">
                          <a:solidFill>
                            <a:srgbClr val="1A2429"/>
                          </a:solidFill>
                          <a:latin typeface="Calibri"/>
                        </a:rPr>
                        <a:t>Phase 4 — investment-ready</a:t>
                      </a:r>
                    </a:p>
                  </a:txBody>
                  <a:tcPr marL="54864" marR="54864" marT="9144" marB="9144" anchor="ctr">
                    <a:solidFill>
                      <a:srgbClr val="FFFFFF"/>
                    </a:solidFill>
                  </a:tcPr>
                </a:tc>
                <a:tc>
                  <a:txBody>
                    <a:bodyPr/>
                    <a:lstStyle/>
                    <a:p>
                      <a:pPr algn="r"/>
                      <a:r>
                        <a:rPr sz="1150" b="0" i="0">
                          <a:solidFill>
                            <a:srgbClr val="1A2429"/>
                          </a:solidFill>
                          <a:latin typeface="Calibri"/>
                        </a:rPr>
                        <a:t>1,141</a:t>
                      </a:r>
                    </a:p>
                  </a:txBody>
                  <a:tcPr marL="54864" marR="54864" marT="9144" marB="9144" anchor="ctr">
                    <a:solidFill>
                      <a:srgbClr val="FFFFFF"/>
                    </a:solidFill>
                  </a:tcPr>
                </a:tc>
                <a:tc>
                  <a:txBody>
                    <a:bodyPr/>
                    <a:lstStyle/>
                    <a:p>
                      <a:pPr algn="r"/>
                      <a:r>
                        <a:rPr sz="1150" b="0" i="0">
                          <a:solidFill>
                            <a:srgbClr val="1A2429"/>
                          </a:solidFill>
                          <a:latin typeface="Calibri"/>
                        </a:rPr>
                        <a:t>2,642</a:t>
                      </a:r>
                    </a:p>
                  </a:txBody>
                  <a:tcPr marL="54864" marR="54864" marT="9144" marB="9144" anchor="ctr">
                    <a:solidFill>
                      <a:srgbClr val="FFFFFF"/>
                    </a:solidFill>
                  </a:tcPr>
                </a:tc>
                <a:tc>
                  <a:txBody>
                    <a:bodyPr/>
                    <a:lstStyle/>
                    <a:p>
                      <a:pPr algn="l"/>
                      <a:r>
                        <a:rPr sz="1150" b="0" i="0">
                          <a:solidFill>
                            <a:srgbClr val="1A2429"/>
                          </a:solidFill>
                          <a:latin typeface="Calibri"/>
                        </a:rPr>
                        <a:t>Economics: failed NPV / payback / IRR</a:t>
                      </a:r>
                    </a:p>
                  </a:txBody>
                  <a:tcPr marL="54864" marR="54864" marT="9144" marB="9144"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457200" y="4160520"/>
            <a:ext cx="3648456" cy="14173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4160520"/>
            <a:ext cx="3648456" cy="1097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4343400"/>
            <a:ext cx="3465576" cy="1143000"/>
          </a:xfrm>
          <a:prstGeom prst="rect">
            <a:avLst/>
          </a:prstGeom>
          <a:noFill/>
        </p:spPr>
        <p:txBody>
          <a:bodyPr wrap="square" lIns="45720" tIns="18288" rIns="45720" bIns="18288" anchor="ctr">
            <a:spAutoFit/>
          </a:bodyPr>
          <a:lstStyle/>
          <a:p>
            <a:pPr algn="ctr"/>
            <a:r>
              <a:rPr sz="3000" b="1" i="0">
                <a:solidFill>
                  <a:srgbClr val="126E82"/>
                </a:solidFill>
                <a:latin typeface="Calibri"/>
              </a:rPr>
              <a:t>76.8%</a:t>
            </a:r>
          </a:p>
          <a:p>
            <a:pPr algn="ctr">
              <a:spcBef>
                <a:spcPts val="200"/>
              </a:spcBef>
            </a:pPr>
            <a:r>
              <a:rPr sz="1100" b="1" i="0">
                <a:solidFill>
                  <a:srgbClr val="5C6B70"/>
                </a:solidFill>
                <a:latin typeface="Calibri"/>
              </a:rPr>
              <a:t>missing data (flow/head)
no model could run</a:t>
            </a:r>
          </a:p>
        </p:txBody>
      </p:sp>
      <p:sp>
        <p:nvSpPr>
          <p:cNvPr id="11" name="Rounded Rectangle 10"/>
          <p:cNvSpPr/>
          <p:nvPr/>
        </p:nvSpPr>
        <p:spPr>
          <a:xfrm>
            <a:off x="4270248" y="4160520"/>
            <a:ext cx="3648456" cy="14173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0248" y="4160520"/>
            <a:ext cx="3648456" cy="109728"/>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61688" y="4343400"/>
            <a:ext cx="3465576" cy="1143000"/>
          </a:xfrm>
          <a:prstGeom prst="rect">
            <a:avLst/>
          </a:prstGeom>
          <a:noFill/>
        </p:spPr>
        <p:txBody>
          <a:bodyPr wrap="square" lIns="45720" tIns="18288" rIns="45720" bIns="18288" anchor="ctr">
            <a:spAutoFit/>
          </a:bodyPr>
          <a:lstStyle/>
          <a:p>
            <a:pPr algn="ctr"/>
            <a:r>
              <a:rPr sz="3000" b="1" i="0">
                <a:solidFill>
                  <a:srgbClr val="3A9AAE"/>
                </a:solidFill>
                <a:latin typeface="Calibri"/>
              </a:rPr>
              <a:t>6.7%</a:t>
            </a:r>
          </a:p>
          <a:p>
            <a:pPr algn="ctr">
              <a:spcBef>
                <a:spcPts val="200"/>
              </a:spcBef>
            </a:pPr>
            <a:r>
              <a:rPr sz="1100" b="1" i="0">
                <a:solidFill>
                  <a:srgbClr val="5C6B70"/>
                </a:solidFill>
                <a:latin typeface="Calibri"/>
              </a:rPr>
              <a:t>physics floor
&lt;1 kW rated power</a:t>
            </a:r>
          </a:p>
        </p:txBody>
      </p:sp>
      <p:sp>
        <p:nvSpPr>
          <p:cNvPr id="14" name="Rounded Rectangle 13"/>
          <p:cNvSpPr/>
          <p:nvPr/>
        </p:nvSpPr>
        <p:spPr>
          <a:xfrm>
            <a:off x="8083296" y="4160520"/>
            <a:ext cx="3648456" cy="1417320"/>
          </a:xfrm>
          <a:prstGeom prst="roundRect">
            <a:avLst>
              <a:gd name="adj" fmla="val 6000"/>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83296" y="4160520"/>
            <a:ext cx="3648456" cy="1097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4343400"/>
            <a:ext cx="3465576" cy="1143000"/>
          </a:xfrm>
          <a:prstGeom prst="rect">
            <a:avLst/>
          </a:prstGeom>
          <a:noFill/>
        </p:spPr>
        <p:txBody>
          <a:bodyPr wrap="square" lIns="45720" tIns="18288" rIns="45720" bIns="18288" anchor="ctr">
            <a:spAutoFit/>
          </a:bodyPr>
          <a:lstStyle/>
          <a:p>
            <a:pPr algn="ctr"/>
            <a:r>
              <a:rPr sz="3000" b="1" i="0">
                <a:solidFill>
                  <a:srgbClr val="E89B1F"/>
                </a:solidFill>
                <a:latin typeface="Calibri"/>
              </a:rPr>
              <a:t>16.5%</a:t>
            </a:r>
          </a:p>
          <a:p>
            <a:pPr algn="ctr">
              <a:spcBef>
                <a:spcPts val="200"/>
              </a:spcBef>
            </a:pPr>
            <a:r>
              <a:rPr sz="1100" b="1" i="0">
                <a:solidFill>
                  <a:srgbClr val="5C6B70"/>
                </a:solidFill>
                <a:latin typeface="Calibri"/>
              </a:rPr>
              <a:t>economics
full pro-forma, failed</a:t>
            </a:r>
          </a:p>
        </p:txBody>
      </p:sp>
      <p:sp>
        <p:nvSpPr>
          <p:cNvPr id="17" name="TextBox 16"/>
          <p:cNvSpPr txBox="1"/>
          <p:nvPr/>
        </p:nvSpPr>
        <p:spPr>
          <a:xfrm>
            <a:off x="548640" y="5852160"/>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Headline: ~80% of exclusions are missing public data, NOT economic rejections — the pipeline could not cherry-pick because most sites never reached the financial model. Uneconomic sites are kept, not deleted.</a:t>
            </a:r>
          </a:p>
        </p:txBody>
      </p:sp>
      <p:sp>
        <p:nvSpPr>
          <p:cNvPr id="18" name="Rectangle 17"/>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20" name="TextBox 19"/>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E89B1F"/>
                </a:solidFill>
                <a:latin typeface="Calibri"/>
              </a:rPr>
              <a:t>PROFIT GRADIENT</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Every site graded on 3 economic axes</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554480"/>
          <a:ext cx="3657600" cy="25146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02920">
                <a:tc>
                  <a:txBody>
                    <a:bodyPr/>
                    <a:lstStyle/>
                    <a:p>
                      <a:pPr algn="l"/>
                      <a:r>
                        <a:rPr sz="1100" b="1" i="0">
                          <a:solidFill>
                            <a:srgbClr val="FFFFFF"/>
                          </a:solidFill>
                          <a:latin typeface="Calibri"/>
                        </a:rPr>
                        <a:t>Payback band</a:t>
                      </a:r>
                    </a:p>
                  </a:txBody>
                  <a:tcPr marL="54864" marR="54864" marT="18288" marB="18288" anchor="ctr">
                    <a:solidFill>
                      <a:srgbClr val="0C2D3A"/>
                    </a:solidFill>
                  </a:tcPr>
                </a:tc>
                <a:tc>
                  <a:txBody>
                    <a:bodyPr/>
                    <a:lstStyle/>
                    <a:p>
                      <a:pPr algn="r"/>
                      <a:r>
                        <a:rPr sz="1100" b="1" i="0">
                          <a:solidFill>
                            <a:srgbClr val="FFFFFF"/>
                          </a:solidFill>
                          <a:latin typeface="Calibri"/>
                        </a:rPr>
                        <a:t>Sites</a:t>
                      </a:r>
                    </a:p>
                  </a:txBody>
                  <a:tcPr marL="54864" marR="54864" marT="18288" marB="18288" anchor="ctr">
                    <a:solidFill>
                      <a:srgbClr val="0C2D3A"/>
                    </a:solidFill>
                  </a:tcPr>
                </a:tc>
                <a:tc>
                  <a:txBody>
                    <a:bodyPr/>
                    <a:lstStyle/>
                    <a:p>
                      <a:pPr algn="r"/>
                      <a:r>
                        <a:rPr sz="1100" b="1" i="0">
                          <a:solidFill>
                            <a:srgbClr val="FFFFFF"/>
                          </a:solidFill>
                          <a:latin typeface="Calibri"/>
                        </a:rPr>
                        <a:t>GWh/yr</a:t>
                      </a:r>
                    </a:p>
                  </a:txBody>
                  <a:tcPr marL="54864" marR="54864" marT="18288" marB="18288" anchor="ctr">
                    <a:solidFill>
                      <a:srgbClr val="0C2D3A"/>
                    </a:solidFill>
                  </a:tcPr>
                </a:tc>
                <a:extLst>
                  <a:ext uri="{0D108BD9-81ED-4DB2-BD59-A6C34878D82A}">
                    <a16:rowId xmlns:a16="http://schemas.microsoft.com/office/drawing/2014/main" val="10000"/>
                  </a:ext>
                </a:extLst>
              </a:tr>
              <a:tr h="502920">
                <a:tc>
                  <a:txBody>
                    <a:bodyPr/>
                    <a:lstStyle/>
                    <a:p>
                      <a:pPr algn="l"/>
                      <a:r>
                        <a:rPr sz="1150" b="1" i="0">
                          <a:solidFill>
                            <a:srgbClr val="1A2429"/>
                          </a:solidFill>
                          <a:latin typeface="Calibri"/>
                        </a:rPr>
                        <a:t>Excellent (≤5 yr)</a:t>
                      </a:r>
                    </a:p>
                  </a:txBody>
                  <a:tcPr marL="54864" marR="54864" marT="9144" marB="9144" anchor="ctr">
                    <a:solidFill>
                      <a:srgbClr val="FFFFFF"/>
                    </a:solidFill>
                  </a:tcPr>
                </a:tc>
                <a:tc>
                  <a:txBody>
                    <a:bodyPr/>
                    <a:lstStyle/>
                    <a:p>
                      <a:pPr algn="r"/>
                      <a:r>
                        <a:rPr sz="1150" b="0" i="0">
                          <a:solidFill>
                            <a:srgbClr val="1A2429"/>
                          </a:solidFill>
                          <a:latin typeface="Calibri"/>
                        </a:rPr>
                        <a:t>94</a:t>
                      </a:r>
                    </a:p>
                  </a:txBody>
                  <a:tcPr marL="54864" marR="54864" marT="9144" marB="9144" anchor="ctr">
                    <a:solidFill>
                      <a:srgbClr val="FFFFFF"/>
                    </a:solidFill>
                  </a:tcPr>
                </a:tc>
                <a:tc>
                  <a:txBody>
                    <a:bodyPr/>
                    <a:lstStyle/>
                    <a:p>
                      <a:pPr algn="r"/>
                      <a:r>
                        <a:rPr sz="1150" b="0" i="0">
                          <a:solidFill>
                            <a:srgbClr val="1A2429"/>
                          </a:solidFill>
                          <a:latin typeface="Calibri"/>
                        </a:rPr>
                        <a:t>181.7</a:t>
                      </a:r>
                    </a:p>
                  </a:txBody>
                  <a:tcPr marL="54864" marR="54864" marT="9144" marB="9144" anchor="ctr">
                    <a:solidFill>
                      <a:srgbClr val="FFFFFF"/>
                    </a:solidFill>
                  </a:tcPr>
                </a:tc>
                <a:extLst>
                  <a:ext uri="{0D108BD9-81ED-4DB2-BD59-A6C34878D82A}">
                    <a16:rowId xmlns:a16="http://schemas.microsoft.com/office/drawing/2014/main" val="10001"/>
                  </a:ext>
                </a:extLst>
              </a:tr>
              <a:tr h="502920">
                <a:tc>
                  <a:txBody>
                    <a:bodyPr/>
                    <a:lstStyle/>
                    <a:p>
                      <a:pPr algn="l"/>
                      <a:r>
                        <a:rPr sz="1150" b="1" i="0">
                          <a:solidFill>
                            <a:srgbClr val="1A2429"/>
                          </a:solidFill>
                          <a:latin typeface="Calibri"/>
                        </a:rPr>
                        <a:t>Good (5–10 yr)</a:t>
                      </a:r>
                    </a:p>
                  </a:txBody>
                  <a:tcPr marL="54864" marR="54864" marT="9144" marB="9144" anchor="ctr">
                    <a:solidFill>
                      <a:srgbClr val="ECF1F2"/>
                    </a:solidFill>
                  </a:tcPr>
                </a:tc>
                <a:tc>
                  <a:txBody>
                    <a:bodyPr/>
                    <a:lstStyle/>
                    <a:p>
                      <a:pPr algn="r"/>
                      <a:r>
                        <a:rPr sz="1150" b="0" i="0">
                          <a:solidFill>
                            <a:srgbClr val="1A2429"/>
                          </a:solidFill>
                          <a:latin typeface="Calibri"/>
                        </a:rPr>
                        <a:t>507</a:t>
                      </a:r>
                    </a:p>
                  </a:txBody>
                  <a:tcPr marL="54864" marR="54864" marT="9144" marB="9144" anchor="ctr">
                    <a:solidFill>
                      <a:srgbClr val="ECF1F2"/>
                    </a:solidFill>
                  </a:tcPr>
                </a:tc>
                <a:tc>
                  <a:txBody>
                    <a:bodyPr/>
                    <a:lstStyle/>
                    <a:p>
                      <a:pPr algn="r"/>
                      <a:r>
                        <a:rPr sz="1150" b="0" i="0">
                          <a:solidFill>
                            <a:srgbClr val="1A2429"/>
                          </a:solidFill>
                          <a:latin typeface="Calibri"/>
                        </a:rPr>
                        <a:t>153.3</a:t>
                      </a:r>
                    </a:p>
                  </a:txBody>
                  <a:tcPr marL="54864" marR="54864" marT="9144" marB="9144" anchor="ctr">
                    <a:solidFill>
                      <a:srgbClr val="ECF1F2"/>
                    </a:solidFill>
                  </a:tcPr>
                </a:tc>
                <a:extLst>
                  <a:ext uri="{0D108BD9-81ED-4DB2-BD59-A6C34878D82A}">
                    <a16:rowId xmlns:a16="http://schemas.microsoft.com/office/drawing/2014/main" val="10002"/>
                  </a:ext>
                </a:extLst>
              </a:tr>
              <a:tr h="502920">
                <a:tc>
                  <a:txBody>
                    <a:bodyPr/>
                    <a:lstStyle/>
                    <a:p>
                      <a:pPr algn="l"/>
                      <a:r>
                        <a:rPr sz="1150" b="1" i="0">
                          <a:solidFill>
                            <a:srgbClr val="1A2429"/>
                          </a:solidFill>
                          <a:latin typeface="Calibri"/>
                        </a:rPr>
                        <a:t>Marginal (10–20 yr)</a:t>
                      </a:r>
                    </a:p>
                  </a:txBody>
                  <a:tcPr marL="54864" marR="54864" marT="9144" marB="9144" anchor="ctr">
                    <a:solidFill>
                      <a:srgbClr val="FFFFFF"/>
                    </a:solidFill>
                  </a:tcPr>
                </a:tc>
                <a:tc>
                  <a:txBody>
                    <a:bodyPr/>
                    <a:lstStyle/>
                    <a:p>
                      <a:pPr algn="r"/>
                      <a:r>
                        <a:rPr sz="1150" b="0" i="0">
                          <a:solidFill>
                            <a:srgbClr val="1A2429"/>
                          </a:solidFill>
                          <a:latin typeface="Calibri"/>
                        </a:rPr>
                        <a:t>540</a:t>
                      </a:r>
                    </a:p>
                  </a:txBody>
                  <a:tcPr marL="54864" marR="54864" marT="9144" marB="9144" anchor="ctr">
                    <a:solidFill>
                      <a:srgbClr val="FFFFFF"/>
                    </a:solidFill>
                  </a:tcPr>
                </a:tc>
                <a:tc>
                  <a:txBody>
                    <a:bodyPr/>
                    <a:lstStyle/>
                    <a:p>
                      <a:pPr algn="r"/>
                      <a:r>
                        <a:rPr sz="1150" b="0" i="0">
                          <a:solidFill>
                            <a:srgbClr val="1A2429"/>
                          </a:solidFill>
                          <a:latin typeface="Calibri"/>
                        </a:rPr>
                        <a:t>74.1</a:t>
                      </a:r>
                    </a:p>
                  </a:txBody>
                  <a:tcPr marL="54864" marR="54864" marT="9144" marB="9144" anchor="ctr">
                    <a:solidFill>
                      <a:srgbClr val="FFFFFF"/>
                    </a:solidFill>
                  </a:tcPr>
                </a:tc>
                <a:extLst>
                  <a:ext uri="{0D108BD9-81ED-4DB2-BD59-A6C34878D82A}">
                    <a16:rowId xmlns:a16="http://schemas.microsoft.com/office/drawing/2014/main" val="10003"/>
                  </a:ext>
                </a:extLst>
              </a:tr>
              <a:tr h="502920">
                <a:tc>
                  <a:txBody>
                    <a:bodyPr/>
                    <a:lstStyle/>
                    <a:p>
                      <a:pPr algn="l"/>
                      <a:r>
                        <a:rPr sz="1150" b="1" i="0">
                          <a:solidFill>
                            <a:srgbClr val="1A2429"/>
                          </a:solidFill>
                          <a:latin typeface="Calibri"/>
                        </a:rPr>
                        <a:t>Uneconomic (&gt;20 yr)</a:t>
                      </a:r>
                    </a:p>
                  </a:txBody>
                  <a:tcPr marL="54864" marR="54864" marT="9144" marB="9144" anchor="ctr">
                    <a:solidFill>
                      <a:srgbClr val="ECF1F2"/>
                    </a:solidFill>
                  </a:tcPr>
                </a:tc>
                <a:tc>
                  <a:txBody>
                    <a:bodyPr/>
                    <a:lstStyle/>
                    <a:p>
                      <a:pPr algn="r"/>
                      <a:r>
                        <a:rPr sz="1150" b="0" i="0">
                          <a:solidFill>
                            <a:srgbClr val="1A2429"/>
                          </a:solidFill>
                          <a:latin typeface="Calibri"/>
                        </a:rPr>
                        <a:t>2,642</a:t>
                      </a:r>
                    </a:p>
                  </a:txBody>
                  <a:tcPr marL="54864" marR="54864" marT="9144" marB="9144" anchor="ctr">
                    <a:solidFill>
                      <a:srgbClr val="ECF1F2"/>
                    </a:solidFill>
                  </a:tcPr>
                </a:tc>
                <a:tc>
                  <a:txBody>
                    <a:bodyPr/>
                    <a:lstStyle/>
                    <a:p>
                      <a:pPr algn="r"/>
                      <a:r>
                        <a:rPr sz="1150" b="0" i="0">
                          <a:solidFill>
                            <a:srgbClr val="1A2429"/>
                          </a:solidFill>
                          <a:latin typeface="Calibri"/>
                        </a:rPr>
                        <a:t>105.6</a:t>
                      </a:r>
                    </a:p>
                  </a:txBody>
                  <a:tcPr marL="54864" marR="54864" marT="9144" marB="9144" anchor="ctr">
                    <a:solidFill>
                      <a:srgbClr val="ECF1F2"/>
                    </a:solidFill>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4270248" y="1554480"/>
          <a:ext cx="3657600" cy="25146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02920">
                <a:tc>
                  <a:txBody>
                    <a:bodyPr/>
                    <a:lstStyle/>
                    <a:p>
                      <a:pPr algn="l"/>
                      <a:r>
                        <a:rPr sz="1100" b="1" i="0">
                          <a:solidFill>
                            <a:srgbClr val="FFFFFF"/>
                          </a:solidFill>
                          <a:latin typeface="Calibri"/>
                        </a:rPr>
                        <a:t>NPV band</a:t>
                      </a:r>
                    </a:p>
                  </a:txBody>
                  <a:tcPr marL="54864" marR="54864" marT="18288" marB="18288" anchor="ctr">
                    <a:solidFill>
                      <a:srgbClr val="0C2D3A"/>
                    </a:solidFill>
                  </a:tcPr>
                </a:tc>
                <a:tc>
                  <a:txBody>
                    <a:bodyPr/>
                    <a:lstStyle/>
                    <a:p>
                      <a:pPr algn="r"/>
                      <a:r>
                        <a:rPr sz="1100" b="1" i="0">
                          <a:solidFill>
                            <a:srgbClr val="FFFFFF"/>
                          </a:solidFill>
                          <a:latin typeface="Calibri"/>
                        </a:rPr>
                        <a:t>Sites</a:t>
                      </a:r>
                    </a:p>
                  </a:txBody>
                  <a:tcPr marL="54864" marR="54864" marT="18288" marB="18288" anchor="ctr">
                    <a:solidFill>
                      <a:srgbClr val="0C2D3A"/>
                    </a:solidFill>
                  </a:tcPr>
                </a:tc>
                <a:tc>
                  <a:txBody>
                    <a:bodyPr/>
                    <a:lstStyle/>
                    <a:p>
                      <a:pPr algn="r"/>
                      <a:r>
                        <a:rPr sz="1100" b="1" i="0">
                          <a:solidFill>
                            <a:srgbClr val="FFFFFF"/>
                          </a:solidFill>
                          <a:latin typeface="Calibri"/>
                        </a:rPr>
                        <a:t>GWh/yr</a:t>
                      </a:r>
                    </a:p>
                  </a:txBody>
                  <a:tcPr marL="54864" marR="54864" marT="18288" marB="18288" anchor="ctr">
                    <a:solidFill>
                      <a:srgbClr val="0C2D3A"/>
                    </a:solidFill>
                  </a:tcPr>
                </a:tc>
                <a:extLst>
                  <a:ext uri="{0D108BD9-81ED-4DB2-BD59-A6C34878D82A}">
                    <a16:rowId xmlns:a16="http://schemas.microsoft.com/office/drawing/2014/main" val="10000"/>
                  </a:ext>
                </a:extLst>
              </a:tr>
              <a:tr h="502920">
                <a:tc>
                  <a:txBody>
                    <a:bodyPr/>
                    <a:lstStyle/>
                    <a:p>
                      <a:pPr algn="l"/>
                      <a:r>
                        <a:rPr sz="1150" b="1" i="0">
                          <a:solidFill>
                            <a:srgbClr val="1A2429"/>
                          </a:solidFill>
                          <a:latin typeface="Calibri"/>
                        </a:rPr>
                        <a:t>High (≥$500k)</a:t>
                      </a:r>
                    </a:p>
                  </a:txBody>
                  <a:tcPr marL="54864" marR="54864" marT="9144" marB="9144" anchor="ctr">
                    <a:solidFill>
                      <a:srgbClr val="FFFFFF"/>
                    </a:solidFill>
                  </a:tcPr>
                </a:tc>
                <a:tc>
                  <a:txBody>
                    <a:bodyPr/>
                    <a:lstStyle/>
                    <a:p>
                      <a:pPr algn="r"/>
                      <a:r>
                        <a:rPr sz="1150" b="0" i="0">
                          <a:solidFill>
                            <a:srgbClr val="1A2429"/>
                          </a:solidFill>
                          <a:latin typeface="Calibri"/>
                        </a:rPr>
                        <a:t>103</a:t>
                      </a:r>
                    </a:p>
                  </a:txBody>
                  <a:tcPr marL="54864" marR="54864" marT="9144" marB="9144" anchor="ctr">
                    <a:solidFill>
                      <a:srgbClr val="FFFFFF"/>
                    </a:solidFill>
                  </a:tcPr>
                </a:tc>
                <a:tc>
                  <a:txBody>
                    <a:bodyPr/>
                    <a:lstStyle/>
                    <a:p>
                      <a:pPr algn="r"/>
                      <a:r>
                        <a:rPr sz="1150" b="0" i="0">
                          <a:solidFill>
                            <a:srgbClr val="1A2429"/>
                          </a:solidFill>
                          <a:latin typeface="Calibri"/>
                        </a:rPr>
                        <a:t>241.1</a:t>
                      </a:r>
                    </a:p>
                  </a:txBody>
                  <a:tcPr marL="54864" marR="54864" marT="9144" marB="9144" anchor="ctr">
                    <a:solidFill>
                      <a:srgbClr val="FFFFFF"/>
                    </a:solidFill>
                  </a:tcPr>
                </a:tc>
                <a:extLst>
                  <a:ext uri="{0D108BD9-81ED-4DB2-BD59-A6C34878D82A}">
                    <a16:rowId xmlns:a16="http://schemas.microsoft.com/office/drawing/2014/main" val="10001"/>
                  </a:ext>
                </a:extLst>
              </a:tr>
              <a:tr h="502920">
                <a:tc>
                  <a:txBody>
                    <a:bodyPr/>
                    <a:lstStyle/>
                    <a:p>
                      <a:pPr algn="l"/>
                      <a:r>
                        <a:rPr sz="1150" b="1" i="0">
                          <a:solidFill>
                            <a:srgbClr val="1A2429"/>
                          </a:solidFill>
                          <a:latin typeface="Calibri"/>
                        </a:rPr>
                        <a:t>Medium ($100–500k)</a:t>
                      </a:r>
                    </a:p>
                  </a:txBody>
                  <a:tcPr marL="54864" marR="54864" marT="9144" marB="9144" anchor="ctr">
                    <a:solidFill>
                      <a:srgbClr val="ECF1F2"/>
                    </a:solidFill>
                  </a:tcPr>
                </a:tc>
                <a:tc>
                  <a:txBody>
                    <a:bodyPr/>
                    <a:lstStyle/>
                    <a:p>
                      <a:pPr algn="r"/>
                      <a:r>
                        <a:rPr sz="1150" b="0" i="0">
                          <a:solidFill>
                            <a:srgbClr val="1A2429"/>
                          </a:solidFill>
                          <a:latin typeface="Calibri"/>
                        </a:rPr>
                        <a:t>155</a:t>
                      </a:r>
                    </a:p>
                  </a:txBody>
                  <a:tcPr marL="54864" marR="54864" marT="9144" marB="9144" anchor="ctr">
                    <a:solidFill>
                      <a:srgbClr val="ECF1F2"/>
                    </a:solidFill>
                  </a:tcPr>
                </a:tc>
                <a:tc>
                  <a:txBody>
                    <a:bodyPr/>
                    <a:lstStyle/>
                    <a:p>
                      <a:pPr algn="r"/>
                      <a:r>
                        <a:rPr sz="1150" b="0" i="0">
                          <a:solidFill>
                            <a:srgbClr val="1A2429"/>
                          </a:solidFill>
                          <a:latin typeface="Calibri"/>
                        </a:rPr>
                        <a:t>71.9</a:t>
                      </a:r>
                    </a:p>
                  </a:txBody>
                  <a:tcPr marL="54864" marR="54864" marT="9144" marB="9144" anchor="ctr">
                    <a:solidFill>
                      <a:srgbClr val="ECF1F2"/>
                    </a:solidFill>
                  </a:tcPr>
                </a:tc>
                <a:extLst>
                  <a:ext uri="{0D108BD9-81ED-4DB2-BD59-A6C34878D82A}">
                    <a16:rowId xmlns:a16="http://schemas.microsoft.com/office/drawing/2014/main" val="10002"/>
                  </a:ext>
                </a:extLst>
              </a:tr>
              <a:tr h="502920">
                <a:tc>
                  <a:txBody>
                    <a:bodyPr/>
                    <a:lstStyle/>
                    <a:p>
                      <a:pPr algn="l"/>
                      <a:r>
                        <a:rPr sz="1150" b="1" i="0">
                          <a:solidFill>
                            <a:srgbClr val="1A2429"/>
                          </a:solidFill>
                          <a:latin typeface="Calibri"/>
                        </a:rPr>
                        <a:t>Low ($0–100k)</a:t>
                      </a:r>
                    </a:p>
                  </a:txBody>
                  <a:tcPr marL="54864" marR="54864" marT="9144" marB="9144" anchor="ctr">
                    <a:solidFill>
                      <a:srgbClr val="FFFFFF"/>
                    </a:solidFill>
                  </a:tcPr>
                </a:tc>
                <a:tc>
                  <a:txBody>
                    <a:bodyPr/>
                    <a:lstStyle/>
                    <a:p>
                      <a:pPr algn="r"/>
                      <a:r>
                        <a:rPr sz="1150" b="0" i="0">
                          <a:solidFill>
                            <a:srgbClr val="1A2429"/>
                          </a:solidFill>
                          <a:latin typeface="Calibri"/>
                        </a:rPr>
                        <a:t>883</a:t>
                      </a:r>
                    </a:p>
                  </a:txBody>
                  <a:tcPr marL="54864" marR="54864" marT="9144" marB="9144" anchor="ctr">
                    <a:solidFill>
                      <a:srgbClr val="FFFFFF"/>
                    </a:solidFill>
                  </a:tcPr>
                </a:tc>
                <a:tc>
                  <a:txBody>
                    <a:bodyPr/>
                    <a:lstStyle/>
                    <a:p>
                      <a:pPr algn="r"/>
                      <a:r>
                        <a:rPr sz="1150" b="0" i="0">
                          <a:solidFill>
                            <a:srgbClr val="1A2429"/>
                          </a:solidFill>
                          <a:latin typeface="Calibri"/>
                        </a:rPr>
                        <a:t>96.2</a:t>
                      </a:r>
                    </a:p>
                  </a:txBody>
                  <a:tcPr marL="54864" marR="54864" marT="9144" marB="9144" anchor="ctr">
                    <a:solidFill>
                      <a:srgbClr val="FFFFFF"/>
                    </a:solidFill>
                  </a:tcPr>
                </a:tc>
                <a:extLst>
                  <a:ext uri="{0D108BD9-81ED-4DB2-BD59-A6C34878D82A}">
                    <a16:rowId xmlns:a16="http://schemas.microsoft.com/office/drawing/2014/main" val="10003"/>
                  </a:ext>
                </a:extLst>
              </a:tr>
              <a:tr h="502920">
                <a:tc>
                  <a:txBody>
                    <a:bodyPr/>
                    <a:lstStyle/>
                    <a:p>
                      <a:pPr algn="l"/>
                      <a:r>
                        <a:rPr sz="1150" b="1" i="0">
                          <a:solidFill>
                            <a:srgbClr val="1A2429"/>
                          </a:solidFill>
                          <a:latin typeface="Calibri"/>
                        </a:rPr>
                        <a:t>Negative (≤$0)</a:t>
                      </a:r>
                    </a:p>
                  </a:txBody>
                  <a:tcPr marL="54864" marR="54864" marT="9144" marB="9144" anchor="ctr">
                    <a:solidFill>
                      <a:srgbClr val="ECF1F2"/>
                    </a:solidFill>
                  </a:tcPr>
                </a:tc>
                <a:tc>
                  <a:txBody>
                    <a:bodyPr/>
                    <a:lstStyle/>
                    <a:p>
                      <a:pPr algn="r"/>
                      <a:r>
                        <a:rPr sz="1150" b="0" i="0">
                          <a:solidFill>
                            <a:srgbClr val="1A2429"/>
                          </a:solidFill>
                          <a:latin typeface="Calibri"/>
                        </a:rPr>
                        <a:t>2,642</a:t>
                      </a:r>
                    </a:p>
                  </a:txBody>
                  <a:tcPr marL="54864" marR="54864" marT="9144" marB="9144" anchor="ctr">
                    <a:solidFill>
                      <a:srgbClr val="ECF1F2"/>
                    </a:solidFill>
                  </a:tcPr>
                </a:tc>
                <a:tc>
                  <a:txBody>
                    <a:bodyPr/>
                    <a:lstStyle/>
                    <a:p>
                      <a:pPr algn="r"/>
                      <a:r>
                        <a:rPr sz="1150" b="0" i="0">
                          <a:solidFill>
                            <a:srgbClr val="1A2429"/>
                          </a:solidFill>
                          <a:latin typeface="Calibri"/>
                        </a:rPr>
                        <a:t>105.6</a:t>
                      </a:r>
                    </a:p>
                  </a:txBody>
                  <a:tcPr marL="54864" marR="54864" marT="9144" marB="9144" anchor="ctr">
                    <a:solidFill>
                      <a:srgbClr val="ECF1F2"/>
                    </a:solidFill>
                  </a:tcPr>
                </a:tc>
                <a:extLst>
                  <a:ext uri="{0D108BD9-81ED-4DB2-BD59-A6C34878D82A}">
                    <a16:rowId xmlns:a16="http://schemas.microsoft.com/office/drawing/2014/main" val="10004"/>
                  </a:ext>
                </a:extLst>
              </a:tr>
            </a:tbl>
          </a:graphicData>
        </a:graphic>
      </p:graphicFrame>
      <p:graphicFrame>
        <p:nvGraphicFramePr>
          <p:cNvPr id="9" name="Table 8"/>
          <p:cNvGraphicFramePr>
            <a:graphicFrameLocks noGrp="1"/>
          </p:cNvGraphicFramePr>
          <p:nvPr/>
        </p:nvGraphicFramePr>
        <p:xfrm>
          <a:off x="8083296" y="1554480"/>
          <a:ext cx="3657600" cy="25146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02920">
                <a:tc>
                  <a:txBody>
                    <a:bodyPr/>
                    <a:lstStyle/>
                    <a:p>
                      <a:pPr algn="l"/>
                      <a:r>
                        <a:rPr sz="1100" b="1" i="0">
                          <a:solidFill>
                            <a:srgbClr val="FFFFFF"/>
                          </a:solidFill>
                          <a:latin typeface="Calibri"/>
                        </a:rPr>
                        <a:t>IRR band</a:t>
                      </a:r>
                    </a:p>
                  </a:txBody>
                  <a:tcPr marL="54864" marR="54864" marT="18288" marB="18288" anchor="ctr">
                    <a:solidFill>
                      <a:srgbClr val="0C2D3A"/>
                    </a:solidFill>
                  </a:tcPr>
                </a:tc>
                <a:tc>
                  <a:txBody>
                    <a:bodyPr/>
                    <a:lstStyle/>
                    <a:p>
                      <a:pPr algn="r"/>
                      <a:r>
                        <a:rPr sz="1100" b="1" i="0">
                          <a:solidFill>
                            <a:srgbClr val="FFFFFF"/>
                          </a:solidFill>
                          <a:latin typeface="Calibri"/>
                        </a:rPr>
                        <a:t>Sites</a:t>
                      </a:r>
                    </a:p>
                  </a:txBody>
                  <a:tcPr marL="54864" marR="54864" marT="18288" marB="18288" anchor="ctr">
                    <a:solidFill>
                      <a:srgbClr val="0C2D3A"/>
                    </a:solidFill>
                  </a:tcPr>
                </a:tc>
                <a:tc>
                  <a:txBody>
                    <a:bodyPr/>
                    <a:lstStyle/>
                    <a:p>
                      <a:pPr algn="r"/>
                      <a:r>
                        <a:rPr sz="1100" b="1" i="0">
                          <a:solidFill>
                            <a:srgbClr val="FFFFFF"/>
                          </a:solidFill>
                          <a:latin typeface="Calibri"/>
                        </a:rPr>
                        <a:t>GWh/yr</a:t>
                      </a:r>
                    </a:p>
                  </a:txBody>
                  <a:tcPr marL="54864" marR="54864" marT="18288" marB="18288" anchor="ctr">
                    <a:solidFill>
                      <a:srgbClr val="0C2D3A"/>
                    </a:solidFill>
                  </a:tcPr>
                </a:tc>
                <a:extLst>
                  <a:ext uri="{0D108BD9-81ED-4DB2-BD59-A6C34878D82A}">
                    <a16:rowId xmlns:a16="http://schemas.microsoft.com/office/drawing/2014/main" val="10000"/>
                  </a:ext>
                </a:extLst>
              </a:tr>
              <a:tr h="502920">
                <a:tc>
                  <a:txBody>
                    <a:bodyPr/>
                    <a:lstStyle/>
                    <a:p>
                      <a:pPr algn="l"/>
                      <a:r>
                        <a:rPr sz="1150" b="1" i="0">
                          <a:solidFill>
                            <a:srgbClr val="1A2429"/>
                          </a:solidFill>
                          <a:latin typeface="Calibri"/>
                        </a:rPr>
                        <a:t>Strong (≥15%)</a:t>
                      </a:r>
                    </a:p>
                  </a:txBody>
                  <a:tcPr marL="54864" marR="54864" marT="9144" marB="9144" anchor="ctr">
                    <a:solidFill>
                      <a:srgbClr val="FFFFFF"/>
                    </a:solidFill>
                  </a:tcPr>
                </a:tc>
                <a:tc>
                  <a:txBody>
                    <a:bodyPr/>
                    <a:lstStyle/>
                    <a:p>
                      <a:pPr algn="r"/>
                      <a:r>
                        <a:rPr sz="1150" b="0" i="0">
                          <a:solidFill>
                            <a:srgbClr val="1A2429"/>
                          </a:solidFill>
                          <a:latin typeface="Calibri"/>
                        </a:rPr>
                        <a:t>196</a:t>
                      </a:r>
                    </a:p>
                  </a:txBody>
                  <a:tcPr marL="54864" marR="54864" marT="9144" marB="9144" anchor="ctr">
                    <a:solidFill>
                      <a:srgbClr val="FFFFFF"/>
                    </a:solidFill>
                  </a:tcPr>
                </a:tc>
                <a:tc>
                  <a:txBody>
                    <a:bodyPr/>
                    <a:lstStyle/>
                    <a:p>
                      <a:pPr algn="r"/>
                      <a:r>
                        <a:rPr sz="1150" b="0" i="0">
                          <a:solidFill>
                            <a:srgbClr val="1A2429"/>
                          </a:solidFill>
                          <a:latin typeface="Calibri"/>
                        </a:rPr>
                        <a:t>242.1</a:t>
                      </a:r>
                    </a:p>
                  </a:txBody>
                  <a:tcPr marL="54864" marR="54864" marT="9144" marB="9144" anchor="ctr">
                    <a:solidFill>
                      <a:srgbClr val="FFFFFF"/>
                    </a:solidFill>
                  </a:tcPr>
                </a:tc>
                <a:extLst>
                  <a:ext uri="{0D108BD9-81ED-4DB2-BD59-A6C34878D82A}">
                    <a16:rowId xmlns:a16="http://schemas.microsoft.com/office/drawing/2014/main" val="10001"/>
                  </a:ext>
                </a:extLst>
              </a:tr>
              <a:tr h="502920">
                <a:tc>
                  <a:txBody>
                    <a:bodyPr/>
                    <a:lstStyle/>
                    <a:p>
                      <a:pPr algn="l"/>
                      <a:r>
                        <a:rPr sz="1150" b="1" i="0">
                          <a:solidFill>
                            <a:srgbClr val="1A2429"/>
                          </a:solidFill>
                          <a:latin typeface="Calibri"/>
                        </a:rPr>
                        <a:t>Moderate (8–15%)</a:t>
                      </a:r>
                    </a:p>
                  </a:txBody>
                  <a:tcPr marL="54864" marR="54864" marT="9144" marB="9144" anchor="ctr">
                    <a:solidFill>
                      <a:srgbClr val="ECF1F2"/>
                    </a:solidFill>
                  </a:tcPr>
                </a:tc>
                <a:tc>
                  <a:txBody>
                    <a:bodyPr/>
                    <a:lstStyle/>
                    <a:p>
                      <a:pPr algn="r"/>
                      <a:r>
                        <a:rPr sz="1150" b="0" i="0">
                          <a:solidFill>
                            <a:srgbClr val="1A2429"/>
                          </a:solidFill>
                          <a:latin typeface="Calibri"/>
                        </a:rPr>
                        <a:t>578</a:t>
                      </a:r>
                    </a:p>
                  </a:txBody>
                  <a:tcPr marL="54864" marR="54864" marT="9144" marB="9144" anchor="ctr">
                    <a:solidFill>
                      <a:srgbClr val="ECF1F2"/>
                    </a:solidFill>
                  </a:tcPr>
                </a:tc>
                <a:tc>
                  <a:txBody>
                    <a:bodyPr/>
                    <a:lstStyle/>
                    <a:p>
                      <a:pPr algn="r"/>
                      <a:r>
                        <a:rPr sz="1150" b="0" i="0">
                          <a:solidFill>
                            <a:srgbClr val="1A2429"/>
                          </a:solidFill>
                          <a:latin typeface="Calibri"/>
                        </a:rPr>
                        <a:t>120.3</a:t>
                      </a:r>
                    </a:p>
                  </a:txBody>
                  <a:tcPr marL="54864" marR="54864" marT="9144" marB="9144" anchor="ctr">
                    <a:solidFill>
                      <a:srgbClr val="ECF1F2"/>
                    </a:solidFill>
                  </a:tcPr>
                </a:tc>
                <a:extLst>
                  <a:ext uri="{0D108BD9-81ED-4DB2-BD59-A6C34878D82A}">
                    <a16:rowId xmlns:a16="http://schemas.microsoft.com/office/drawing/2014/main" val="10002"/>
                  </a:ext>
                </a:extLst>
              </a:tr>
              <a:tr h="502920">
                <a:tc>
                  <a:txBody>
                    <a:bodyPr/>
                    <a:lstStyle/>
                    <a:p>
                      <a:pPr algn="l"/>
                      <a:r>
                        <a:rPr sz="1150" b="1" i="0">
                          <a:solidFill>
                            <a:srgbClr val="1A2429"/>
                          </a:solidFill>
                          <a:latin typeface="Calibri"/>
                        </a:rPr>
                        <a:t>Weak (0–8%)</a:t>
                      </a:r>
                    </a:p>
                  </a:txBody>
                  <a:tcPr marL="54864" marR="54864" marT="9144" marB="9144" anchor="ctr">
                    <a:solidFill>
                      <a:srgbClr val="FFFFFF"/>
                    </a:solidFill>
                  </a:tcPr>
                </a:tc>
                <a:tc>
                  <a:txBody>
                    <a:bodyPr/>
                    <a:lstStyle/>
                    <a:p>
                      <a:pPr algn="r"/>
                      <a:r>
                        <a:rPr sz="1150" b="0" i="0">
                          <a:solidFill>
                            <a:srgbClr val="1A2429"/>
                          </a:solidFill>
                          <a:latin typeface="Calibri"/>
                        </a:rPr>
                        <a:t>2,181</a:t>
                      </a:r>
                    </a:p>
                  </a:txBody>
                  <a:tcPr marL="54864" marR="54864" marT="9144" marB="9144" anchor="ctr">
                    <a:solidFill>
                      <a:srgbClr val="FFFFFF"/>
                    </a:solidFill>
                  </a:tcPr>
                </a:tc>
                <a:tc>
                  <a:txBody>
                    <a:bodyPr/>
                    <a:lstStyle/>
                    <a:p>
                      <a:pPr algn="r"/>
                      <a:r>
                        <a:rPr sz="1150" b="0" i="0">
                          <a:solidFill>
                            <a:srgbClr val="1A2429"/>
                          </a:solidFill>
                          <a:latin typeface="Calibri"/>
                        </a:rPr>
                        <a:t>139.1</a:t>
                      </a:r>
                    </a:p>
                  </a:txBody>
                  <a:tcPr marL="54864" marR="54864" marT="9144" marB="9144" anchor="ctr">
                    <a:solidFill>
                      <a:srgbClr val="FFFFFF"/>
                    </a:solidFill>
                  </a:tcPr>
                </a:tc>
                <a:extLst>
                  <a:ext uri="{0D108BD9-81ED-4DB2-BD59-A6C34878D82A}">
                    <a16:rowId xmlns:a16="http://schemas.microsoft.com/office/drawing/2014/main" val="10003"/>
                  </a:ext>
                </a:extLst>
              </a:tr>
              <a:tr h="502920">
                <a:tc>
                  <a:txBody>
                    <a:bodyPr/>
                    <a:lstStyle/>
                    <a:p>
                      <a:pPr algn="l"/>
                      <a:r>
                        <a:rPr sz="1150" b="1" i="0">
                          <a:solidFill>
                            <a:srgbClr val="1A2429"/>
                          </a:solidFill>
                          <a:latin typeface="Calibri"/>
                        </a:rPr>
                        <a:t>None (&lt;0)</a:t>
                      </a:r>
                    </a:p>
                  </a:txBody>
                  <a:tcPr marL="54864" marR="54864" marT="9144" marB="9144" anchor="ctr">
                    <a:solidFill>
                      <a:srgbClr val="ECF1F2"/>
                    </a:solidFill>
                  </a:tcPr>
                </a:tc>
                <a:tc>
                  <a:txBody>
                    <a:bodyPr/>
                    <a:lstStyle/>
                    <a:p>
                      <a:pPr algn="r"/>
                      <a:r>
                        <a:rPr sz="1150" b="0" i="0">
                          <a:solidFill>
                            <a:srgbClr val="1A2429"/>
                          </a:solidFill>
                          <a:latin typeface="Calibri"/>
                        </a:rPr>
                        <a:t>828</a:t>
                      </a:r>
                    </a:p>
                  </a:txBody>
                  <a:tcPr marL="54864" marR="54864" marT="9144" marB="9144" anchor="ctr">
                    <a:solidFill>
                      <a:srgbClr val="ECF1F2"/>
                    </a:solidFill>
                  </a:tcPr>
                </a:tc>
                <a:tc>
                  <a:txBody>
                    <a:bodyPr/>
                    <a:lstStyle/>
                    <a:p>
                      <a:pPr algn="r"/>
                      <a:r>
                        <a:rPr sz="1150" b="0" i="0">
                          <a:solidFill>
                            <a:srgbClr val="1A2429"/>
                          </a:solidFill>
                          <a:latin typeface="Calibri"/>
                        </a:rPr>
                        <a:t>13.3</a:t>
                      </a:r>
                    </a:p>
                  </a:txBody>
                  <a:tcPr marL="54864" marR="54864" marT="9144" marB="9144" anchor="ctr">
                    <a:solidFill>
                      <a:srgbClr val="ECF1F2"/>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548640" y="4160520"/>
            <a:ext cx="11064240" cy="4754880"/>
          </a:xfrm>
          <a:prstGeom prst="rect">
            <a:avLst/>
          </a:prstGeom>
          <a:noFill/>
        </p:spPr>
        <p:txBody>
          <a:bodyPr wrap="square" lIns="45720" tIns="18288" rIns="45720" bIns="18288" anchor="t">
            <a:spAutoFit/>
          </a:bodyPr>
          <a:lstStyle/>
          <a:p>
            <a:pPr>
              <a:spcBef>
                <a:spcPts val="0"/>
              </a:spcBef>
              <a:spcAft>
                <a:spcPts val="800"/>
              </a:spcAft>
            </a:pPr>
            <a:r>
              <a:rPr sz="1350" b="1" i="0">
                <a:solidFill>
                  <a:srgbClr val="126E82"/>
                </a:solidFill>
                <a:latin typeface="Calibri"/>
              </a:rPr>
              <a:t>▸  </a:t>
            </a:r>
            <a:r>
              <a:rPr sz="1350" b="1" i="0">
                <a:solidFill>
                  <a:srgbClr val="0C2D3A"/>
                </a:solidFill>
                <a:latin typeface="Calibri"/>
              </a:rPr>
              <a:t>Energy is concentrated:</a:t>
            </a:r>
            <a:r>
              <a:rPr sz="1350" b="0" i="0">
                <a:solidFill>
                  <a:srgbClr val="1A2429"/>
                </a:solidFill>
                <a:latin typeface="Calibri"/>
              </a:rPr>
              <a:t> the 94 excellent-payback sites (≤5 yr) hold 182 GWh/yr — ~44% of all viable energy. A pilot targets these first.</a:t>
            </a:r>
          </a:p>
          <a:p>
            <a:pPr>
              <a:spcBef>
                <a:spcPts val="0"/>
              </a:spcBef>
              <a:spcAft>
                <a:spcPts val="800"/>
              </a:spcAft>
            </a:pPr>
            <a:r>
              <a:rPr sz="1350" b="1" i="0">
                <a:solidFill>
                  <a:srgbClr val="126E82"/>
                </a:solidFill>
                <a:latin typeface="Calibri"/>
              </a:rPr>
              <a:t>▸  </a:t>
            </a:r>
            <a:r>
              <a:rPr sz="1350" b="0" i="0">
                <a:solidFill>
                  <a:srgbClr val="1A2429"/>
                </a:solidFill>
                <a:latin typeface="Calibri"/>
              </a:rPr>
              <a:t>The three axes are intentionally independent (e.g. positive-IRR-but-negative-NPV sites land in different buckets) — a richer picture than one binary cut.</a:t>
            </a:r>
          </a:p>
          <a:p>
            <a:pPr>
              <a:spcBef>
                <a:spcPts val="0"/>
              </a:spcBef>
              <a:spcAft>
                <a:spcPts val="800"/>
              </a:spcAft>
            </a:pPr>
            <a:r>
              <a:rPr sz="1350" b="1" i="0">
                <a:solidFill>
                  <a:srgbClr val="126E82"/>
                </a:solidFill>
                <a:latin typeface="Calibri"/>
              </a:rPr>
              <a:t>▸  </a:t>
            </a:r>
            <a:r>
              <a:rPr sz="1350" b="0" i="0">
                <a:solidFill>
                  <a:srgbClr val="1A2429"/>
                </a:solidFill>
                <a:latin typeface="Calibri"/>
              </a:rPr>
              <a:t>850 of the 1,141 viable sites are also flagged high-confidence (real 3DEP head, not a literature fallback).</a:t>
            </a:r>
          </a:p>
        </p:txBody>
      </p:sp>
      <p:sp>
        <p:nvSpPr>
          <p:cNvPr id="11" name="Rectangle 10"/>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3" name="TextBox 12"/>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TRANSPARENCY</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Consolidated assumptions register</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57200" y="1417320"/>
          <a:ext cx="11274550" cy="4754880"/>
        </p:xfrm>
        <a:graphic>
          <a:graphicData uri="http://schemas.openxmlformats.org/drawingml/2006/table">
            <a:tbl>
              <a:tblPr>
                <a:tableStyleId>{5C22544A-7EE6-4342-B048-85BDC9FD1C3A}</a:tableStyleId>
              </a:tblPr>
              <a:tblGrid>
                <a:gridCol w="3382365">
                  <a:extLst>
                    <a:ext uri="{9D8B030D-6E8A-4147-A177-3AD203B41FA5}">
                      <a16:colId xmlns:a16="http://schemas.microsoft.com/office/drawing/2014/main" val="20000"/>
                    </a:ext>
                  </a:extLst>
                </a:gridCol>
                <a:gridCol w="2480401">
                  <a:extLst>
                    <a:ext uri="{9D8B030D-6E8A-4147-A177-3AD203B41FA5}">
                      <a16:colId xmlns:a16="http://schemas.microsoft.com/office/drawing/2014/main" val="20001"/>
                    </a:ext>
                  </a:extLst>
                </a:gridCol>
                <a:gridCol w="4058838">
                  <a:extLst>
                    <a:ext uri="{9D8B030D-6E8A-4147-A177-3AD203B41FA5}">
                      <a16:colId xmlns:a16="http://schemas.microsoft.com/office/drawing/2014/main" val="20002"/>
                    </a:ext>
                  </a:extLst>
                </a:gridCol>
                <a:gridCol w="1352946">
                  <a:extLst>
                    <a:ext uri="{9D8B030D-6E8A-4147-A177-3AD203B41FA5}">
                      <a16:colId xmlns:a16="http://schemas.microsoft.com/office/drawing/2014/main" val="20003"/>
                    </a:ext>
                  </a:extLst>
                </a:gridCol>
              </a:tblGrid>
              <a:tr h="365760">
                <a:tc>
                  <a:txBody>
                    <a:bodyPr/>
                    <a:lstStyle/>
                    <a:p>
                      <a:pPr algn="l"/>
                      <a:r>
                        <a:rPr sz="1100" b="1" i="0">
                          <a:solidFill>
                            <a:srgbClr val="FFFFFF"/>
                          </a:solidFill>
                          <a:latin typeface="Calibri"/>
                        </a:rPr>
                        <a:t>Assumption</a:t>
                      </a:r>
                    </a:p>
                  </a:txBody>
                  <a:tcPr marL="54864" marR="54864" marT="18288" marB="18288" anchor="ctr">
                    <a:solidFill>
                      <a:srgbClr val="0C2D3A"/>
                    </a:solidFill>
                  </a:tcPr>
                </a:tc>
                <a:tc>
                  <a:txBody>
                    <a:bodyPr/>
                    <a:lstStyle/>
                    <a:p>
                      <a:pPr algn="l"/>
                      <a:r>
                        <a:rPr sz="1100" b="1" i="0">
                          <a:solidFill>
                            <a:srgbClr val="FFFFFF"/>
                          </a:solidFill>
                          <a:latin typeface="Calibri"/>
                        </a:rPr>
                        <a:t>Value</a:t>
                      </a:r>
                    </a:p>
                  </a:txBody>
                  <a:tcPr marL="54864" marR="54864" marT="18288" marB="18288" anchor="ctr">
                    <a:solidFill>
                      <a:srgbClr val="0C2D3A"/>
                    </a:solidFill>
                  </a:tcPr>
                </a:tc>
                <a:tc>
                  <a:txBody>
                    <a:bodyPr/>
                    <a:lstStyle/>
                    <a:p>
                      <a:pPr algn="l"/>
                      <a:r>
                        <a:rPr sz="1100" b="1" i="0">
                          <a:solidFill>
                            <a:srgbClr val="FFFFFF"/>
                          </a:solidFill>
                          <a:latin typeface="Calibri"/>
                        </a:rPr>
                        <a:t>Basis / note</a:t>
                      </a:r>
                    </a:p>
                  </a:txBody>
                  <a:tcPr marL="54864" marR="54864" marT="18288" marB="18288" anchor="ctr">
                    <a:solidFill>
                      <a:srgbClr val="0C2D3A"/>
                    </a:solidFill>
                  </a:tcPr>
                </a:tc>
                <a:tc>
                  <a:txBody>
                    <a:bodyPr/>
                    <a:lstStyle/>
                    <a:p>
                      <a:pPr algn="ctr"/>
                      <a:r>
                        <a:rPr sz="1100" b="1" i="0">
                          <a:solidFill>
                            <a:srgbClr val="FFFFFF"/>
                          </a:solidFill>
                          <a:latin typeface="Calibri"/>
                        </a:rPr>
                        <a:t>Lever?</a:t>
                      </a:r>
                    </a:p>
                  </a:txBody>
                  <a:tcPr marL="54864" marR="54864" marT="18288" marB="18288" anchor="ctr">
                    <a:solidFill>
                      <a:srgbClr val="0C2D3A"/>
                    </a:solidFill>
                  </a:tcPr>
                </a:tc>
                <a:extLst>
                  <a:ext uri="{0D108BD9-81ED-4DB2-BD59-A6C34878D82A}">
                    <a16:rowId xmlns:a16="http://schemas.microsoft.com/office/drawing/2014/main" val="10000"/>
                  </a:ext>
                </a:extLst>
              </a:tr>
              <a:tr h="365760">
                <a:tc>
                  <a:txBody>
                    <a:bodyPr/>
                    <a:lstStyle/>
                    <a:p>
                      <a:pPr algn="l"/>
                      <a:r>
                        <a:rPr sz="1050" b="1" i="0">
                          <a:solidFill>
                            <a:srgbClr val="1A2429"/>
                          </a:solidFill>
                          <a:latin typeface="Calibri"/>
                        </a:rPr>
                        <a:t>Turbine efficiency η</a:t>
                      </a:r>
                    </a:p>
                  </a:txBody>
                  <a:tcPr marL="54864" marR="54864" marT="9144" marB="9144" anchor="ctr">
                    <a:solidFill>
                      <a:srgbClr val="FFFFFF"/>
                    </a:solidFill>
                  </a:tcPr>
                </a:tc>
                <a:tc>
                  <a:txBody>
                    <a:bodyPr/>
                    <a:lstStyle/>
                    <a:p>
                      <a:pPr algn="l"/>
                      <a:r>
                        <a:rPr sz="1050" b="0" i="0">
                          <a:solidFill>
                            <a:srgbClr val="1A2429"/>
                          </a:solidFill>
                          <a:latin typeface="Calibri"/>
                        </a:rPr>
                        <a:t>0.70 / 0.82 / 0.90</a:t>
                      </a:r>
                    </a:p>
                  </a:txBody>
                  <a:tcPr marL="54864" marR="54864" marT="9144" marB="9144" anchor="ctr">
                    <a:solidFill>
                      <a:srgbClr val="FFFFFF"/>
                    </a:solidFill>
                  </a:tcPr>
                </a:tc>
                <a:tc>
                  <a:txBody>
                    <a:bodyPr/>
                    <a:lstStyle/>
                    <a:p>
                      <a:pPr algn="l"/>
                      <a:r>
                        <a:rPr sz="1050" b="0" i="0">
                          <a:solidFill>
                            <a:srgbClr val="1A2429"/>
                          </a:solidFill>
                          <a:latin typeface="Calibri"/>
                        </a:rPr>
                        <a:t>Triangular; industry range</a:t>
                      </a:r>
                    </a:p>
                  </a:txBody>
                  <a:tcPr marL="54864" marR="54864" marT="9144" marB="9144" anchor="ctr">
                    <a:solidFill>
                      <a:srgbClr val="FFFFFF"/>
                    </a:solidFill>
                  </a:tcPr>
                </a:tc>
                <a:tc>
                  <a:txBody>
                    <a:bodyPr/>
                    <a:lstStyle/>
                    <a:p>
                      <a:pPr algn="ctr"/>
                      <a:r>
                        <a:rPr sz="1050" b="0" i="0">
                          <a:solidFill>
                            <a:srgbClr val="1A2429"/>
                          </a:solidFill>
                          <a:latin typeface="Calibri"/>
                        </a:rPr>
                        <a:t>Phase 2</a:t>
                      </a:r>
                    </a:p>
                  </a:txBody>
                  <a:tcPr marL="54864" marR="54864" marT="9144" marB="9144" anchor="ctr">
                    <a:solidFill>
                      <a:srgbClr val="FFFFFF"/>
                    </a:solidFill>
                  </a:tcPr>
                </a:tc>
                <a:extLst>
                  <a:ext uri="{0D108BD9-81ED-4DB2-BD59-A6C34878D82A}">
                    <a16:rowId xmlns:a16="http://schemas.microsoft.com/office/drawing/2014/main" val="10001"/>
                  </a:ext>
                </a:extLst>
              </a:tr>
              <a:tr h="365760">
                <a:tc>
                  <a:txBody>
                    <a:bodyPr/>
                    <a:lstStyle/>
                    <a:p>
                      <a:pPr algn="l"/>
                      <a:r>
                        <a:rPr sz="1050" b="1" i="0">
                          <a:solidFill>
                            <a:srgbClr val="1A2429"/>
                          </a:solidFill>
                          <a:latin typeface="Calibri"/>
                        </a:rPr>
                        <a:t>Availability</a:t>
                      </a:r>
                    </a:p>
                  </a:txBody>
                  <a:tcPr marL="54864" marR="54864" marT="9144" marB="9144" anchor="ctr">
                    <a:solidFill>
                      <a:srgbClr val="ECF1F2"/>
                    </a:solidFill>
                  </a:tcPr>
                </a:tc>
                <a:tc>
                  <a:txBody>
                    <a:bodyPr/>
                    <a:lstStyle/>
                    <a:p>
                      <a:pPr algn="l"/>
                      <a:r>
                        <a:rPr sz="1050" b="0" i="0">
                          <a:solidFill>
                            <a:srgbClr val="1A2429"/>
                          </a:solidFill>
                          <a:latin typeface="Calibri"/>
                        </a:rPr>
                        <a:t>0.90 / 0.95 / 0.98</a:t>
                      </a:r>
                    </a:p>
                  </a:txBody>
                  <a:tcPr marL="54864" marR="54864" marT="9144" marB="9144" anchor="ctr">
                    <a:solidFill>
                      <a:srgbClr val="ECF1F2"/>
                    </a:solidFill>
                  </a:tcPr>
                </a:tc>
                <a:tc>
                  <a:txBody>
                    <a:bodyPr/>
                    <a:lstStyle/>
                    <a:p>
                      <a:pPr algn="l"/>
                      <a:r>
                        <a:rPr sz="1050" b="0" i="0">
                          <a:solidFill>
                            <a:srgbClr val="1A2429"/>
                          </a:solidFill>
                          <a:latin typeface="Calibri"/>
                        </a:rPr>
                        <a:t>Triangular; steady WW flow</a:t>
                      </a:r>
                    </a:p>
                  </a:txBody>
                  <a:tcPr marL="54864" marR="54864" marT="9144" marB="9144" anchor="ctr">
                    <a:solidFill>
                      <a:srgbClr val="ECF1F2"/>
                    </a:solidFill>
                  </a:tcPr>
                </a:tc>
                <a:tc>
                  <a:txBody>
                    <a:bodyPr/>
                    <a:lstStyle/>
                    <a:p>
                      <a:pPr algn="ctr"/>
                      <a:r>
                        <a:rPr sz="1050" b="0" i="0">
                          <a:solidFill>
                            <a:srgbClr val="1A2429"/>
                          </a:solidFill>
                          <a:latin typeface="Calibri"/>
                        </a:rPr>
                        <a:t>Phase 2</a:t>
                      </a:r>
                    </a:p>
                  </a:txBody>
                  <a:tcPr marL="54864" marR="54864" marT="9144" marB="9144" anchor="ctr">
                    <a:solidFill>
                      <a:srgbClr val="ECF1F2"/>
                    </a:solidFill>
                  </a:tcPr>
                </a:tc>
                <a:extLst>
                  <a:ext uri="{0D108BD9-81ED-4DB2-BD59-A6C34878D82A}">
                    <a16:rowId xmlns:a16="http://schemas.microsoft.com/office/drawing/2014/main" val="10002"/>
                  </a:ext>
                </a:extLst>
              </a:tr>
              <a:tr h="365760">
                <a:tc>
                  <a:txBody>
                    <a:bodyPr/>
                    <a:lstStyle/>
                    <a:p>
                      <a:pPr algn="l"/>
                      <a:r>
                        <a:rPr sz="1050" b="1" i="0">
                          <a:solidFill>
                            <a:srgbClr val="1A2429"/>
                          </a:solidFill>
                          <a:latin typeface="Calibri"/>
                        </a:rPr>
                        <a:t>Head (no elevation)</a:t>
                      </a:r>
                    </a:p>
                  </a:txBody>
                  <a:tcPr marL="54864" marR="54864" marT="9144" marB="9144" anchor="ctr">
                    <a:solidFill>
                      <a:srgbClr val="FFFFFF"/>
                    </a:solidFill>
                  </a:tcPr>
                </a:tc>
                <a:tc>
                  <a:txBody>
                    <a:bodyPr/>
                    <a:lstStyle/>
                    <a:p>
                      <a:pPr algn="l"/>
                      <a:r>
                        <a:rPr sz="1050" b="0" i="0">
                          <a:solidFill>
                            <a:srgbClr val="1A2429"/>
                          </a:solidFill>
                          <a:latin typeface="Calibri"/>
                        </a:rPr>
                        <a:t>by size, 1–15 m</a:t>
                      </a:r>
                    </a:p>
                  </a:txBody>
                  <a:tcPr marL="54864" marR="54864" marT="9144" marB="9144" anchor="ctr">
                    <a:solidFill>
                      <a:srgbClr val="FFFFFF"/>
                    </a:solidFill>
                  </a:tcPr>
                </a:tc>
                <a:tc>
                  <a:txBody>
                    <a:bodyPr/>
                    <a:lstStyle/>
                    <a:p>
                      <a:pPr algn="l"/>
                      <a:r>
                        <a:rPr sz="1050" b="0" i="0">
                          <a:solidFill>
                            <a:srgbClr val="1A2429"/>
                          </a:solidFill>
                          <a:latin typeface="Calibri"/>
                        </a:rPr>
                        <a:t>Literature by plant archetype</a:t>
                      </a:r>
                    </a:p>
                  </a:txBody>
                  <a:tcPr marL="54864" marR="54864" marT="9144" marB="9144" anchor="ctr">
                    <a:solidFill>
                      <a:srgbClr val="FFFFFF"/>
                    </a:solidFill>
                  </a:tcPr>
                </a:tc>
                <a:tc>
                  <a:txBody>
                    <a:bodyPr/>
                    <a:lstStyle/>
                    <a:p>
                      <a:pPr algn="ctr"/>
                      <a:r>
                        <a:rPr sz="1050" b="0" i="0">
                          <a:solidFill>
                            <a:srgbClr val="1A2429"/>
                          </a:solidFill>
                          <a:latin typeface="Calibri"/>
                        </a:rPr>
                        <a:t>yes</a:t>
                      </a:r>
                    </a:p>
                  </a:txBody>
                  <a:tcPr marL="54864" marR="54864" marT="9144" marB="9144" anchor="ctr">
                    <a:solidFill>
                      <a:srgbClr val="FFFFFF"/>
                    </a:solidFill>
                  </a:tcPr>
                </a:tc>
                <a:extLst>
                  <a:ext uri="{0D108BD9-81ED-4DB2-BD59-A6C34878D82A}">
                    <a16:rowId xmlns:a16="http://schemas.microsoft.com/office/drawing/2014/main" val="10003"/>
                  </a:ext>
                </a:extLst>
              </a:tr>
              <a:tr h="365760">
                <a:tc>
                  <a:txBody>
                    <a:bodyPr/>
                    <a:lstStyle/>
                    <a:p>
                      <a:pPr algn="l"/>
                      <a:r>
                        <a:rPr sz="1050" b="1" i="0">
                          <a:solidFill>
                            <a:srgbClr val="1A2429"/>
                          </a:solidFill>
                          <a:latin typeface="Calibri"/>
                        </a:rPr>
                        <a:t>Head loss fraction</a:t>
                      </a:r>
                    </a:p>
                  </a:txBody>
                  <a:tcPr marL="54864" marR="54864" marT="9144" marB="9144" anchor="ctr">
                    <a:solidFill>
                      <a:srgbClr val="ECF1F2"/>
                    </a:solidFill>
                  </a:tcPr>
                </a:tc>
                <a:tc>
                  <a:txBody>
                    <a:bodyPr/>
                    <a:lstStyle/>
                    <a:p>
                      <a:pPr algn="l"/>
                      <a:r>
                        <a:rPr sz="1050" b="0" i="0">
                          <a:solidFill>
                            <a:srgbClr val="1A2429"/>
                          </a:solidFill>
                          <a:latin typeface="Calibri"/>
                        </a:rPr>
                        <a:t>15%</a:t>
                      </a:r>
                    </a:p>
                  </a:txBody>
                  <a:tcPr marL="54864" marR="54864" marT="9144" marB="9144" anchor="ctr">
                    <a:solidFill>
                      <a:srgbClr val="ECF1F2"/>
                    </a:solidFill>
                  </a:tcPr>
                </a:tc>
                <a:tc>
                  <a:txBody>
                    <a:bodyPr/>
                    <a:lstStyle/>
                    <a:p>
                      <a:pPr algn="l"/>
                      <a:r>
                        <a:rPr sz="1050" b="0" i="0">
                          <a:solidFill>
                            <a:srgbClr val="1A2429"/>
                          </a:solidFill>
                          <a:latin typeface="Calibri"/>
                        </a:rPr>
                        <a:t>Pipe friction/valves/bends</a:t>
                      </a:r>
                    </a:p>
                  </a:txBody>
                  <a:tcPr marL="54864" marR="54864" marT="9144" marB="9144" anchor="ctr">
                    <a:solidFill>
                      <a:srgbClr val="ECF1F2"/>
                    </a:solidFill>
                  </a:tcPr>
                </a:tc>
                <a:tc>
                  <a:txBody>
                    <a:bodyPr/>
                    <a:lstStyle/>
                    <a:p>
                      <a:pPr algn="ctr"/>
                      <a:r>
                        <a:rPr sz="1050" b="0" i="0">
                          <a:solidFill>
                            <a:srgbClr val="1A2429"/>
                          </a:solidFill>
                          <a:latin typeface="Calibri"/>
                        </a:rPr>
                        <a:t>yes</a:t>
                      </a:r>
                    </a:p>
                  </a:txBody>
                  <a:tcPr marL="54864" marR="54864" marT="9144" marB="9144" anchor="ctr">
                    <a:solidFill>
                      <a:srgbClr val="ECF1F2"/>
                    </a:solidFill>
                  </a:tcPr>
                </a:tc>
                <a:extLst>
                  <a:ext uri="{0D108BD9-81ED-4DB2-BD59-A6C34878D82A}">
                    <a16:rowId xmlns:a16="http://schemas.microsoft.com/office/drawing/2014/main" val="10004"/>
                  </a:ext>
                </a:extLst>
              </a:tr>
              <a:tr h="365760">
                <a:tc>
                  <a:txBody>
                    <a:bodyPr/>
                    <a:lstStyle/>
                    <a:p>
                      <a:pPr algn="l"/>
                      <a:r>
                        <a:rPr sz="1050" b="1" i="0">
                          <a:solidFill>
                            <a:srgbClr val="1A2429"/>
                          </a:solidFill>
                          <a:latin typeface="Calibri"/>
                        </a:rPr>
                        <a:t>Installation cost</a:t>
                      </a:r>
                    </a:p>
                  </a:txBody>
                  <a:tcPr marL="54864" marR="54864" marT="9144" marB="9144" anchor="ctr">
                    <a:solidFill>
                      <a:srgbClr val="FFFFFF"/>
                    </a:solidFill>
                  </a:tcPr>
                </a:tc>
                <a:tc>
                  <a:txBody>
                    <a:bodyPr/>
                    <a:lstStyle/>
                    <a:p>
                      <a:pPr algn="l"/>
                      <a:r>
                        <a:rPr sz="1050" b="0" i="0">
                          <a:solidFill>
                            <a:srgbClr val="1A2429"/>
                          </a:solidFill>
                          <a:latin typeface="Calibri"/>
                        </a:rPr>
                        <a:t>17.5% of equipment</a:t>
                      </a:r>
                    </a:p>
                  </a:txBody>
                  <a:tcPr marL="54864" marR="54864" marT="9144" marB="9144" anchor="ctr">
                    <a:solidFill>
                      <a:srgbClr val="FFFFFF"/>
                    </a:solidFill>
                  </a:tcPr>
                </a:tc>
                <a:tc>
                  <a:txBody>
                    <a:bodyPr/>
                    <a:lstStyle/>
                    <a:p>
                      <a:pPr algn="l"/>
                      <a:r>
                        <a:rPr sz="1050" b="0" i="0">
                          <a:solidFill>
                            <a:srgbClr val="1A2429"/>
                          </a:solidFill>
                          <a:latin typeface="Calibri"/>
                        </a:rPr>
                        <a:t>Director 15–20%; labor only</a:t>
                      </a:r>
                    </a:p>
                  </a:txBody>
                  <a:tcPr marL="54864" marR="54864" marT="9144" marB="9144" anchor="ctr">
                    <a:solidFill>
                      <a:srgbClr val="FFFFFF"/>
                    </a:solidFill>
                  </a:tcPr>
                </a:tc>
                <a:tc>
                  <a:txBody>
                    <a:bodyPr/>
                    <a:lstStyle/>
                    <a:p>
                      <a:pPr algn="ctr"/>
                      <a:r>
                        <a:rPr sz="1050" b="0" i="0">
                          <a:solidFill>
                            <a:srgbClr val="1A2429"/>
                          </a:solidFill>
                          <a:latin typeface="Calibri"/>
                        </a:rPr>
                        <a:t>yes ★</a:t>
                      </a:r>
                    </a:p>
                  </a:txBody>
                  <a:tcPr marL="54864" marR="54864" marT="9144" marB="9144" anchor="ctr">
                    <a:solidFill>
                      <a:srgbClr val="FFFFFF"/>
                    </a:solidFill>
                  </a:tcPr>
                </a:tc>
                <a:extLst>
                  <a:ext uri="{0D108BD9-81ED-4DB2-BD59-A6C34878D82A}">
                    <a16:rowId xmlns:a16="http://schemas.microsoft.com/office/drawing/2014/main" val="10005"/>
                  </a:ext>
                </a:extLst>
              </a:tr>
              <a:tr h="365760">
                <a:tc>
                  <a:txBody>
                    <a:bodyPr/>
                    <a:lstStyle/>
                    <a:p>
                      <a:pPr algn="l"/>
                      <a:r>
                        <a:rPr sz="1050" b="1" i="0">
                          <a:solidFill>
                            <a:srgbClr val="1A2429"/>
                          </a:solidFill>
                          <a:latin typeface="Calibri"/>
                        </a:rPr>
                        <a:t>Discount rate</a:t>
                      </a:r>
                    </a:p>
                  </a:txBody>
                  <a:tcPr marL="54864" marR="54864" marT="9144" marB="9144" anchor="ctr">
                    <a:solidFill>
                      <a:srgbClr val="ECF1F2"/>
                    </a:solidFill>
                  </a:tcPr>
                </a:tc>
                <a:tc>
                  <a:txBody>
                    <a:bodyPr/>
                    <a:lstStyle/>
                    <a:p>
                      <a:pPr algn="l"/>
                      <a:r>
                        <a:rPr sz="1050" b="0" i="0">
                          <a:solidFill>
                            <a:srgbClr val="1A2429"/>
                          </a:solidFill>
                          <a:latin typeface="Calibri"/>
                        </a:rPr>
                        <a:t>6%</a:t>
                      </a:r>
                    </a:p>
                  </a:txBody>
                  <a:tcPr marL="54864" marR="54864" marT="9144" marB="9144" anchor="ctr">
                    <a:solidFill>
                      <a:srgbClr val="ECF1F2"/>
                    </a:solidFill>
                  </a:tcPr>
                </a:tc>
                <a:tc>
                  <a:txBody>
                    <a:bodyPr/>
                    <a:lstStyle/>
                    <a:p>
                      <a:pPr algn="l"/>
                      <a:r>
                        <a:rPr sz="1050" b="0" i="0">
                          <a:solidFill>
                            <a:srgbClr val="1A2429"/>
                          </a:solidFill>
                          <a:latin typeface="Calibri"/>
                        </a:rPr>
                        <a:t>Municipal infrastructure real rate</a:t>
                      </a:r>
                    </a:p>
                  </a:txBody>
                  <a:tcPr marL="54864" marR="54864" marT="9144" marB="9144" anchor="ctr">
                    <a:solidFill>
                      <a:srgbClr val="ECF1F2"/>
                    </a:solidFill>
                  </a:tcPr>
                </a:tc>
                <a:tc>
                  <a:txBody>
                    <a:bodyPr/>
                    <a:lstStyle/>
                    <a:p>
                      <a:pPr algn="ctr"/>
                      <a:r>
                        <a:rPr sz="1050" b="0" i="0">
                          <a:solidFill>
                            <a:srgbClr val="1A2429"/>
                          </a:solidFill>
                          <a:latin typeface="Calibri"/>
                        </a:rPr>
                        <a:t>yes</a:t>
                      </a:r>
                    </a:p>
                  </a:txBody>
                  <a:tcPr marL="54864" marR="54864" marT="9144" marB="9144" anchor="ctr">
                    <a:solidFill>
                      <a:srgbClr val="ECF1F2"/>
                    </a:solidFill>
                  </a:tcPr>
                </a:tc>
                <a:extLst>
                  <a:ext uri="{0D108BD9-81ED-4DB2-BD59-A6C34878D82A}">
                    <a16:rowId xmlns:a16="http://schemas.microsoft.com/office/drawing/2014/main" val="10006"/>
                  </a:ext>
                </a:extLst>
              </a:tr>
              <a:tr h="365760">
                <a:tc>
                  <a:txBody>
                    <a:bodyPr/>
                    <a:lstStyle/>
                    <a:p>
                      <a:pPr algn="l"/>
                      <a:r>
                        <a:rPr sz="1050" b="1" i="0">
                          <a:solidFill>
                            <a:srgbClr val="1A2429"/>
                          </a:solidFill>
                          <a:latin typeface="Calibri"/>
                        </a:rPr>
                        <a:t>Project lifetime</a:t>
                      </a:r>
                    </a:p>
                  </a:txBody>
                  <a:tcPr marL="54864" marR="54864" marT="9144" marB="9144" anchor="ctr">
                    <a:solidFill>
                      <a:srgbClr val="FFFFFF"/>
                    </a:solidFill>
                  </a:tcPr>
                </a:tc>
                <a:tc>
                  <a:txBody>
                    <a:bodyPr/>
                    <a:lstStyle/>
                    <a:p>
                      <a:pPr algn="l"/>
                      <a:r>
                        <a:rPr sz="1050" b="0" i="0">
                          <a:solidFill>
                            <a:srgbClr val="1A2429"/>
                          </a:solidFill>
                          <a:latin typeface="Calibri"/>
                        </a:rPr>
                        <a:t>30 years</a:t>
                      </a:r>
                    </a:p>
                  </a:txBody>
                  <a:tcPr marL="54864" marR="54864" marT="9144" marB="9144" anchor="ctr">
                    <a:solidFill>
                      <a:srgbClr val="FFFFFF"/>
                    </a:solidFill>
                  </a:tcPr>
                </a:tc>
                <a:tc>
                  <a:txBody>
                    <a:bodyPr/>
                    <a:lstStyle/>
                    <a:p>
                      <a:pPr algn="l"/>
                      <a:r>
                        <a:rPr sz="1050" b="0" i="0">
                          <a:solidFill>
                            <a:srgbClr val="1A2429"/>
                          </a:solidFill>
                          <a:latin typeface="Calibri"/>
                        </a:rPr>
                        <a:t>Standard hydro asset life</a:t>
                      </a:r>
                    </a:p>
                  </a:txBody>
                  <a:tcPr marL="54864" marR="54864" marT="9144" marB="9144" anchor="ctr">
                    <a:solidFill>
                      <a:srgbClr val="FFFFFF"/>
                    </a:solidFill>
                  </a:tcPr>
                </a:tc>
                <a:tc>
                  <a:txBody>
                    <a:bodyPr/>
                    <a:lstStyle/>
                    <a:p>
                      <a:pPr algn="ctr"/>
                      <a:r>
                        <a:rPr sz="1050" b="0" i="0">
                          <a:solidFill>
                            <a:srgbClr val="1A2429"/>
                          </a:solidFill>
                          <a:latin typeface="Calibri"/>
                        </a:rPr>
                        <a:t>yes</a:t>
                      </a:r>
                    </a:p>
                  </a:txBody>
                  <a:tcPr marL="54864" marR="54864" marT="9144" marB="9144" anchor="ctr">
                    <a:solidFill>
                      <a:srgbClr val="FFFFFF"/>
                    </a:solidFill>
                  </a:tcPr>
                </a:tc>
                <a:extLst>
                  <a:ext uri="{0D108BD9-81ED-4DB2-BD59-A6C34878D82A}">
                    <a16:rowId xmlns:a16="http://schemas.microsoft.com/office/drawing/2014/main" val="10007"/>
                  </a:ext>
                </a:extLst>
              </a:tr>
              <a:tr h="365760">
                <a:tc>
                  <a:txBody>
                    <a:bodyPr/>
                    <a:lstStyle/>
                    <a:p>
                      <a:pPr algn="l"/>
                      <a:r>
                        <a:rPr sz="1050" b="1" i="0">
                          <a:solidFill>
                            <a:srgbClr val="1A2429"/>
                          </a:solidFill>
                          <a:latin typeface="Calibri"/>
                        </a:rPr>
                        <a:t>Degradation</a:t>
                      </a:r>
                    </a:p>
                  </a:txBody>
                  <a:tcPr marL="54864" marR="54864" marT="9144" marB="9144" anchor="ctr">
                    <a:solidFill>
                      <a:srgbClr val="ECF1F2"/>
                    </a:solidFill>
                  </a:tcPr>
                </a:tc>
                <a:tc>
                  <a:txBody>
                    <a:bodyPr/>
                    <a:lstStyle/>
                    <a:p>
                      <a:pPr algn="l"/>
                      <a:r>
                        <a:rPr sz="1050" b="0" i="0">
                          <a:solidFill>
                            <a:srgbClr val="1A2429"/>
                          </a:solidFill>
                          <a:latin typeface="Calibri"/>
                        </a:rPr>
                        <a:t>0.2%/yr</a:t>
                      </a:r>
                    </a:p>
                  </a:txBody>
                  <a:tcPr marL="54864" marR="54864" marT="9144" marB="9144" anchor="ctr">
                    <a:solidFill>
                      <a:srgbClr val="ECF1F2"/>
                    </a:solidFill>
                  </a:tcPr>
                </a:tc>
                <a:tc>
                  <a:txBody>
                    <a:bodyPr/>
                    <a:lstStyle/>
                    <a:p>
                      <a:pPr algn="l"/>
                      <a:r>
                        <a:rPr sz="1050" b="0" i="0">
                          <a:solidFill>
                            <a:srgbClr val="1A2429"/>
                          </a:solidFill>
                          <a:latin typeface="Calibri"/>
                        </a:rPr>
                        <a:t>Hydro output decline</a:t>
                      </a:r>
                    </a:p>
                  </a:txBody>
                  <a:tcPr marL="54864" marR="54864" marT="9144" marB="9144" anchor="ctr">
                    <a:solidFill>
                      <a:srgbClr val="ECF1F2"/>
                    </a:solidFill>
                  </a:tcPr>
                </a:tc>
                <a:tc>
                  <a:txBody>
                    <a:bodyPr/>
                    <a:lstStyle/>
                    <a:p>
                      <a:pPr algn="ctr"/>
                      <a:r>
                        <a:rPr sz="1050" b="0" i="0">
                          <a:solidFill>
                            <a:srgbClr val="1A2429"/>
                          </a:solidFill>
                          <a:latin typeface="Calibri"/>
                        </a:rPr>
                        <a:t>yes</a:t>
                      </a:r>
                    </a:p>
                  </a:txBody>
                  <a:tcPr marL="54864" marR="54864" marT="9144" marB="9144" anchor="ctr">
                    <a:solidFill>
                      <a:srgbClr val="ECF1F2"/>
                    </a:solidFill>
                  </a:tcPr>
                </a:tc>
                <a:extLst>
                  <a:ext uri="{0D108BD9-81ED-4DB2-BD59-A6C34878D82A}">
                    <a16:rowId xmlns:a16="http://schemas.microsoft.com/office/drawing/2014/main" val="10008"/>
                  </a:ext>
                </a:extLst>
              </a:tr>
              <a:tr h="365760">
                <a:tc>
                  <a:txBody>
                    <a:bodyPr/>
                    <a:lstStyle/>
                    <a:p>
                      <a:pPr algn="l"/>
                      <a:r>
                        <a:rPr sz="1050" b="1" i="0">
                          <a:solidFill>
                            <a:srgbClr val="1A2429"/>
                          </a:solidFill>
                          <a:latin typeface="Calibri"/>
                        </a:rPr>
                        <a:t>REC value</a:t>
                      </a:r>
                    </a:p>
                  </a:txBody>
                  <a:tcPr marL="54864" marR="54864" marT="9144" marB="9144" anchor="ctr">
                    <a:solidFill>
                      <a:srgbClr val="FFFFFF"/>
                    </a:solidFill>
                  </a:tcPr>
                </a:tc>
                <a:tc>
                  <a:txBody>
                    <a:bodyPr/>
                    <a:lstStyle/>
                    <a:p>
                      <a:pPr algn="l"/>
                      <a:r>
                        <a:rPr sz="1050" b="0" i="0">
                          <a:solidFill>
                            <a:srgbClr val="1A2429"/>
                          </a:solidFill>
                          <a:latin typeface="Calibri"/>
                        </a:rPr>
                        <a:t>$0.01/kWh</a:t>
                      </a:r>
                    </a:p>
                  </a:txBody>
                  <a:tcPr marL="54864" marR="54864" marT="9144" marB="9144" anchor="ctr">
                    <a:solidFill>
                      <a:srgbClr val="FFFFFF"/>
                    </a:solidFill>
                  </a:tcPr>
                </a:tc>
                <a:tc>
                  <a:txBody>
                    <a:bodyPr/>
                    <a:lstStyle/>
                    <a:p>
                      <a:pPr algn="l"/>
                      <a:r>
                        <a:rPr sz="1050" b="0" i="0">
                          <a:solidFill>
                            <a:srgbClr val="1A2429"/>
                          </a:solidFill>
                          <a:latin typeface="Calibri"/>
                        </a:rPr>
                        <a:t>Conservative certificate value</a:t>
                      </a:r>
                    </a:p>
                  </a:txBody>
                  <a:tcPr marL="54864" marR="54864" marT="9144" marB="9144" anchor="ctr">
                    <a:solidFill>
                      <a:srgbClr val="FFFFFF"/>
                    </a:solidFill>
                  </a:tcPr>
                </a:tc>
                <a:tc>
                  <a:txBody>
                    <a:bodyPr/>
                    <a:lstStyle/>
                    <a:p>
                      <a:pPr algn="ctr"/>
                      <a:r>
                        <a:rPr sz="1050" b="0" i="0">
                          <a:solidFill>
                            <a:srgbClr val="1A2429"/>
                          </a:solidFill>
                          <a:latin typeface="Calibri"/>
                        </a:rPr>
                        <a:t>yes</a:t>
                      </a:r>
                    </a:p>
                  </a:txBody>
                  <a:tcPr marL="54864" marR="54864" marT="9144" marB="9144" anchor="ctr">
                    <a:solidFill>
                      <a:srgbClr val="FFFFFF"/>
                    </a:solidFill>
                  </a:tcPr>
                </a:tc>
                <a:extLst>
                  <a:ext uri="{0D108BD9-81ED-4DB2-BD59-A6C34878D82A}">
                    <a16:rowId xmlns:a16="http://schemas.microsoft.com/office/drawing/2014/main" val="10009"/>
                  </a:ext>
                </a:extLst>
              </a:tr>
              <a:tr h="365760">
                <a:tc>
                  <a:txBody>
                    <a:bodyPr/>
                    <a:lstStyle/>
                    <a:p>
                      <a:pPr algn="l"/>
                      <a:r>
                        <a:rPr sz="1050" b="1" i="0">
                          <a:solidFill>
                            <a:srgbClr val="1A2429"/>
                          </a:solidFill>
                          <a:latin typeface="Calibri"/>
                        </a:rPr>
                        <a:t>Electricity rate</a:t>
                      </a:r>
                    </a:p>
                  </a:txBody>
                  <a:tcPr marL="54864" marR="54864" marT="9144" marB="9144" anchor="ctr">
                    <a:solidFill>
                      <a:srgbClr val="ECF1F2"/>
                    </a:solidFill>
                  </a:tcPr>
                </a:tc>
                <a:tc>
                  <a:txBody>
                    <a:bodyPr/>
                    <a:lstStyle/>
                    <a:p>
                      <a:pPr algn="l"/>
                      <a:r>
                        <a:rPr sz="1050" b="0" i="0">
                          <a:solidFill>
                            <a:srgbClr val="1A2429"/>
                          </a:solidFill>
                          <a:latin typeface="Calibri"/>
                        </a:rPr>
                        <a:t>state, ~$0.081 avg</a:t>
                      </a:r>
                    </a:p>
                  </a:txBody>
                  <a:tcPr marL="54864" marR="54864" marT="9144" marB="9144" anchor="ctr">
                    <a:solidFill>
                      <a:srgbClr val="ECF1F2"/>
                    </a:solidFill>
                  </a:tcPr>
                </a:tc>
                <a:tc>
                  <a:txBody>
                    <a:bodyPr/>
                    <a:lstStyle/>
                    <a:p>
                      <a:pPr algn="l"/>
                      <a:r>
                        <a:rPr sz="1050" b="0" i="0">
                          <a:solidFill>
                            <a:srgbClr val="1A2429"/>
                          </a:solidFill>
                          <a:latin typeface="Calibri"/>
                        </a:rPr>
                        <a:t>EIA 2023 industrial rates</a:t>
                      </a:r>
                    </a:p>
                  </a:txBody>
                  <a:tcPr marL="54864" marR="54864" marT="9144" marB="9144" anchor="ctr">
                    <a:solidFill>
                      <a:srgbClr val="ECF1F2"/>
                    </a:solidFill>
                  </a:tcPr>
                </a:tc>
                <a:tc>
                  <a:txBody>
                    <a:bodyPr/>
                    <a:lstStyle/>
                    <a:p>
                      <a:pPr algn="ctr"/>
                      <a:r>
                        <a:rPr sz="1050" b="0" i="0">
                          <a:solidFill>
                            <a:srgbClr val="1A2429"/>
                          </a:solidFill>
                          <a:latin typeface="Calibri"/>
                        </a:rPr>
                        <a:t>data</a:t>
                      </a:r>
                    </a:p>
                  </a:txBody>
                  <a:tcPr marL="54864" marR="54864" marT="9144" marB="9144" anchor="ctr">
                    <a:solidFill>
                      <a:srgbClr val="ECF1F2"/>
                    </a:solidFill>
                  </a:tcPr>
                </a:tc>
                <a:extLst>
                  <a:ext uri="{0D108BD9-81ED-4DB2-BD59-A6C34878D82A}">
                    <a16:rowId xmlns:a16="http://schemas.microsoft.com/office/drawing/2014/main" val="10010"/>
                  </a:ext>
                </a:extLst>
              </a:tr>
              <a:tr h="365760">
                <a:tc>
                  <a:txBody>
                    <a:bodyPr/>
                    <a:lstStyle/>
                    <a:p>
                      <a:pPr algn="l"/>
                      <a:r>
                        <a:rPr sz="1050" b="1" i="0">
                          <a:solidFill>
                            <a:srgbClr val="1A2429"/>
                          </a:solidFill>
                          <a:latin typeface="Calibri"/>
                        </a:rPr>
                        <a:t>Min viable power</a:t>
                      </a:r>
                    </a:p>
                  </a:txBody>
                  <a:tcPr marL="54864" marR="54864" marT="9144" marB="9144" anchor="ctr">
                    <a:solidFill>
                      <a:srgbClr val="FFFFFF"/>
                    </a:solidFill>
                  </a:tcPr>
                </a:tc>
                <a:tc>
                  <a:txBody>
                    <a:bodyPr/>
                    <a:lstStyle/>
                    <a:p>
                      <a:pPr algn="l"/>
                      <a:r>
                        <a:rPr sz="1050" b="0" i="0">
                          <a:solidFill>
                            <a:srgbClr val="1A2429"/>
                          </a:solidFill>
                          <a:latin typeface="Calibri"/>
                        </a:rPr>
                        <a:t>1 kW</a:t>
                      </a:r>
                    </a:p>
                  </a:txBody>
                  <a:tcPr marL="54864" marR="54864" marT="9144" marB="9144" anchor="ctr">
                    <a:solidFill>
                      <a:srgbClr val="FFFFFF"/>
                    </a:solidFill>
                  </a:tcPr>
                </a:tc>
                <a:tc>
                  <a:txBody>
                    <a:bodyPr/>
                    <a:lstStyle/>
                    <a:p>
                      <a:pPr algn="l"/>
                      <a:r>
                        <a:rPr sz="1050" b="0" i="0">
                          <a:solidFill>
                            <a:srgbClr val="1A2429"/>
                          </a:solidFill>
                          <a:latin typeface="Calibri"/>
                        </a:rPr>
                        <a:t>Below = not worth a turbine</a:t>
                      </a:r>
                    </a:p>
                  </a:txBody>
                  <a:tcPr marL="54864" marR="54864" marT="9144" marB="9144" anchor="ctr">
                    <a:solidFill>
                      <a:srgbClr val="FFFFFF"/>
                    </a:solidFill>
                  </a:tcPr>
                </a:tc>
                <a:tc>
                  <a:txBody>
                    <a:bodyPr/>
                    <a:lstStyle/>
                    <a:p>
                      <a:pPr algn="ctr"/>
                      <a:r>
                        <a:rPr sz="1050" b="0" i="0">
                          <a:solidFill>
                            <a:srgbClr val="1A2429"/>
                          </a:solidFill>
                          <a:latin typeface="Calibri"/>
                        </a:rPr>
                        <a:t>yes</a:t>
                      </a:r>
                    </a:p>
                  </a:txBody>
                  <a:tcPr marL="54864" marR="54864" marT="9144" marB="9144" anchor="ctr">
                    <a:solidFill>
                      <a:srgbClr val="FFFFFF"/>
                    </a:solidFill>
                  </a:tcPr>
                </a:tc>
                <a:extLst>
                  <a:ext uri="{0D108BD9-81ED-4DB2-BD59-A6C34878D82A}">
                    <a16:rowId xmlns:a16="http://schemas.microsoft.com/office/drawing/2014/main" val="10011"/>
                  </a:ext>
                </a:extLst>
              </a:tr>
              <a:tr h="365760">
                <a:tc>
                  <a:txBody>
                    <a:bodyPr/>
                    <a:lstStyle/>
                    <a:p>
                      <a:pPr algn="l"/>
                      <a:r>
                        <a:rPr sz="1050" b="1" i="0">
                          <a:solidFill>
                            <a:srgbClr val="1A2429"/>
                          </a:solidFill>
                          <a:latin typeface="Calibri"/>
                        </a:rPr>
                        <a:t>Min capacity factor</a:t>
                      </a:r>
                    </a:p>
                  </a:txBody>
                  <a:tcPr marL="54864" marR="54864" marT="9144" marB="9144" anchor="ctr">
                    <a:solidFill>
                      <a:srgbClr val="ECF1F2"/>
                    </a:solidFill>
                  </a:tcPr>
                </a:tc>
                <a:tc>
                  <a:txBody>
                    <a:bodyPr/>
                    <a:lstStyle/>
                    <a:p>
                      <a:pPr algn="l"/>
                      <a:r>
                        <a:rPr sz="1050" b="0" i="0">
                          <a:solidFill>
                            <a:srgbClr val="1A2429"/>
                          </a:solidFill>
                          <a:latin typeface="Calibri"/>
                        </a:rPr>
                        <a:t>0.40</a:t>
                      </a:r>
                    </a:p>
                  </a:txBody>
                  <a:tcPr marL="54864" marR="54864" marT="9144" marB="9144" anchor="ctr">
                    <a:solidFill>
                      <a:srgbClr val="ECF1F2"/>
                    </a:solidFill>
                  </a:tcPr>
                </a:tc>
                <a:tc>
                  <a:txBody>
                    <a:bodyPr/>
                    <a:lstStyle/>
                    <a:p>
                      <a:pPr algn="l"/>
                      <a:r>
                        <a:rPr sz="1050" b="0" i="0">
                          <a:solidFill>
                            <a:srgbClr val="1A2429"/>
                          </a:solidFill>
                          <a:latin typeface="Calibri"/>
                        </a:rPr>
                        <a:t>Sizing optimizer constraint</a:t>
                      </a:r>
                    </a:p>
                  </a:txBody>
                  <a:tcPr marL="54864" marR="54864" marT="9144" marB="9144" anchor="ctr">
                    <a:solidFill>
                      <a:srgbClr val="ECF1F2"/>
                    </a:solidFill>
                  </a:tcPr>
                </a:tc>
                <a:tc>
                  <a:txBody>
                    <a:bodyPr/>
                    <a:lstStyle/>
                    <a:p>
                      <a:pPr algn="ctr"/>
                      <a:r>
                        <a:rPr sz="1050" b="0" i="0">
                          <a:solidFill>
                            <a:srgbClr val="1A2429"/>
                          </a:solidFill>
                          <a:latin typeface="Calibri"/>
                        </a:rPr>
                        <a:t>yes</a:t>
                      </a:r>
                    </a:p>
                  </a:txBody>
                  <a:tcPr marL="54864" marR="54864" marT="9144" marB="9144" anchor="ctr">
                    <a:solidFill>
                      <a:srgbClr val="ECF1F2"/>
                    </a:solidFill>
                  </a:tcPr>
                </a:tc>
                <a:extLst>
                  <a:ext uri="{0D108BD9-81ED-4DB2-BD59-A6C34878D82A}">
                    <a16:rowId xmlns:a16="http://schemas.microsoft.com/office/drawing/2014/main" val="10012"/>
                  </a:ext>
                </a:extLst>
              </a:tr>
            </a:tbl>
          </a:graphicData>
        </a:graphic>
      </p:graphicFrame>
      <p:sp>
        <p:nvSpPr>
          <p:cNvPr id="8" name="TextBox 7"/>
          <p:cNvSpPr txBox="1"/>
          <p:nvPr/>
        </p:nvSpPr>
        <p:spPr>
          <a:xfrm>
            <a:off x="548640" y="6126480"/>
            <a:ext cx="11064240" cy="457200"/>
          </a:xfrm>
          <a:prstGeom prst="rect">
            <a:avLst/>
          </a:prstGeom>
          <a:noFill/>
        </p:spPr>
        <p:txBody>
          <a:bodyPr wrap="square" lIns="45720" tIns="18288" rIns="45720" bIns="18288" anchor="t">
            <a:spAutoFit/>
          </a:bodyPr>
          <a:lstStyle/>
          <a:p>
            <a:r>
              <a:rPr sz="1050" b="0" i="1">
                <a:solidFill>
                  <a:srgbClr val="5C6B70"/>
                </a:solidFill>
                <a:latin typeface="Calibri"/>
              </a:rPr>
              <a:t>★ = highest leverage on the viable-site count. Every value lives in one file (config/settings.yaml) — the whole pipeline re-runs against a changed assumption with no code edit.</a:t>
            </a:r>
          </a:p>
        </p:txBody>
      </p:sp>
      <p:sp>
        <p:nvSpPr>
          <p:cNvPr id="9" name="Rectangle 8"/>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1" name="TextBox 10"/>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2E9E5B"/>
                </a:solidFill>
                <a:latin typeface="Calibri"/>
              </a:rPr>
              <a:t>RIGOR</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Why these numbers are defensible</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54480"/>
            <a:ext cx="5486400" cy="224028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554480"/>
            <a:ext cx="128016" cy="224028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691640"/>
            <a:ext cx="5029200" cy="2011680"/>
          </a:xfrm>
          <a:prstGeom prst="rect">
            <a:avLst/>
          </a:prstGeom>
          <a:noFill/>
        </p:spPr>
        <p:txBody>
          <a:bodyPr wrap="square" lIns="45720" tIns="18288" rIns="45720" bIns="18288" anchor="t">
            <a:spAutoFit/>
          </a:bodyPr>
          <a:lstStyle/>
          <a:p>
            <a:pPr>
              <a:spcAft>
                <a:spcPts val="700"/>
              </a:spcAft>
            </a:pPr>
            <a:r>
              <a:rPr sz="1600" b="1" i="0">
                <a:solidFill>
                  <a:srgbClr val="2E9E5B"/>
                </a:solidFill>
                <a:latin typeface="Calibri"/>
              </a:rPr>
              <a:t>External validation</a:t>
            </a:r>
          </a:p>
          <a:p>
            <a:pPr>
              <a:spcAft>
                <a:spcPts val="600"/>
              </a:spcAft>
            </a:pPr>
            <a:r>
              <a:rPr sz="1300" b="1" i="0">
                <a:solidFill>
                  <a:srgbClr val="2E9E5B"/>
                </a:solidFill>
                <a:latin typeface="Calibri"/>
              </a:rPr>
              <a:t>▸  </a:t>
            </a:r>
            <a:r>
              <a:rPr sz="1250" b="0" i="0">
                <a:solidFill>
                  <a:srgbClr val="1A2429"/>
                </a:solidFill>
                <a:latin typeface="Calibri"/>
              </a:rPr>
              <a:t>National P50 = 699 GWh/yr lands inside DOE's independent 500–5,000 GWh/yr range.</a:t>
            </a:r>
          </a:p>
          <a:p>
            <a:pPr>
              <a:spcAft>
                <a:spcPts val="600"/>
              </a:spcAft>
            </a:pPr>
            <a:r>
              <a:rPr sz="1300" b="1" i="0">
                <a:solidFill>
                  <a:srgbClr val="2E9E5B"/>
                </a:solidFill>
                <a:latin typeface="Calibri"/>
              </a:rPr>
              <a:t>▸  </a:t>
            </a:r>
            <a:r>
              <a:rPr sz="1250" b="0" i="0">
                <a:solidFill>
                  <a:srgbClr val="1A2429"/>
                </a:solidFill>
                <a:latin typeface="Calibri"/>
              </a:rPr>
              <a:t>Head from real USGS 3DEP terrain, not assumed, on 3,780 sites.</a:t>
            </a:r>
          </a:p>
        </p:txBody>
      </p:sp>
      <p:sp>
        <p:nvSpPr>
          <p:cNvPr id="10" name="Rounded Rectangle 9"/>
          <p:cNvSpPr/>
          <p:nvPr/>
        </p:nvSpPr>
        <p:spPr>
          <a:xfrm>
            <a:off x="6245352" y="1554480"/>
            <a:ext cx="5486400" cy="224028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5352" y="1554480"/>
            <a:ext cx="128016" cy="2240280"/>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691640"/>
            <a:ext cx="5029200" cy="2011680"/>
          </a:xfrm>
          <a:prstGeom prst="rect">
            <a:avLst/>
          </a:prstGeom>
          <a:noFill/>
        </p:spPr>
        <p:txBody>
          <a:bodyPr wrap="square" lIns="45720" tIns="18288" rIns="45720" bIns="18288" anchor="t">
            <a:spAutoFit/>
          </a:bodyPr>
          <a:lstStyle/>
          <a:p>
            <a:pPr>
              <a:spcAft>
                <a:spcPts val="700"/>
              </a:spcAft>
            </a:pPr>
            <a:r>
              <a:rPr sz="1600" b="1" i="0">
                <a:solidFill>
                  <a:srgbClr val="126E82"/>
                </a:solidFill>
                <a:latin typeface="Calibri"/>
              </a:rPr>
              <a:t>Cost realism</a:t>
            </a:r>
          </a:p>
          <a:p>
            <a:pPr>
              <a:spcAft>
                <a:spcPts val="600"/>
              </a:spcAft>
            </a:pPr>
            <a:r>
              <a:rPr sz="1300" b="1" i="0">
                <a:solidFill>
                  <a:srgbClr val="126E82"/>
                </a:solidFill>
                <a:latin typeface="Calibri"/>
              </a:rPr>
              <a:t>▸  </a:t>
            </a:r>
            <a:r>
              <a:rPr sz="1250" b="0" i="0">
                <a:solidFill>
                  <a:srgbClr val="1A2429"/>
                </a:solidFill>
                <a:latin typeface="Calibri"/>
              </a:rPr>
              <a:t>0 of 3,783 sites priced outside real manufacturer $/kW bands.</a:t>
            </a:r>
          </a:p>
          <a:p>
            <a:pPr>
              <a:spcAft>
                <a:spcPts val="600"/>
              </a:spcAft>
            </a:pPr>
            <a:r>
              <a:rPr sz="1300" b="1" i="0">
                <a:solidFill>
                  <a:srgbClr val="126E82"/>
                </a:solidFill>
                <a:latin typeface="Calibri"/>
              </a:rPr>
              <a:t>▸  </a:t>
            </a:r>
            <a:r>
              <a:rPr sz="1250" b="0" i="0">
                <a:solidFill>
                  <a:srgbClr val="1A2429"/>
                </a:solidFill>
                <a:latin typeface="Calibri"/>
              </a:rPr>
              <a:t>Equipment clamped to vendor floors/ceilings (Canyon, Gilkes, CINK, Ossberger).</a:t>
            </a:r>
          </a:p>
        </p:txBody>
      </p:sp>
      <p:sp>
        <p:nvSpPr>
          <p:cNvPr id="13" name="Rounded Rectangle 12"/>
          <p:cNvSpPr/>
          <p:nvPr/>
        </p:nvSpPr>
        <p:spPr>
          <a:xfrm>
            <a:off x="457200" y="3977639"/>
            <a:ext cx="5486400" cy="224028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977639"/>
            <a:ext cx="128016" cy="2240280"/>
          </a:xfrm>
          <a:prstGeom prst="rect">
            <a:avLst/>
          </a:prstGeom>
          <a:solidFill>
            <a:srgbClr val="E89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4114799"/>
            <a:ext cx="5029200" cy="2011680"/>
          </a:xfrm>
          <a:prstGeom prst="rect">
            <a:avLst/>
          </a:prstGeom>
          <a:noFill/>
        </p:spPr>
        <p:txBody>
          <a:bodyPr wrap="square" lIns="45720" tIns="18288" rIns="45720" bIns="18288" anchor="t">
            <a:spAutoFit/>
          </a:bodyPr>
          <a:lstStyle/>
          <a:p>
            <a:pPr>
              <a:spcAft>
                <a:spcPts val="700"/>
              </a:spcAft>
            </a:pPr>
            <a:r>
              <a:rPr sz="1600" b="1" i="0">
                <a:solidFill>
                  <a:srgbClr val="E89B1F"/>
                </a:solidFill>
                <a:latin typeface="Calibri"/>
              </a:rPr>
              <a:t>Engineering quality</a:t>
            </a:r>
          </a:p>
          <a:p>
            <a:pPr>
              <a:spcAft>
                <a:spcPts val="600"/>
              </a:spcAft>
            </a:pPr>
            <a:r>
              <a:rPr sz="1300" b="1" i="0">
                <a:solidFill>
                  <a:srgbClr val="E89B1F"/>
                </a:solidFill>
                <a:latin typeface="Calibri"/>
              </a:rPr>
              <a:t>▸  </a:t>
            </a:r>
            <a:r>
              <a:rPr sz="1250" b="0" i="0">
                <a:solidFill>
                  <a:srgbClr val="1A2429"/>
                </a:solidFill>
                <a:latin typeface="Calibri"/>
              </a:rPr>
              <a:t>427 automated tests passing (1 skipped) across the Phase 1–4 pipeline.</a:t>
            </a:r>
          </a:p>
          <a:p>
            <a:pPr>
              <a:spcAft>
                <a:spcPts val="600"/>
              </a:spcAft>
            </a:pPr>
            <a:r>
              <a:rPr sz="1300" b="1" i="0">
                <a:solidFill>
                  <a:srgbClr val="E89B1F"/>
                </a:solidFill>
                <a:latin typeface="Calibri"/>
              </a:rPr>
              <a:t>▸  </a:t>
            </a:r>
            <a:r>
              <a:rPr sz="1250" b="0" i="0">
                <a:solidFill>
                  <a:srgbClr val="1A2429"/>
                </a:solidFill>
                <a:latin typeface="Calibri"/>
              </a:rPr>
              <a:t>Per-reading outlier guards removed 459 unit-error artifacts before modeling.</a:t>
            </a:r>
          </a:p>
        </p:txBody>
      </p:sp>
      <p:sp>
        <p:nvSpPr>
          <p:cNvPr id="16" name="Rounded Rectangle 15"/>
          <p:cNvSpPr/>
          <p:nvPr/>
        </p:nvSpPr>
        <p:spPr>
          <a:xfrm>
            <a:off x="6245352" y="3977639"/>
            <a:ext cx="5486400" cy="2240280"/>
          </a:xfrm>
          <a:prstGeom prst="roundRect">
            <a:avLst/>
          </a:prstGeom>
          <a:solidFill>
            <a:srgbClr val="F4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45352" y="3977639"/>
            <a:ext cx="128016" cy="2240280"/>
          </a:xfrm>
          <a:prstGeom prst="rect">
            <a:avLst/>
          </a:prstGeom>
          <a:solidFill>
            <a:srgbClr val="3A9A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4114799"/>
            <a:ext cx="5029200" cy="2011680"/>
          </a:xfrm>
          <a:prstGeom prst="rect">
            <a:avLst/>
          </a:prstGeom>
          <a:noFill/>
        </p:spPr>
        <p:txBody>
          <a:bodyPr wrap="square" lIns="45720" tIns="18288" rIns="45720" bIns="18288" anchor="t">
            <a:spAutoFit/>
          </a:bodyPr>
          <a:lstStyle/>
          <a:p>
            <a:pPr>
              <a:spcAft>
                <a:spcPts val="700"/>
              </a:spcAft>
            </a:pPr>
            <a:r>
              <a:rPr sz="1600" b="1" i="0">
                <a:solidFill>
                  <a:srgbClr val="3A9AAE"/>
                </a:solidFill>
                <a:latin typeface="Calibri"/>
              </a:rPr>
              <a:t>Full reproducibility</a:t>
            </a:r>
          </a:p>
          <a:p>
            <a:pPr>
              <a:spcAft>
                <a:spcPts val="600"/>
              </a:spcAft>
            </a:pPr>
            <a:r>
              <a:rPr sz="1300" b="1" i="0">
                <a:solidFill>
                  <a:srgbClr val="3A9AAE"/>
                </a:solidFill>
                <a:latin typeface="Calibri"/>
              </a:rPr>
              <a:t>▸  </a:t>
            </a:r>
            <a:r>
              <a:rPr sz="1250" b="0" i="0">
                <a:solidFill>
                  <a:srgbClr val="1A2429"/>
                </a:solidFill>
                <a:latin typeface="Calibri"/>
              </a:rPr>
              <a:t>Every number traces to a versioned parquet column + a documented formula.</a:t>
            </a:r>
          </a:p>
          <a:p>
            <a:pPr>
              <a:spcAft>
                <a:spcPts val="600"/>
              </a:spcAft>
            </a:pPr>
            <a:r>
              <a:rPr sz="1300" b="1" i="0">
                <a:solidFill>
                  <a:srgbClr val="3A9AAE"/>
                </a:solidFill>
                <a:latin typeface="Calibri"/>
              </a:rPr>
              <a:t>▸  </a:t>
            </a:r>
            <a:r>
              <a:rPr sz="1250" b="0" i="0">
                <a:solidFill>
                  <a:srgbClr val="1A2429"/>
                </a:solidFill>
                <a:latin typeface="Calibri"/>
              </a:rPr>
              <a:t>All assumptions in one config; pipeline re-runs deterministically.</a:t>
            </a:r>
          </a:p>
        </p:txBody>
      </p:sp>
      <p:sp>
        <p:nvSpPr>
          <p:cNvPr id="19" name="Rectangle 18"/>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21" name="TextBox 20"/>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C0392B"/>
                </a:solidFill>
                <a:latin typeface="Calibri"/>
              </a:rPr>
              <a:t>HONESTY</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Limitations &amp; caveats</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11064240" cy="4754880"/>
          </a:xfrm>
          <a:prstGeom prst="rect">
            <a:avLst/>
          </a:prstGeom>
          <a:noFill/>
        </p:spPr>
        <p:txBody>
          <a:bodyPr wrap="square" lIns="45720" tIns="18288" rIns="45720" bIns="18288" anchor="t">
            <a:spAutoFit/>
          </a:bodyPr>
          <a:lstStyle/>
          <a:p>
            <a:pPr>
              <a:spcBef>
                <a:spcPts val="0"/>
              </a:spcBef>
              <a:spcAft>
                <a:spcPts val="800"/>
              </a:spcAft>
            </a:pPr>
            <a:r>
              <a:rPr sz="1400" b="1" i="0">
                <a:solidFill>
                  <a:srgbClr val="126E82"/>
                </a:solidFill>
                <a:latin typeface="Calibri"/>
              </a:rPr>
              <a:t>▸  </a:t>
            </a:r>
            <a:r>
              <a:rPr sz="1400" b="1" i="0">
                <a:solidFill>
                  <a:srgbClr val="0C2D3A"/>
                </a:solidFill>
                <a:latin typeface="Calibri"/>
              </a:rPr>
              <a:t>Head is the dominant uncertainty:</a:t>
            </a:r>
            <a:r>
              <a:rPr sz="1400" b="0" i="0">
                <a:solidFill>
                  <a:srgbClr val="1A2429"/>
                </a:solidFill>
                <a:latin typeface="Calibri"/>
              </a:rPr>
              <a:t> sensitivity analysis flags head as the #1 NPV driver for ~2,800 of 3,783 sites. Where real 3DEP elevation was unavailable (1,688 sites) we fell back to literature — those are flagged lower-confidence.</a:t>
            </a:r>
          </a:p>
          <a:p>
            <a:pPr>
              <a:spcBef>
                <a:spcPts val="0"/>
              </a:spcBef>
              <a:spcAft>
                <a:spcPts val="800"/>
              </a:spcAft>
            </a:pPr>
            <a:r>
              <a:rPr sz="1400" b="1" i="0">
                <a:solidFill>
                  <a:srgbClr val="126E82"/>
                </a:solidFill>
                <a:latin typeface="Calibri"/>
              </a:rPr>
              <a:t>▸  </a:t>
            </a:r>
            <a:r>
              <a:rPr sz="1400" b="1" i="0">
                <a:solidFill>
                  <a:srgbClr val="0C2D3A"/>
                </a:solidFill>
                <a:latin typeface="Calibri"/>
              </a:rPr>
              <a:t>Civil works excluded by scope:</a:t>
            </a:r>
            <a:r>
              <a:rPr sz="1400" b="0" i="0">
                <a:solidFill>
                  <a:srgbClr val="1A2429"/>
                </a:solidFill>
                <a:latin typeface="Calibri"/>
              </a:rPr>
              <a:t> foundations, trenching, and structural modifications are not in CapEx. The installation line is mechanical labor only. Real-world all-in cost on some sites will be higher.</a:t>
            </a:r>
          </a:p>
          <a:p>
            <a:pPr>
              <a:spcBef>
                <a:spcPts val="0"/>
              </a:spcBef>
              <a:spcAft>
                <a:spcPts val="800"/>
              </a:spcAft>
            </a:pPr>
            <a:r>
              <a:rPr sz="1400" b="1" i="0">
                <a:solidFill>
                  <a:srgbClr val="126E82"/>
                </a:solidFill>
                <a:latin typeface="Calibri"/>
              </a:rPr>
              <a:t>▸  </a:t>
            </a:r>
            <a:r>
              <a:rPr sz="1400" b="1" i="0">
                <a:solidFill>
                  <a:srgbClr val="0C2D3A"/>
                </a:solidFill>
                <a:latin typeface="Calibri"/>
              </a:rPr>
              <a:t>Energy offset is modest:</a:t>
            </a:r>
            <a:r>
              <a:rPr sz="1400" b="0" i="0">
                <a:solidFill>
                  <a:srgbClr val="1A2429"/>
                </a:solidFill>
                <a:latin typeface="Calibri"/>
              </a:rPr>
              <a:t> median viable site offsets ~2% of its own plant electricity load. The pitch is cost savings + sustainability + RECs, not making a plant energy-independent.</a:t>
            </a:r>
          </a:p>
          <a:p>
            <a:pPr>
              <a:spcBef>
                <a:spcPts val="0"/>
              </a:spcBef>
              <a:spcAft>
                <a:spcPts val="800"/>
              </a:spcAft>
            </a:pPr>
            <a:r>
              <a:rPr sz="1400" b="1" i="0">
                <a:solidFill>
                  <a:srgbClr val="126E82"/>
                </a:solidFill>
                <a:latin typeface="Calibri"/>
              </a:rPr>
              <a:t>▸  </a:t>
            </a:r>
            <a:r>
              <a:rPr sz="1400" b="0" i="0">
                <a:solidFill>
                  <a:srgbClr val="1A2429"/>
                </a:solidFill>
                <a:latin typeface="Calibri"/>
              </a:rPr>
              <a:t>Install % is an estimate, not a quote: real government install costs are unobtainable; 17.5% is the director's midpoint proxy. The what-if band (0–20%) swings the count 1,374 → 1,120 sites.</a:t>
            </a:r>
          </a:p>
          <a:p>
            <a:pPr>
              <a:spcBef>
                <a:spcPts val="0"/>
              </a:spcBef>
              <a:spcAft>
                <a:spcPts val="800"/>
              </a:spcAft>
            </a:pPr>
            <a:r>
              <a:rPr sz="1400" b="1" i="0">
                <a:solidFill>
                  <a:srgbClr val="126E82"/>
                </a:solidFill>
                <a:latin typeface="Calibri"/>
              </a:rPr>
              <a:t>▸  </a:t>
            </a:r>
            <a:r>
              <a:rPr sz="1400" b="1" i="0">
                <a:solidFill>
                  <a:srgbClr val="0C2D3A"/>
                </a:solidFill>
                <a:latin typeface="Calibri"/>
              </a:rPr>
              <a:t>Estimates, not site surveys:</a:t>
            </a:r>
            <a:r>
              <a:rPr sz="1400" b="0" i="0">
                <a:solidFill>
                  <a:srgbClr val="1A2429"/>
                </a:solidFill>
                <a:latin typeface="Calibri"/>
              </a:rPr>
              <a:t> this is a national screening tool. Any individual site still needs an engineering site visit before construction.</a:t>
            </a:r>
          </a:p>
        </p:txBody>
      </p:sp>
      <p:sp>
        <p:nvSpPr>
          <p:cNvPr id="8" name="Rectangle 7"/>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0" name="TextBox 9"/>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384048"/>
            <a:ext cx="146304" cy="566928"/>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310896"/>
            <a:ext cx="10972800" cy="310896"/>
          </a:xfrm>
          <a:prstGeom prst="rect">
            <a:avLst/>
          </a:prstGeom>
          <a:noFill/>
        </p:spPr>
        <p:txBody>
          <a:bodyPr wrap="square" lIns="45720" tIns="18288" rIns="45720" bIns="18288" anchor="t">
            <a:spAutoFit/>
          </a:bodyPr>
          <a:lstStyle/>
          <a:p>
            <a:pPr>
              <a:spcAft>
                <a:spcPts val="0"/>
              </a:spcAft>
            </a:pPr>
            <a:r>
              <a:rPr sz="1200" b="1" i="0">
                <a:solidFill>
                  <a:srgbClr val="126E82"/>
                </a:solidFill>
                <a:latin typeface="Calibri"/>
              </a:rPr>
              <a:t>NEXT STEPS</a:t>
            </a:r>
          </a:p>
        </p:txBody>
      </p:sp>
      <p:sp>
        <p:nvSpPr>
          <p:cNvPr id="5" name="TextBox 4"/>
          <p:cNvSpPr txBox="1"/>
          <p:nvPr/>
        </p:nvSpPr>
        <p:spPr>
          <a:xfrm>
            <a:off x="694944" y="566928"/>
            <a:ext cx="11064240" cy="566928"/>
          </a:xfrm>
          <a:prstGeom prst="rect">
            <a:avLst/>
          </a:prstGeom>
          <a:noFill/>
        </p:spPr>
        <p:txBody>
          <a:bodyPr wrap="square" lIns="45720" tIns="18288" rIns="45720" bIns="18288" anchor="t">
            <a:spAutoFit/>
          </a:bodyPr>
          <a:lstStyle/>
          <a:p>
            <a:r>
              <a:rPr sz="2600" b="1" i="0">
                <a:solidFill>
                  <a:srgbClr val="0C2D3A"/>
                </a:solidFill>
                <a:latin typeface="Calibri"/>
              </a:rPr>
              <a:t>Roadmap &amp; the director ask</a:t>
            </a:r>
          </a:p>
        </p:txBody>
      </p:sp>
      <p:sp>
        <p:nvSpPr>
          <p:cNvPr id="6" name="Rectangle 5"/>
          <p:cNvSpPr/>
          <p:nvPr/>
        </p:nvSpPr>
        <p:spPr>
          <a:xfrm>
            <a:off x="457200" y="1225296"/>
            <a:ext cx="11274552" cy="17780"/>
          </a:xfrm>
          <a:prstGeom prst="rect">
            <a:avLst/>
          </a:prstGeom>
          <a:solidFill>
            <a:srgbClr val="EC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08760"/>
            <a:ext cx="11274552" cy="1874519"/>
          </a:xfrm>
          <a:prstGeom prst="roundRect">
            <a:avLst/>
          </a:prstGeom>
          <a:solidFill>
            <a:srgbClr val="EA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1508760"/>
            <a:ext cx="146304" cy="1874519"/>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645920"/>
            <a:ext cx="10789920" cy="1645920"/>
          </a:xfrm>
          <a:prstGeom prst="rect">
            <a:avLst/>
          </a:prstGeom>
          <a:noFill/>
        </p:spPr>
        <p:txBody>
          <a:bodyPr wrap="square" lIns="45720" tIns="18288" rIns="45720" bIns="18288" anchor="t">
            <a:spAutoFit/>
          </a:bodyPr>
          <a:lstStyle/>
          <a:p>
            <a:pPr>
              <a:spcAft>
                <a:spcPts val="800"/>
              </a:spcAft>
            </a:pPr>
            <a:r>
              <a:rPr sz="1400" b="1" i="0">
                <a:solidFill>
                  <a:srgbClr val="2E9E5B"/>
                </a:solidFill>
                <a:latin typeface="Calibri"/>
              </a:rPr>
              <a:t>THE ASK FOR THE DIRECTOR</a:t>
            </a:r>
          </a:p>
          <a:p>
            <a:pPr>
              <a:spcAft>
                <a:spcPts val="800"/>
              </a:spcAft>
            </a:pPr>
            <a:r>
              <a:rPr sz="1400" b="1" i="0">
                <a:solidFill>
                  <a:srgbClr val="0C2D3A"/>
                </a:solidFill>
                <a:latin typeface="Calibri"/>
              </a:rPr>
              <a:t>Commit the installation % — </a:t>
            </a:r>
            <a:r>
              <a:rPr sz="1350" b="0" i="0">
                <a:solidFill>
                  <a:srgbClr val="1A2429"/>
                </a:solidFill>
                <a:latin typeface="Calibri"/>
              </a:rPr>
              <a:t>default 17.5% locks the headline at 1,141 sites / 409 GWh. One config value; reversible. (0% → 1,374 sites; 20% → 1,120.)</a:t>
            </a:r>
          </a:p>
        </p:txBody>
      </p:sp>
      <p:sp>
        <p:nvSpPr>
          <p:cNvPr id="10" name="TextBox 9"/>
          <p:cNvSpPr txBox="1"/>
          <p:nvPr/>
        </p:nvSpPr>
        <p:spPr>
          <a:xfrm>
            <a:off x="548640" y="3611880"/>
            <a:ext cx="11064240" cy="4754880"/>
          </a:xfrm>
          <a:prstGeom prst="rect">
            <a:avLst/>
          </a:prstGeom>
          <a:noFill/>
        </p:spPr>
        <p:txBody>
          <a:bodyPr wrap="square" lIns="45720" tIns="18288" rIns="45720" bIns="18288" anchor="t">
            <a:spAutoFit/>
          </a:bodyPr>
          <a:lstStyle/>
          <a:p>
            <a:pPr>
              <a:spcBef>
                <a:spcPts val="0"/>
              </a:spcBef>
              <a:spcAft>
                <a:spcPts val="800"/>
              </a:spcAft>
            </a:pPr>
            <a:r>
              <a:rPr sz="1350" b="1" i="0">
                <a:solidFill>
                  <a:srgbClr val="126E82"/>
                </a:solidFill>
                <a:latin typeface="Calibri"/>
              </a:rPr>
              <a:t>▸  </a:t>
            </a:r>
            <a:r>
              <a:rPr sz="1350" b="1" i="0">
                <a:solidFill>
                  <a:srgbClr val="0C2D3A"/>
                </a:solidFill>
                <a:latin typeface="Calibri"/>
              </a:rPr>
              <a:t>Near term:</a:t>
            </a:r>
            <a:r>
              <a:rPr sz="1350" b="0" i="0">
                <a:solidFill>
                  <a:srgbClr val="1A2429"/>
                </a:solidFill>
                <a:latin typeface="Calibri"/>
              </a:rPr>
              <a:t> deepen head data — expand real USGS 3DEP coverage to the 1,688 literature-fallback sites; head is the #1 NPV uncertainty, so this sharpens both the viable count and the confidence flags.</a:t>
            </a:r>
          </a:p>
          <a:p>
            <a:pPr>
              <a:spcBef>
                <a:spcPts val="0"/>
              </a:spcBef>
              <a:spcAft>
                <a:spcPts val="800"/>
              </a:spcAft>
            </a:pPr>
            <a:r>
              <a:rPr sz="1350" b="1" i="0">
                <a:solidFill>
                  <a:srgbClr val="126E82"/>
                </a:solidFill>
                <a:latin typeface="Calibri"/>
              </a:rPr>
              <a:t>▸  </a:t>
            </a:r>
            <a:r>
              <a:rPr sz="1350" b="1" i="0">
                <a:solidFill>
                  <a:srgbClr val="0C2D3A"/>
                </a:solidFill>
                <a:latin typeface="Calibri"/>
              </a:rPr>
              <a:t>Pilot:</a:t>
            </a:r>
            <a:r>
              <a:rPr sz="1350" b="0" i="0">
                <a:solidFill>
                  <a:srgbClr val="1A2429"/>
                </a:solidFill>
                <a:latin typeface="Calibri"/>
              </a:rPr>
              <a:t> target the 94 excellent-payback sites (182 GWh/yr) for a concrete, named pilot — the Fowler judges' specific request.</a:t>
            </a:r>
          </a:p>
          <a:p>
            <a:pPr>
              <a:spcBef>
                <a:spcPts val="0"/>
              </a:spcBef>
              <a:spcAft>
                <a:spcPts val="800"/>
              </a:spcAft>
            </a:pPr>
            <a:r>
              <a:rPr sz="1350" b="1" i="0">
                <a:solidFill>
                  <a:srgbClr val="126E82"/>
                </a:solidFill>
                <a:latin typeface="Calibri"/>
              </a:rPr>
              <a:t>▸  </a:t>
            </a:r>
            <a:r>
              <a:rPr sz="1350" b="1" i="0">
                <a:solidFill>
                  <a:srgbClr val="0C2D3A"/>
                </a:solidFill>
                <a:latin typeface="Calibri"/>
              </a:rPr>
              <a:t>Productize:</a:t>
            </a:r>
            <a:r>
              <a:rPr sz="1350" b="0" i="0">
                <a:solidFill>
                  <a:srgbClr val="1A2429"/>
                </a:solidFill>
                <a:latin typeface="Calibri"/>
              </a:rPr>
              <a:t> package the per-site scorecard into the municipality-facing decision tool (which turbine, how much energy, what payback).</a:t>
            </a:r>
          </a:p>
        </p:txBody>
      </p:sp>
      <p:sp>
        <p:nvSpPr>
          <p:cNvPr id="11" name="Rectangle 10"/>
          <p:cNvSpPr/>
          <p:nvPr/>
        </p:nvSpPr>
        <p:spPr>
          <a:xfrm>
            <a:off x="0" y="6510528"/>
            <a:ext cx="12191695" cy="347472"/>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19672"/>
            <a:ext cx="7315200" cy="310896"/>
          </a:xfrm>
          <a:prstGeom prst="rect">
            <a:avLst/>
          </a:prstGeom>
          <a:noFill/>
        </p:spPr>
        <p:txBody>
          <a:bodyPr wrap="square" lIns="45720" tIns="18288" rIns="45720" bIns="18288" anchor="ctr">
            <a:spAutoFit/>
          </a:bodyPr>
          <a:lstStyle/>
          <a:p>
            <a:r>
              <a:rPr sz="900" b="0" i="0">
                <a:solidFill>
                  <a:srgbClr val="BFD6DB"/>
                </a:solidFill>
                <a:latin typeface="Calibri"/>
              </a:rPr>
              <a:t>WOWERS — Waste Outfall Water Energy Recovery System</a:t>
            </a:r>
          </a:p>
        </p:txBody>
      </p:sp>
      <p:sp>
        <p:nvSpPr>
          <p:cNvPr id="13" name="TextBox 12"/>
          <p:cNvSpPr txBox="1"/>
          <p:nvPr/>
        </p:nvSpPr>
        <p:spPr>
          <a:xfrm>
            <a:off x="10607040" y="6519672"/>
            <a:ext cx="1280160" cy="310896"/>
          </a:xfrm>
          <a:prstGeom prst="rect">
            <a:avLst/>
          </a:prstGeom>
          <a:noFill/>
        </p:spPr>
        <p:txBody>
          <a:bodyPr wrap="square" lIns="45720" tIns="18288" rIns="45720" bIns="18288" anchor="ctr">
            <a:spAutoFit/>
          </a:bodyPr>
          <a:lstStyle/>
          <a:p>
            <a:pPr algn="r"/>
            <a:r>
              <a:rPr sz="900" b="1" i="0">
                <a:solidFill>
                  <a:srgbClr val="BFD6DB"/>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0C2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320040" cy="6858000"/>
          </a:xfrm>
          <a:prstGeom prst="rect">
            <a:avLst/>
          </a:prstGeom>
          <a:solidFill>
            <a:srgbClr val="12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822960"/>
            <a:ext cx="10607040" cy="1097280"/>
          </a:xfrm>
          <a:prstGeom prst="rect">
            <a:avLst/>
          </a:prstGeom>
          <a:noFill/>
        </p:spPr>
        <p:txBody>
          <a:bodyPr wrap="square" lIns="45720" tIns="18288" rIns="45720" bIns="18288" anchor="t">
            <a:spAutoFit/>
          </a:bodyPr>
          <a:lstStyle/>
          <a:p>
            <a:r>
              <a:rPr sz="3200" b="1" i="0">
                <a:solidFill>
                  <a:srgbClr val="FFFFFF"/>
                </a:solidFill>
                <a:latin typeface="Calibri"/>
              </a:rPr>
              <a:t>From public data to a clean-energy portfolio</a:t>
            </a:r>
          </a:p>
        </p:txBody>
      </p:sp>
      <p:sp>
        <p:nvSpPr>
          <p:cNvPr id="6" name="TextBox 5"/>
          <p:cNvSpPr txBox="1"/>
          <p:nvPr/>
        </p:nvSpPr>
        <p:spPr>
          <a:xfrm>
            <a:off x="822960" y="1828800"/>
            <a:ext cx="10607040" cy="640080"/>
          </a:xfrm>
          <a:prstGeom prst="rect">
            <a:avLst/>
          </a:prstGeom>
          <a:noFill/>
        </p:spPr>
        <p:txBody>
          <a:bodyPr wrap="square" lIns="45720" tIns="18288" rIns="45720" bIns="18288" anchor="t">
            <a:spAutoFit/>
          </a:bodyPr>
          <a:lstStyle/>
          <a:p>
            <a:r>
              <a:rPr sz="1500" b="1" i="0">
                <a:solidFill>
                  <a:srgbClr val="3A9AAE"/>
                </a:solidFill>
                <a:latin typeface="Calibri"/>
              </a:rPr>
              <a:t>279M EPA records  →  17,158 plants screened  →  3,783 turbine-sized  →  1,141 investment-ready  ·  409 GWh/yr</a:t>
            </a:r>
          </a:p>
        </p:txBody>
      </p:sp>
      <p:sp>
        <p:nvSpPr>
          <p:cNvPr id="7" name="TextBox 6"/>
          <p:cNvSpPr txBox="1"/>
          <p:nvPr/>
        </p:nvSpPr>
        <p:spPr>
          <a:xfrm>
            <a:off x="822960" y="2395728"/>
            <a:ext cx="10607040" cy="365760"/>
          </a:xfrm>
          <a:prstGeom prst="rect">
            <a:avLst/>
          </a:prstGeom>
          <a:noFill/>
        </p:spPr>
        <p:txBody>
          <a:bodyPr wrap="square" lIns="45720" tIns="18288" rIns="45720" bIns="18288" anchor="t">
            <a:spAutoFit/>
          </a:bodyPr>
          <a:lstStyle/>
          <a:p>
            <a:r>
              <a:rPr sz="1200" b="1" i="0">
                <a:solidFill>
                  <a:srgbClr val="9FBEC5"/>
                </a:solidFill>
                <a:latin typeface="Calibri"/>
              </a:rPr>
              <a:t>REPRODUCIBILITY — verify any number:</a:t>
            </a:r>
          </a:p>
        </p:txBody>
      </p:sp>
      <p:sp>
        <p:nvSpPr>
          <p:cNvPr id="8" name="TextBox 7"/>
          <p:cNvSpPr txBox="1"/>
          <p:nvPr/>
        </p:nvSpPr>
        <p:spPr>
          <a:xfrm>
            <a:off x="822960" y="26517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National energy P50</a:t>
            </a:r>
          </a:p>
        </p:txBody>
      </p:sp>
      <p:sp>
        <p:nvSpPr>
          <p:cNvPr id="9" name="TextBox 8"/>
          <p:cNvSpPr txBox="1"/>
          <p:nvPr/>
        </p:nvSpPr>
        <p:spPr>
          <a:xfrm>
            <a:off x="4572000" y="26517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phase2/energy_yield_estimates.parquet</a:t>
            </a:r>
          </a:p>
        </p:txBody>
      </p:sp>
      <p:sp>
        <p:nvSpPr>
          <p:cNvPr id="10" name="TextBox 9"/>
          <p:cNvSpPr txBox="1"/>
          <p:nvPr/>
        </p:nvSpPr>
        <p:spPr>
          <a:xfrm>
            <a:off x="9966960" y="26517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699 GWh/yr</a:t>
            </a:r>
          </a:p>
        </p:txBody>
      </p:sp>
      <p:sp>
        <p:nvSpPr>
          <p:cNvPr id="11" name="TextBox 10"/>
          <p:cNvSpPr txBox="1"/>
          <p:nvPr/>
        </p:nvSpPr>
        <p:spPr>
          <a:xfrm>
            <a:off x="822960" y="31089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Turbine-viable sites</a:t>
            </a:r>
          </a:p>
        </p:txBody>
      </p:sp>
      <p:sp>
        <p:nvSpPr>
          <p:cNvPr id="12" name="TextBox 11"/>
          <p:cNvSpPr txBox="1"/>
          <p:nvPr/>
        </p:nvSpPr>
        <p:spPr>
          <a:xfrm>
            <a:off x="4572000" y="31089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phase3/turbine_sizing.parquet</a:t>
            </a:r>
          </a:p>
        </p:txBody>
      </p:sp>
      <p:sp>
        <p:nvSpPr>
          <p:cNvPr id="13" name="TextBox 12"/>
          <p:cNvSpPr txBox="1"/>
          <p:nvPr/>
        </p:nvSpPr>
        <p:spPr>
          <a:xfrm>
            <a:off x="9966960" y="31089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3,783</a:t>
            </a:r>
          </a:p>
        </p:txBody>
      </p:sp>
      <p:sp>
        <p:nvSpPr>
          <p:cNvPr id="14" name="TextBox 13"/>
          <p:cNvSpPr txBox="1"/>
          <p:nvPr/>
        </p:nvSpPr>
        <p:spPr>
          <a:xfrm>
            <a:off x="822960" y="35661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Investment-ready sites</a:t>
            </a:r>
          </a:p>
        </p:txBody>
      </p:sp>
      <p:sp>
        <p:nvSpPr>
          <p:cNvPr id="15" name="TextBox 14"/>
          <p:cNvSpPr txBox="1"/>
          <p:nvPr/>
        </p:nvSpPr>
        <p:spPr>
          <a:xfrm>
            <a:off x="4572000" y="35661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phase4/financial_scorecards.parquet</a:t>
            </a:r>
          </a:p>
        </p:txBody>
      </p:sp>
      <p:sp>
        <p:nvSpPr>
          <p:cNvPr id="16" name="TextBox 15"/>
          <p:cNvSpPr txBox="1"/>
          <p:nvPr/>
        </p:nvSpPr>
        <p:spPr>
          <a:xfrm>
            <a:off x="9966960" y="35661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1,141</a:t>
            </a:r>
          </a:p>
        </p:txBody>
      </p:sp>
      <p:sp>
        <p:nvSpPr>
          <p:cNvPr id="17" name="TextBox 16"/>
          <p:cNvSpPr txBox="1"/>
          <p:nvPr/>
        </p:nvSpPr>
        <p:spPr>
          <a:xfrm>
            <a:off x="822960" y="40233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Viable energy</a:t>
            </a:r>
          </a:p>
        </p:txBody>
      </p:sp>
      <p:sp>
        <p:nvSpPr>
          <p:cNvPr id="18" name="TextBox 17"/>
          <p:cNvSpPr txBox="1"/>
          <p:nvPr/>
        </p:nvSpPr>
        <p:spPr>
          <a:xfrm>
            <a:off x="4572000" y="40233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phase4 · sum(annual_energy_kwh)</a:t>
            </a:r>
          </a:p>
        </p:txBody>
      </p:sp>
      <p:sp>
        <p:nvSpPr>
          <p:cNvPr id="19" name="TextBox 18"/>
          <p:cNvSpPr txBox="1"/>
          <p:nvPr/>
        </p:nvSpPr>
        <p:spPr>
          <a:xfrm>
            <a:off x="9966960" y="40233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409.1 GWh/yr</a:t>
            </a:r>
          </a:p>
        </p:txBody>
      </p:sp>
      <p:sp>
        <p:nvSpPr>
          <p:cNvPr id="20" name="TextBox 19"/>
          <p:cNvSpPr txBox="1"/>
          <p:nvPr/>
        </p:nvSpPr>
        <p:spPr>
          <a:xfrm>
            <a:off x="822960" y="44805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Median payback (viable)</a:t>
            </a:r>
          </a:p>
        </p:txBody>
      </p:sp>
      <p:sp>
        <p:nvSpPr>
          <p:cNvPr id="21" name="TextBox 20"/>
          <p:cNvSpPr txBox="1"/>
          <p:nvPr/>
        </p:nvSpPr>
        <p:spPr>
          <a:xfrm>
            <a:off x="4572000" y="44805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phase4 · payback_years.median()</a:t>
            </a:r>
          </a:p>
        </p:txBody>
      </p:sp>
      <p:sp>
        <p:nvSpPr>
          <p:cNvPr id="22" name="TextBox 21"/>
          <p:cNvSpPr txBox="1"/>
          <p:nvPr/>
        </p:nvSpPr>
        <p:spPr>
          <a:xfrm>
            <a:off x="9966960" y="44805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9.84 yr</a:t>
            </a:r>
          </a:p>
        </p:txBody>
      </p:sp>
      <p:sp>
        <p:nvSpPr>
          <p:cNvPr id="23" name="TextBox 22"/>
          <p:cNvSpPr txBox="1"/>
          <p:nvPr/>
        </p:nvSpPr>
        <p:spPr>
          <a:xfrm>
            <a:off x="822960" y="4937760"/>
            <a:ext cx="3840480" cy="457200"/>
          </a:xfrm>
          <a:prstGeom prst="rect">
            <a:avLst/>
          </a:prstGeom>
          <a:noFill/>
        </p:spPr>
        <p:txBody>
          <a:bodyPr wrap="square" lIns="45720" tIns="18288" rIns="45720" bIns="18288" anchor="ctr">
            <a:spAutoFit/>
          </a:bodyPr>
          <a:lstStyle/>
          <a:p>
            <a:r>
              <a:rPr sz="1250" b="1" i="0">
                <a:solidFill>
                  <a:srgbClr val="FFFFFF"/>
                </a:solidFill>
                <a:latin typeface="Calibri"/>
              </a:rPr>
              <a:t>Portfolio CapEx</a:t>
            </a:r>
          </a:p>
        </p:txBody>
      </p:sp>
      <p:sp>
        <p:nvSpPr>
          <p:cNvPr id="24" name="TextBox 23"/>
          <p:cNvSpPr txBox="1"/>
          <p:nvPr/>
        </p:nvSpPr>
        <p:spPr>
          <a:xfrm>
            <a:off x="4572000" y="4937760"/>
            <a:ext cx="5303520" cy="457200"/>
          </a:xfrm>
          <a:prstGeom prst="rect">
            <a:avLst/>
          </a:prstGeom>
          <a:noFill/>
        </p:spPr>
        <p:txBody>
          <a:bodyPr wrap="square" lIns="45720" tIns="18288" rIns="45720" bIns="18288" anchor="ctr">
            <a:spAutoFit/>
          </a:bodyPr>
          <a:lstStyle/>
          <a:p>
            <a:r>
              <a:rPr sz="1150" b="0" i="0">
                <a:solidFill>
                  <a:srgbClr val="BFD6DB"/>
                </a:solidFill>
                <a:latin typeface="Calibri"/>
              </a:rPr>
              <a:t>phase4 · 4-line sum</a:t>
            </a:r>
          </a:p>
        </p:txBody>
      </p:sp>
      <p:sp>
        <p:nvSpPr>
          <p:cNvPr id="25" name="TextBox 24"/>
          <p:cNvSpPr txBox="1"/>
          <p:nvPr/>
        </p:nvSpPr>
        <p:spPr>
          <a:xfrm>
            <a:off x="9966960" y="4937760"/>
            <a:ext cx="1828800" cy="457200"/>
          </a:xfrm>
          <a:prstGeom prst="rect">
            <a:avLst/>
          </a:prstGeom>
          <a:noFill/>
        </p:spPr>
        <p:txBody>
          <a:bodyPr wrap="square" lIns="45720" tIns="18288" rIns="45720" bIns="18288" anchor="ctr">
            <a:spAutoFit/>
          </a:bodyPr>
          <a:lstStyle/>
          <a:p>
            <a:pPr algn="r"/>
            <a:r>
              <a:rPr sz="1250" b="1" i="0">
                <a:solidFill>
                  <a:srgbClr val="2E9E5B"/>
                </a:solidFill>
                <a:latin typeface="Calibri"/>
              </a:rPr>
              <a:t>$353.5 M</a:t>
            </a:r>
          </a:p>
        </p:txBody>
      </p:sp>
      <p:sp>
        <p:nvSpPr>
          <p:cNvPr id="26" name="TextBox 25"/>
          <p:cNvSpPr txBox="1"/>
          <p:nvPr/>
        </p:nvSpPr>
        <p:spPr>
          <a:xfrm>
            <a:off x="822960" y="5989320"/>
            <a:ext cx="10607040" cy="548640"/>
          </a:xfrm>
          <a:prstGeom prst="rect">
            <a:avLst/>
          </a:prstGeom>
          <a:noFill/>
        </p:spPr>
        <p:txBody>
          <a:bodyPr wrap="square" lIns="45720" tIns="18288" rIns="45720" bIns="18288" anchor="t">
            <a:spAutoFit/>
          </a:bodyPr>
          <a:lstStyle/>
          <a:p>
            <a:r>
              <a:rPr sz="1300" b="0" i="1">
                <a:solidFill>
                  <a:srgbClr val="9FBEC5"/>
                </a:solidFill>
                <a:latin typeface="Calibri"/>
              </a:rPr>
              <a:t>Thank you — questions welcome.   WOWERS · University of St. Thomas · Tom Tang &amp; Mohamed Abdel Hamid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9929</Words>
  <Application>Microsoft Macintosh PowerPoint</Application>
  <PresentationFormat>Widescreen</PresentationFormat>
  <Paragraphs>810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Tang, Xinsheng</cp:lastModifiedBy>
  <cp:revision>3</cp:revision>
  <dcterms:created xsi:type="dcterms:W3CDTF">2013-01-27T09:14:16Z</dcterms:created>
  <dcterms:modified xsi:type="dcterms:W3CDTF">2026-07-01T20:31:01Z</dcterms:modified>
  <cp:category/>
</cp:coreProperties>
</file>